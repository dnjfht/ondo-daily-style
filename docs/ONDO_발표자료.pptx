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ONDO는 사용자가 매일 아침 "오늘 뭐 입지"를 고민하는 30초를 잡는 서비스입니다. 오늘 날씨, 사용자의 피부톤과 체형을 AI로 읽어 입을 옷을 골라 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출근 전 아침을 떠올려 보시면 됩니다. 날씨 앱은 14도라고만 하고, 쇼핑몰은 인기 1위 상품을 보여 주고, 예전에 받은 컬러 진단은 웜톤이라고만 기억납니다. 세 가지가 따로 놀아서 "그래서 뭘 입지?"가 됩니다. 결국 감으로 고르고, 안 어울리는 옷을 사거나 쇼핑몰을 떠납니다. ONDO는 같은 아침에 셀카로 톤, 전신 사진으로 체형, 실시간 날씨로 오늘 조건을 합쳐 오른쪽처럼 한 화면에 오늘의 코디를 보여 줍니다. 진단은 처음 한 번이고, 그 뒤로는 매일 열기만 하면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뒤에서 어떻게 돌아가는지 간단히 보여 드리겠습니다. 사용자 휴대폰에서 찍은 사진은 AI 분석 서버로 바로 갑니다. 여기에 퍼스널컬러 AI와 골격 AI 두 대가 있습니다. AI 계산은 무겁기 때문에 화면과 분리해 두어야 서비스 전체가 느려지지 않습니다. 화면과 추천 계산은 웹 서비스가 맡고, 웹 서비스는 상품과 사용자 프로필이 담긴 데이터베이스, 그리고 실시간 날씨 정보를 가져와 추천을 만듭니다. 사진은 분석만 하고 저장하지 않으며, 결과만 남습니다.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판단 방식은 두 번 거르는 구조입니다. 265개 상품의 6가지 컬러, 총 1,590개 중 체감 5도인 날에는 날씨에 안 맞는 옷을 먼저 빼서 444개가 남습니다. 그다음 사용자의 피부톤, 체형, 오늘 상황, 취향 점수로 줄을 세워 종류별 세 개, 총 15개를 보여 줍니다. 퍼스널컬러는 제외하지 않고 점수로 반영해서, 내 톤에 맞는 컬러는 20점, 공용 컬러는 12점을 받습니다. 날씨를 먼저 보기 때문에 추운 날 반팔이 추천되는 일이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진단은 두 가지입니다. 셀카로 피부색을 분석해 웜톤과 쿨톤 중 어느 쪽에 가까운지, 전신 사진과 설문으로 몸의 비율을 재서 세 가지 골격 유형 중 어디에 가까운지를 판단합니다. 결과는 "웜 89%", "웨이브 83%"처럼 수치로 보여 드려서, 사용자가 얼마나 확실한 결과인지 한눈에 알 수 있습니다. 사진은 저장하지 않아 개인정보 걱정도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제안: 유승민] 퍼스널컬러는 셀카에서 얼굴을 찾고, 눈과 입술을 지워 피부만 남긴 뒤, 그 평균 색을 CIELAB, LCh, HSV 9개 숫자로 바꿔 로지스틱 회귀에 넣습니다. SVM과 비교해서 로지스틱 회귀를 골랐습니다. 아래는 시연 아바타 두 명을 저희 모델로 실제로 돌린 결과인데, 노란기를 뜻하는 b* 값이 13.2인 쪽은 웜 74%, 7.0인 쪽은 쿨 99.7%였습니다. 딥러닝 대신 이 방식을 쓴 이유는 데이터가 200장 남짓으로 적고, 판단 근거를 숫자로 보여 줄 수 있기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제안: 이채원] 골격 사진 분석은 제가 맡았습니다. 전신 사진에서 MediaPipe Pose로 관절을 찾고, 실루엣에서 팔 부분을 지운 다음 어깨, 허리, 골반, 허벅지 폭을 잽니다. 왼쪽 웨이브 예시는 허리/골반이 0.64로 잘록해서 사진 점수가 웨이브 쪽 91%, 오른쪽 스트레이트 예시는 0.83으로 일자에 가까워 42%가 나왔습니다. 처음에는 같은 사진도 잴 때마다 값이 흔들려서, 크기와 좌우를 바꿔 6번 재고 평균을 내도록 바꿨습니다.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코드 세 부분입니다. 퍼스널컬러는 StandardScaler로 피부색 숫자 9개의 크기를 맞추고, LogisticRegression으로 웜·쿨을 학습한 뒤, predict_proba로 새 셀카의 웜·쿨 확률을 계산합니다. 골격은 같은 사진을 크기와 좌우를 바꿔 여섯 번 재서 평균을 내고, clip으로 평균 대비 점수를 만든 다음, 어깨·허리·프레임을 20 대 20 대 10으로 합쳐 체형 점수를 냅니다. 추천 엔진은 exclude로 날씨에 안 맞는 옷을 먼저 빼고, 남은 옷의 점수를 더해 순위를 매긴 뒤, slice로 종류별 상위 세 개를 보여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숫자로 말씀드리겠습니다. 퍼스널컬러는 처음 보는 얼굴 41장 중 39장을 맞혀 95.1%입니다. 골격은 사진만으로 69명 중 55명, 79.7%이고, 설문을 더해 보완합니다. 추천에 쓰는 상품은 1,590개 컬러 단위로 날씨와 체형 태그가 붙어 있고, 아바타 여섯 체형에 입힐 피팅 조합 9,540개를 설계했고, 그중 시연용 54장을 먼저 생성했습니다. 다만 정확도는 실제 사진이 아닌 학습용 이미지 기준이라, 실제 사진으로 검증하는 것이 다음 과제입니다.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이건 시안이 아니라 실제 배포된 화면입니다. 진단 결과, 오늘 날씨와 무드에 맞춘 추천, 그리고 AI 피팅으로 아바타가 입어 보는 화면까지. 원하시면 지금 휴대폰으로 바로 열어 보실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제안: 이채원] 퍼스널컬러와 골격 진단은 원래 전문가가 직접 보고 하는 진단이라, 온라인으로 사진만 보고 판단하면 정확도가 떨어질 수밖에 없습니다. 저희는 이 한계를 알고 도전했고, 사진만으로 정확하게 판정하는 데 집중했습니다. 전문가의 눈 대신 피부색을 숫자 9개로 바꿔 AI가 판정하게 했고, 한 장 측정이 흔들리는 문제는 팔을 지우고 여섯 번 재서 평균을 냈습니다. 정면 사진으로 알 수 없는 뼈와 살 느낌은 설문을 직접 설계해 보강해서, 사진만으로는 나누기 어려운 스트레이트와 내추럴까지 3유형으로 판정할 수 있게 했습니다. 실제 사진을 모으기 어려운 문제는 생성형 AI로 데이터셋을 직접 만들어 해결했습니다.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제안: 이채원] 앞으로의 계획은 진단 결과의 정확도와 AI 피팅의 품질을 높이는 데 맞춰져 있습니다. 사진만으로도 대면 진단만큼 정확한 결과를 내는 것이 목표이고, 네 가지 방향으로 개선하겠습니다. 체형은 실제 사람의 정면과 측면 사진을 대량으로 학습시키고, 사용자에게도 측면 사진을 함께 받아 정면만으로는 알 수 없던 두께를 보겠습니다. 퍼스널컬러는 화장한 얼굴과 안 한 얼굴, 조명이 다른 얼굴까지 실제 사람 데이터로 학습시켜 어떤 사진이 들어와도 정확하게 진단하도록 하겠습니다. 또 진단 결과를 더 세부 유형으로 나눠 학습시켜 판정을 정밀하게 만들겠습니다. 마지막으로 AI 피팅입니다. 가상 피팅 전용 모델은 상의·하의 중심이라 액세서리나 겹쳐 입기에 약하고, 로고나 무늬 같은 디테일이 깨지는 한계가 있습니다. 그래서 피팅 모델에 범용 이미지 생성 모델을 결합하고, 저희 상품과 체형 데이터로 추가 학습시켜, 액세서리까지 옷을 스캔하는 즉시 착용샷을 만들어 주는 방식으로 개선하겠습니다.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교수님께서 앞으로의 계획에 상세 일정이 있으면 좋겠다고 하셔서, 저희가 신청한 모두의 AI 실험실에 선정된다는 가정으로 일정을 짰습니다. 10월 14일 선정 발표 후 킥오프와 서버 유료 전환을 하고, 2주 동안 실제 사람의 정면·측면, 화장 전후, 조명별 사진을 동의받아 모읍니다. 데이터가 들어오는 대로 진단 AI를 재학습하고, 이어서 AI 피팅을 이미지 생성 모델과 결합한 시제품을 만듭니다. 11월 말 베타 테스트에서 실제 사용자 정확도를 처음 측정하고, 개선을 거쳐 12월 11일에 마무리합니다. 멘토링은 단계마다 한 번씩 받고, 피팅 모델 본 학습은 기간이 길어 후속지원으로 이어가겠습니다.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제안: 조다슬] 정리하면, ONDO는 한 번 받고 끝나던 퍼스널컬러와 골격 진단을 매일 아침의 옷 선택으로 바꾸는 서비스입니다. 역할은 화면과 같고, 사이트는 지금 배포되어 있어 직접 써 보실 수 있습니다. 감사합니다. 질문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발표에서는 보여 주지 않고, 질문이 나오면 꺼내는 부록 슬라이드입니다.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slideLayout" Target="../slideLayouts/slideLayout1.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31E"/>
        </a:solidFill>
      </p:bgPr>
    </p:bg>
    <p:spTree>
      <p:nvGrpSpPr>
        <p:cNvPr id="1" name=""/>
        <p:cNvGrpSpPr/>
        <p:nvPr/>
      </p:nvGrpSpPr>
      <p:grpSpPr>
        <a:xfrm>
          <a:off x="0" y="0"/>
          <a:ext cx="0" cy="0"/>
          <a:chOff x="0" y="0"/>
          <a:chExt cx="0" cy="0"/>
        </a:xfrm>
      </p:grpSpPr>
      <p:sp>
        <p:nvSpPr>
          <p:cNvPr id="2" name="Shape 0"/>
          <p:cNvSpPr/>
          <p:nvPr/>
        </p:nvSpPr>
        <p:spPr>
          <a:xfrm>
            <a:off x="8077200" y="812800"/>
            <a:ext cx="3302000" cy="3302000"/>
          </a:xfrm>
          <a:prstGeom prst="roundRect">
            <a:avLst>
              <a:gd name="adj" fmla="val 49231"/>
            </a:avLst>
          </a:prstGeom>
          <a:gradFill rotWithShape="1">
            <a:gsLst>
              <a:gs pos="0">
                <a:srgbClr val="D9B48F">
                  <a:alpha val="90000"/>
                </a:srgbClr>
              </a:gs>
              <a:gs pos="45000">
                <a:srgbClr val="A8714B">
                  <a:alpha val="90000"/>
                </a:srgbClr>
              </a:gs>
              <a:gs pos="100000">
                <a:srgbClr val="2B231E">
                  <a:alpha val="90000"/>
                </a:srgbClr>
              </a:gs>
            </a:gsLst>
            <a:path path="circle">
              <a:fillToRect l="35000" t="35000" r="65000" b="65000"/>
            </a:path>
          </a:gradFill>
          <a:ln/>
        </p:spPr>
      </p:sp>
      <p:sp>
        <p:nvSpPr>
          <p:cNvPr id="3" name="Text 1"/>
          <p:cNvSpPr/>
          <p:nvPr/>
        </p:nvSpPr>
        <p:spPr>
          <a:xfrm>
            <a:off x="8027670" y="1905000"/>
            <a:ext cx="3401060" cy="1447800"/>
          </a:xfrm>
          <a:prstGeom prst="rect">
            <a:avLst/>
          </a:prstGeom>
          <a:noFill/>
          <a:ln/>
        </p:spPr>
        <p:txBody>
          <a:bodyPr wrap="square" lIns="0" tIns="0" rIns="0" bIns="0" rtlCol="0" anchor="t">
            <a:normAutofit/>
          </a:bodyPr>
          <a:lstStyle/>
          <a:p>
            <a:pPr algn="ctr" indent="0" marL="0">
              <a:lnSpc>
                <a:spcPts val="11200"/>
              </a:lnSpc>
              <a:buNone/>
            </a:pPr>
            <a:r>
              <a:rPr lang="en-US" sz="8000" b="1" dirty="0">
                <a:solidFill>
                  <a:srgbClr val="2B231E"/>
                </a:solidFill>
                <a:latin typeface="Noto Serif KR" pitchFamily="18" charset="0"/>
                <a:ea typeface="Noto Serif KR" pitchFamily="18" charset="-122"/>
                <a:cs typeface="Noto Serif KR" pitchFamily="18" charset="-120"/>
              </a:rPr>
              <a:t>14°</a:t>
            </a:r>
            <a:endParaRPr lang="en-US" sz="8000" dirty="0"/>
          </a:p>
        </p:txBody>
      </p:sp>
      <p:sp>
        <p:nvSpPr>
          <p:cNvPr id="4" name="Text 2"/>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300" kern="0" dirty="0">
                <a:solidFill>
                  <a:srgbClr val="D9B48F"/>
                </a:solidFill>
                <a:latin typeface="IBM Plex Sans KR" pitchFamily="34" charset="0"/>
                <a:ea typeface="IBM Plex Sans KR" pitchFamily="34" charset="-122"/>
                <a:cs typeface="IBM Plex Sans KR" pitchFamily="34" charset="-120"/>
              </a:rPr>
              <a:t>인공지능 팀 프로젝트</a:t>
            </a:r>
            <a:endParaRPr lang="en-US" sz="1300" dirty="0"/>
          </a:p>
        </p:txBody>
      </p:sp>
      <p:sp>
        <p:nvSpPr>
          <p:cNvPr id="5" name="Text 3"/>
          <p:cNvSpPr/>
          <p:nvPr/>
        </p:nvSpPr>
        <p:spPr>
          <a:xfrm>
            <a:off x="812800" y="2251075"/>
            <a:ext cx="6540500" cy="787400"/>
          </a:xfrm>
          <a:prstGeom prst="rect">
            <a:avLst/>
          </a:prstGeom>
          <a:noFill/>
          <a:ln/>
        </p:spPr>
        <p:txBody>
          <a:bodyPr wrap="square" lIns="0" tIns="0" rIns="0" bIns="0" rtlCol="0" anchor="t">
            <a:normAutofit/>
          </a:bodyPr>
          <a:lstStyle/>
          <a:p>
            <a:pPr algn="l" indent="0" marL="0">
              <a:lnSpc>
                <a:spcPts val="6000"/>
              </a:lnSpc>
              <a:buNone/>
            </a:pPr>
            <a:r>
              <a:rPr lang="en-US" sz="6000" b="1" spc="-100" kern="0" dirty="0">
                <a:solidFill>
                  <a:srgbClr val="F6F1EA"/>
                </a:solidFill>
                <a:latin typeface="IBM Plex Sans KR" pitchFamily="34" charset="0"/>
                <a:ea typeface="IBM Plex Sans KR" pitchFamily="34" charset="-122"/>
                <a:cs typeface="IBM Plex Sans KR" pitchFamily="34" charset="-120"/>
              </a:rPr>
              <a:t>ONDO</a:t>
            </a:r>
            <a:endParaRPr lang="en-US" sz="6000" dirty="0"/>
          </a:p>
        </p:txBody>
      </p:sp>
      <p:sp>
        <p:nvSpPr>
          <p:cNvPr id="6" name="Text 4"/>
          <p:cNvSpPr/>
          <p:nvPr/>
        </p:nvSpPr>
        <p:spPr>
          <a:xfrm>
            <a:off x="812800" y="3190875"/>
            <a:ext cx="6540500" cy="977900"/>
          </a:xfrm>
          <a:prstGeom prst="rect">
            <a:avLst/>
          </a:prstGeom>
          <a:noFill/>
          <a:ln/>
        </p:spPr>
        <p:txBody>
          <a:bodyPr wrap="square" lIns="0" tIns="0" rIns="0" bIns="0" rtlCol="0" anchor="t">
            <a:normAutofit/>
          </a:bodyPr>
          <a:lstStyle/>
          <a:p>
            <a:pPr algn="l" indent="0" marL="0">
              <a:lnSpc>
                <a:spcPts val="3750"/>
              </a:lnSpc>
              <a:buNone/>
            </a:pPr>
            <a:r>
              <a:rPr lang="en-US" sz="3000" b="1" dirty="0">
                <a:solidFill>
                  <a:srgbClr val="F6F1EA"/>
                </a:solidFill>
                <a:latin typeface="Noto Serif KR" pitchFamily="18" charset="0"/>
                <a:ea typeface="Noto Serif KR" pitchFamily="18" charset="-122"/>
                <a:cs typeface="Noto Serif KR" pitchFamily="18" charset="-120"/>
              </a:rPr>
              <a:t>매일 아침 30초,</a:t>
            </a:r>
            <a:endParaRPr lang="en-US" sz="3000" dirty="0"/>
          </a:p>
          <a:p>
            <a:pPr algn="l" indent="0" marL="0">
              <a:lnSpc>
                <a:spcPts val="3750"/>
              </a:lnSpc>
              <a:buNone/>
            </a:pPr>
            <a:r>
              <a:rPr lang="en-US" sz="3000" b="1" dirty="0">
                <a:solidFill>
                  <a:srgbClr val="F6F1EA"/>
                </a:solidFill>
                <a:latin typeface="Noto Serif KR" pitchFamily="18" charset="0"/>
                <a:ea typeface="Noto Serif KR" pitchFamily="18" charset="-122"/>
                <a:cs typeface="Noto Serif KR" pitchFamily="18" charset="-120"/>
              </a:rPr>
              <a:t>오늘 입을 옷을 골라 주는 AI</a:t>
            </a:r>
            <a:endParaRPr lang="en-US" sz="3000" dirty="0"/>
          </a:p>
        </p:txBody>
      </p:sp>
      <p:sp>
        <p:nvSpPr>
          <p:cNvPr id="7" name="Text 5"/>
          <p:cNvSpPr/>
          <p:nvPr/>
        </p:nvSpPr>
        <p:spPr>
          <a:xfrm>
            <a:off x="812800" y="4321175"/>
            <a:ext cx="6540500"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3D6C7"/>
                </a:solidFill>
                <a:latin typeface="IBM Plex Sans KR" pitchFamily="34" charset="0"/>
                <a:ea typeface="IBM Plex Sans KR" pitchFamily="34" charset="-122"/>
                <a:cs typeface="IBM Plex Sans KR" pitchFamily="34" charset="-120"/>
              </a:rPr>
              <a:t>날씨 × 퍼스널컬러 × 골격 진단</a:t>
            </a:r>
            <a:endParaRPr lang="en-US" sz="1500" dirty="0"/>
          </a:p>
        </p:txBody>
      </p:sp>
      <p:sp>
        <p:nvSpPr>
          <p:cNvPr id="8" name="Text 6"/>
          <p:cNvSpPr/>
          <p:nvPr/>
        </p:nvSpPr>
        <p:spPr>
          <a:xfrm>
            <a:off x="812800" y="581412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3D6C7"/>
                </a:solidFill>
                <a:latin typeface="IBM Plex Sans KR" pitchFamily="34" charset="0"/>
                <a:ea typeface="IBM Plex Sans KR" pitchFamily="34" charset="-122"/>
                <a:cs typeface="IBM Plex Sans KR" pitchFamily="34" charset="-120"/>
              </a:rPr>
              <a:t>ONDO 팀 · 유승민 · 조다슬 · 이채원</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C6440"/>
                </a:solidFill>
                <a:latin typeface="IBM Plex Sans KR" pitchFamily="34" charset="0"/>
                <a:ea typeface="IBM Plex Sans KR" pitchFamily="34" charset="-122"/>
                <a:cs typeface="IBM Plex Sans KR" pitchFamily="34" charset="-120"/>
              </a:rPr>
              <a:t>왜 만들었나</a:t>
            </a:r>
            <a:endParaRPr lang="en-US" sz="1200" dirty="0"/>
          </a:p>
        </p:txBody>
      </p:sp>
      <p:sp>
        <p:nvSpPr>
          <p:cNvPr id="3" name="Text 1"/>
          <p:cNvSpPr/>
          <p:nvPr/>
        </p:nvSpPr>
        <p:spPr>
          <a:xfrm>
            <a:off x="812800" y="1102320"/>
            <a:ext cx="10883392" cy="513060"/>
          </a:xfrm>
          <a:prstGeom prst="rect">
            <a:avLst/>
          </a:prstGeom>
          <a:noFill/>
          <a:ln/>
        </p:spPr>
        <p:txBody>
          <a:bodyPr wrap="square" lIns="0" tIns="0" rIns="0" bIns="0" rtlCol="0" anchor="t">
            <a:normAutofit/>
          </a:bodyPr>
          <a:lstStyle/>
          <a:p>
            <a:pPr algn="l" indent="0" marL="0">
              <a:lnSpc>
                <a:spcPts val="3840"/>
              </a:lnSpc>
              <a:buNone/>
            </a:pPr>
            <a:r>
              <a:rPr lang="en-US" sz="3200" b="1" dirty="0">
                <a:solidFill>
                  <a:srgbClr val="2B231E"/>
                </a:solidFill>
                <a:latin typeface="Noto Serif KR" pitchFamily="18" charset="0"/>
                <a:ea typeface="Noto Serif KR" pitchFamily="18" charset="-122"/>
                <a:cs typeface="Noto Serif KR" pitchFamily="18" charset="-120"/>
              </a:rPr>
              <a:t>흩어진 정보 3개를 하나로 묶었습니다</a:t>
            </a:r>
            <a:endParaRPr lang="en-US" sz="3200" dirty="0"/>
          </a:p>
        </p:txBody>
      </p:sp>
      <p:sp>
        <p:nvSpPr>
          <p:cNvPr id="4" name="Shape 2"/>
          <p:cNvSpPr/>
          <p:nvPr/>
        </p:nvSpPr>
        <p:spPr>
          <a:xfrm>
            <a:off x="819150" y="1799530"/>
            <a:ext cx="4940300" cy="3446661"/>
          </a:xfrm>
          <a:prstGeom prst="roundRect">
            <a:avLst>
              <a:gd name="adj" fmla="val 4237"/>
            </a:avLst>
          </a:prstGeom>
          <a:solidFill>
            <a:srgbClr val="FFFCF7"/>
          </a:solidFill>
          <a:ln w="12700">
            <a:solidFill>
              <a:srgbClr val="E3D8CA"/>
            </a:solidFill>
            <a:prstDash val="solid"/>
          </a:ln>
        </p:spPr>
      </p:sp>
      <p:sp>
        <p:nvSpPr>
          <p:cNvPr id="5" name="Text 3"/>
          <p:cNvSpPr/>
          <p:nvPr/>
        </p:nvSpPr>
        <p:spPr>
          <a:xfrm>
            <a:off x="1028700" y="1983680"/>
            <a:ext cx="465683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C6440"/>
                </a:solidFill>
                <a:latin typeface="IBM Plex Sans KR" pitchFamily="34" charset="0"/>
                <a:ea typeface="IBM Plex Sans KR" pitchFamily="34" charset="-122"/>
                <a:cs typeface="IBM Plex Sans KR" pitchFamily="34" charset="-120"/>
              </a:rPr>
              <a:t>지금 · 출근 전 아침</a:t>
            </a:r>
            <a:endParaRPr lang="en-US" sz="1300" dirty="0"/>
          </a:p>
        </p:txBody>
      </p:sp>
      <p:sp>
        <p:nvSpPr>
          <p:cNvPr id="6" name="Shape 4"/>
          <p:cNvSpPr/>
          <p:nvPr/>
        </p:nvSpPr>
        <p:spPr>
          <a:xfrm>
            <a:off x="1028700" y="2316361"/>
            <a:ext cx="1905000" cy="609600"/>
          </a:xfrm>
          <a:prstGeom prst="roundRect">
            <a:avLst>
              <a:gd name="adj" fmla="val 16667"/>
            </a:avLst>
          </a:prstGeom>
          <a:solidFill>
            <a:srgbClr val="EDE4D8"/>
          </a:solidFill>
          <a:ln/>
        </p:spPr>
      </p:sp>
      <p:pic>
        <p:nvPicPr>
          <p:cNvPr id="7" name="Image 0" descr="Cloud">    </p:cNvPr>
          <p:cNvPicPr>
            <a:picLocks noChangeAspect="1"/>
          </p:cNvPicPr>
          <p:nvPr/>
        </p:nvPicPr>
        <p:blipFill>
          <a:blip r:embed="rId1"/>
          <a:srcRect l="0" r="0" t="0" b="0"/>
          <a:stretch/>
        </p:blipFill>
        <p:spPr>
          <a:xfrm>
            <a:off x="1155700" y="2494161"/>
            <a:ext cx="254000" cy="254000"/>
          </a:xfrm>
          <a:prstGeom prst="rect">
            <a:avLst/>
          </a:prstGeom>
        </p:spPr>
      </p:pic>
      <p:sp>
        <p:nvSpPr>
          <p:cNvPr id="8" name="Text 5"/>
          <p:cNvSpPr/>
          <p:nvPr/>
        </p:nvSpPr>
        <p:spPr>
          <a:xfrm>
            <a:off x="1498600" y="2423120"/>
            <a:ext cx="506710"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2B231E"/>
                </a:solidFill>
                <a:latin typeface="IBM Plex Sans KR" pitchFamily="34" charset="0"/>
                <a:ea typeface="IBM Plex Sans KR" pitchFamily="34" charset="-122"/>
                <a:cs typeface="IBM Plex Sans KR" pitchFamily="34" charset="-120"/>
              </a:rPr>
              <a:t>날씨 앱</a:t>
            </a:r>
            <a:endParaRPr lang="en-US" sz="1200" dirty="0"/>
          </a:p>
          <a:p>
            <a:pPr algn="l" indent="0" marL="0">
              <a:lnSpc>
                <a:spcPts val="1560"/>
              </a:lnSpc>
              <a:buNone/>
            </a:pPr>
            <a:r>
              <a:rPr lang="en-US" sz="1200" dirty="0">
                <a:solidFill>
                  <a:srgbClr val="2B231E"/>
                </a:solidFill>
                <a:latin typeface="IBM Plex Sans KR" pitchFamily="34" charset="0"/>
                <a:ea typeface="IBM Plex Sans KR" pitchFamily="34" charset="-122"/>
                <a:cs typeface="IBM Plex Sans KR" pitchFamily="34" charset="-120"/>
              </a:rPr>
              <a:t>"14℃"</a:t>
            </a:r>
            <a:endParaRPr lang="en-US" sz="1200" dirty="0"/>
          </a:p>
        </p:txBody>
      </p:sp>
      <p:sp>
        <p:nvSpPr>
          <p:cNvPr id="9" name="Shape 6"/>
          <p:cNvSpPr/>
          <p:nvPr/>
        </p:nvSpPr>
        <p:spPr>
          <a:xfrm>
            <a:off x="1028700" y="3218061"/>
            <a:ext cx="1905000" cy="609600"/>
          </a:xfrm>
          <a:prstGeom prst="roundRect">
            <a:avLst>
              <a:gd name="adj" fmla="val 16667"/>
            </a:avLst>
          </a:prstGeom>
          <a:solidFill>
            <a:srgbClr val="EDE4D8"/>
          </a:solidFill>
          <a:ln/>
        </p:spPr>
      </p:sp>
      <p:pic>
        <p:nvPicPr>
          <p:cNvPr id="10" name="Image 1" descr="Search">    </p:cNvPr>
          <p:cNvPicPr>
            <a:picLocks noChangeAspect="1"/>
          </p:cNvPicPr>
          <p:nvPr/>
        </p:nvPicPr>
        <p:blipFill>
          <a:blip r:embed="rId2"/>
          <a:srcRect l="0" r="0" t="0" b="0"/>
          <a:stretch/>
        </p:blipFill>
        <p:spPr>
          <a:xfrm>
            <a:off x="1155700" y="3395861"/>
            <a:ext cx="254000" cy="254000"/>
          </a:xfrm>
          <a:prstGeom prst="rect">
            <a:avLst/>
          </a:prstGeom>
        </p:spPr>
      </p:pic>
      <p:sp>
        <p:nvSpPr>
          <p:cNvPr id="11" name="Text 7"/>
          <p:cNvSpPr/>
          <p:nvPr/>
        </p:nvSpPr>
        <p:spPr>
          <a:xfrm>
            <a:off x="1498600" y="3324820"/>
            <a:ext cx="1021655"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2B231E"/>
                </a:solidFill>
                <a:latin typeface="IBM Plex Sans KR" pitchFamily="34" charset="0"/>
                <a:ea typeface="IBM Plex Sans KR" pitchFamily="34" charset="-122"/>
                <a:cs typeface="IBM Plex Sans KR" pitchFamily="34" charset="-120"/>
              </a:rPr>
              <a:t>쇼핑몰</a:t>
            </a:r>
            <a:endParaRPr lang="en-US" sz="1200" dirty="0"/>
          </a:p>
          <a:p>
            <a:pPr algn="l" indent="0" marL="0">
              <a:lnSpc>
                <a:spcPts val="1560"/>
              </a:lnSpc>
              <a:buNone/>
            </a:pPr>
            <a:r>
              <a:rPr lang="en-US" sz="1200" dirty="0">
                <a:solidFill>
                  <a:srgbClr val="2B231E"/>
                </a:solidFill>
                <a:latin typeface="IBM Plex Sans KR" pitchFamily="34" charset="0"/>
                <a:ea typeface="IBM Plex Sans KR" pitchFamily="34" charset="-122"/>
                <a:cs typeface="IBM Plex Sans KR" pitchFamily="34" charset="-120"/>
              </a:rPr>
              <a:t>"인기 상품 1위"</a:t>
            </a:r>
            <a:endParaRPr lang="en-US" sz="1200" dirty="0"/>
          </a:p>
        </p:txBody>
      </p:sp>
      <p:sp>
        <p:nvSpPr>
          <p:cNvPr id="12" name="Shape 8"/>
          <p:cNvSpPr/>
          <p:nvPr/>
        </p:nvSpPr>
        <p:spPr>
          <a:xfrm>
            <a:off x="1028700" y="4119761"/>
            <a:ext cx="1905000" cy="609600"/>
          </a:xfrm>
          <a:prstGeom prst="roundRect">
            <a:avLst>
              <a:gd name="adj" fmla="val 16667"/>
            </a:avLst>
          </a:prstGeom>
          <a:solidFill>
            <a:srgbClr val="EDE4D8"/>
          </a:solidFill>
          <a:ln/>
        </p:spPr>
      </p:sp>
      <p:pic>
        <p:nvPicPr>
          <p:cNvPr id="13" name="Image 2" descr="Star">    </p:cNvPr>
          <p:cNvPicPr>
            <a:picLocks noChangeAspect="1"/>
          </p:cNvPicPr>
          <p:nvPr/>
        </p:nvPicPr>
        <p:blipFill>
          <a:blip r:embed="rId3"/>
          <a:srcRect l="0" r="0" t="0" b="0"/>
          <a:stretch/>
        </p:blipFill>
        <p:spPr>
          <a:xfrm>
            <a:off x="1155700" y="4297561"/>
            <a:ext cx="254000" cy="254000"/>
          </a:xfrm>
          <a:prstGeom prst="rect">
            <a:avLst/>
          </a:prstGeom>
        </p:spPr>
      </p:pic>
      <p:sp>
        <p:nvSpPr>
          <p:cNvPr id="14" name="Text 9"/>
          <p:cNvSpPr/>
          <p:nvPr/>
        </p:nvSpPr>
        <p:spPr>
          <a:xfrm>
            <a:off x="1498600" y="4226520"/>
            <a:ext cx="858242"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2B231E"/>
                </a:solidFill>
                <a:latin typeface="IBM Plex Sans KR" pitchFamily="34" charset="0"/>
                <a:ea typeface="IBM Plex Sans KR" pitchFamily="34" charset="-122"/>
                <a:cs typeface="IBM Plex Sans KR" pitchFamily="34" charset="-120"/>
              </a:rPr>
              <a:t>컬러 진단</a:t>
            </a:r>
            <a:endParaRPr lang="en-US" sz="1200" dirty="0"/>
          </a:p>
          <a:p>
            <a:pPr algn="l" indent="0" marL="0">
              <a:lnSpc>
                <a:spcPts val="1560"/>
              </a:lnSpc>
              <a:buNone/>
            </a:pPr>
            <a:r>
              <a:rPr lang="en-US" sz="1200" dirty="0">
                <a:solidFill>
                  <a:srgbClr val="2B231E"/>
                </a:solidFill>
                <a:latin typeface="IBM Plex Sans KR" pitchFamily="34" charset="0"/>
                <a:ea typeface="IBM Plex Sans KR" pitchFamily="34" charset="-122"/>
                <a:cs typeface="IBM Plex Sans KR" pitchFamily="34" charset="-120"/>
              </a:rPr>
              <a:t>"웜톤이래요"</a:t>
            </a:r>
            <a:endParaRPr lang="en-US" sz="1200" dirty="0"/>
          </a:p>
        </p:txBody>
      </p:sp>
      <p:sp>
        <p:nvSpPr>
          <p:cNvPr id="15" name="Shape 10"/>
          <p:cNvSpPr/>
          <p:nvPr/>
        </p:nvSpPr>
        <p:spPr>
          <a:xfrm>
            <a:off x="3822700" y="2824361"/>
            <a:ext cx="1651000" cy="1397000"/>
          </a:xfrm>
          <a:prstGeom prst="roundRect">
            <a:avLst>
              <a:gd name="adj" fmla="val 10909"/>
            </a:avLst>
          </a:prstGeom>
          <a:solidFill>
            <a:srgbClr val="2B231E"/>
          </a:solidFill>
          <a:ln/>
        </p:spPr>
      </p:sp>
      <p:sp>
        <p:nvSpPr>
          <p:cNvPr id="16" name="Text 11"/>
          <p:cNvSpPr/>
          <p:nvPr/>
        </p:nvSpPr>
        <p:spPr>
          <a:xfrm>
            <a:off x="4475093" y="3089771"/>
            <a:ext cx="346115" cy="635000"/>
          </a:xfrm>
          <a:prstGeom prst="rect">
            <a:avLst/>
          </a:prstGeom>
          <a:noFill/>
          <a:ln/>
        </p:spPr>
        <p:txBody>
          <a:bodyPr wrap="square" lIns="0" tIns="0" rIns="0" bIns="0" rtlCol="0" anchor="t">
            <a:normAutofit/>
          </a:bodyPr>
          <a:lstStyle/>
          <a:p>
            <a:pPr algn="ctr" indent="0" marL="0">
              <a:lnSpc>
                <a:spcPts val="4800"/>
              </a:lnSpc>
              <a:buNone/>
            </a:pPr>
            <a:r>
              <a:rPr lang="en-US" sz="4800" b="1" dirty="0">
                <a:solidFill>
                  <a:srgbClr val="D9B48F"/>
                </a:solidFill>
                <a:latin typeface="Noto Serif KR" pitchFamily="18" charset="0"/>
                <a:ea typeface="Noto Serif KR" pitchFamily="18" charset="-122"/>
                <a:cs typeface="Noto Serif KR" pitchFamily="18" charset="-120"/>
              </a:rPr>
              <a:t>?</a:t>
            </a:r>
            <a:endParaRPr lang="en-US" sz="4800" dirty="0"/>
          </a:p>
        </p:txBody>
      </p:sp>
      <p:sp>
        <p:nvSpPr>
          <p:cNvPr id="17" name="Text 12"/>
          <p:cNvSpPr/>
          <p:nvPr/>
        </p:nvSpPr>
        <p:spPr>
          <a:xfrm>
            <a:off x="3924062" y="3724771"/>
            <a:ext cx="1448276" cy="25648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F6F1EA"/>
                </a:solidFill>
                <a:latin typeface="IBM Plex Sans KR" pitchFamily="34" charset="0"/>
                <a:ea typeface="IBM Plex Sans KR" pitchFamily="34" charset="-122"/>
                <a:cs typeface="IBM Plex Sans KR" pitchFamily="34" charset="-120"/>
              </a:rPr>
              <a:t>"그래서 뭘 입지?"</a:t>
            </a:r>
            <a:endParaRPr lang="en-US" sz="1300" dirty="0"/>
          </a:p>
        </p:txBody>
      </p:sp>
      <p:pic>
        <p:nvPicPr>
          <p:cNvPr id="18" name="Image 3" descr="connector">    </p:cNvPr>
          <p:cNvPicPr>
            <a:picLocks noChangeAspect="1"/>
          </p:cNvPicPr>
          <p:nvPr/>
        </p:nvPicPr>
        <p:blipFill>
          <a:blip r:embed="rId4"/>
          <a:srcRect l="0" r="0" t="0" b="0"/>
          <a:stretch/>
        </p:blipFill>
        <p:spPr>
          <a:xfrm>
            <a:off x="2882900" y="2570361"/>
            <a:ext cx="990600" cy="685800"/>
          </a:xfrm>
          <a:prstGeom prst="rect">
            <a:avLst/>
          </a:prstGeom>
        </p:spPr>
      </p:pic>
      <p:pic>
        <p:nvPicPr>
          <p:cNvPr id="19" name="Image 4" descr="connector">    </p:cNvPr>
          <p:cNvPicPr>
            <a:picLocks noChangeAspect="1"/>
          </p:cNvPicPr>
          <p:nvPr/>
        </p:nvPicPr>
        <p:blipFill>
          <a:blip r:embed="rId5"/>
          <a:srcRect l="0" r="0" t="0" b="0"/>
          <a:stretch/>
        </p:blipFill>
        <p:spPr>
          <a:xfrm>
            <a:off x="2882900" y="3472061"/>
            <a:ext cx="990600" cy="101600"/>
          </a:xfrm>
          <a:prstGeom prst="rect">
            <a:avLst/>
          </a:prstGeom>
        </p:spPr>
      </p:pic>
      <p:pic>
        <p:nvPicPr>
          <p:cNvPr id="20" name="Image 5" descr="connector">    </p:cNvPr>
          <p:cNvPicPr>
            <a:picLocks noChangeAspect="1"/>
          </p:cNvPicPr>
          <p:nvPr/>
        </p:nvPicPr>
        <p:blipFill>
          <a:blip r:embed="rId6"/>
          <a:srcRect l="0" r="0" t="0" b="0"/>
          <a:stretch/>
        </p:blipFill>
        <p:spPr>
          <a:xfrm>
            <a:off x="2882900" y="3789561"/>
            <a:ext cx="990600" cy="685800"/>
          </a:xfrm>
          <a:prstGeom prst="rect">
            <a:avLst/>
          </a:prstGeom>
        </p:spPr>
      </p:pic>
      <p:sp>
        <p:nvSpPr>
          <p:cNvPr id="21" name="Text 13"/>
          <p:cNvSpPr/>
          <p:nvPr/>
        </p:nvSpPr>
        <p:spPr>
          <a:xfrm>
            <a:off x="1028700" y="4830961"/>
            <a:ext cx="465683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8714B"/>
                </a:solidFill>
                <a:latin typeface="IBM Plex Sans KR" pitchFamily="34" charset="0"/>
                <a:ea typeface="IBM Plex Sans KR" pitchFamily="34" charset="-122"/>
                <a:cs typeface="IBM Plex Sans KR" pitchFamily="34" charset="-120"/>
              </a:rPr>
              <a:t>→ 감으로 선택 · 실패 구매</a:t>
            </a:r>
            <a:endParaRPr lang="en-US" sz="1300" dirty="0"/>
          </a:p>
        </p:txBody>
      </p:sp>
      <p:pic>
        <p:nvPicPr>
          <p:cNvPr id="22" name="Image 6" descr="arrow-right">    </p:cNvPr>
          <p:cNvPicPr>
            <a:picLocks noChangeAspect="1"/>
          </p:cNvPicPr>
          <p:nvPr/>
        </p:nvPicPr>
        <p:blipFill>
          <a:blip r:embed="rId7"/>
          <a:srcRect l="0" r="0" t="0" b="0"/>
          <a:stretch/>
        </p:blipFill>
        <p:spPr>
          <a:xfrm>
            <a:off x="5892800" y="3421261"/>
            <a:ext cx="406400" cy="203200"/>
          </a:xfrm>
          <a:prstGeom prst="rect">
            <a:avLst/>
          </a:prstGeom>
        </p:spPr>
      </p:pic>
      <p:sp>
        <p:nvSpPr>
          <p:cNvPr id="23" name="Shape 14"/>
          <p:cNvSpPr/>
          <p:nvPr/>
        </p:nvSpPr>
        <p:spPr>
          <a:xfrm>
            <a:off x="6426200" y="1805880"/>
            <a:ext cx="4953000" cy="3433961"/>
          </a:xfrm>
          <a:prstGeom prst="roundRect">
            <a:avLst>
              <a:gd name="adj" fmla="val 4438"/>
            </a:avLst>
          </a:prstGeom>
          <a:solidFill>
            <a:srgbClr val="2B231E"/>
          </a:solidFill>
          <a:ln/>
        </p:spPr>
      </p:sp>
      <p:sp>
        <p:nvSpPr>
          <p:cNvPr id="24" name="Text 15"/>
          <p:cNvSpPr/>
          <p:nvPr/>
        </p:nvSpPr>
        <p:spPr>
          <a:xfrm>
            <a:off x="6629400" y="1983680"/>
            <a:ext cx="468299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D9B48F"/>
                </a:solidFill>
                <a:latin typeface="IBM Plex Sans KR" pitchFamily="34" charset="0"/>
                <a:ea typeface="IBM Plex Sans KR" pitchFamily="34" charset="-122"/>
                <a:cs typeface="IBM Plex Sans KR" pitchFamily="34" charset="-120"/>
              </a:rPr>
              <a:t>ONDO · 한 화면에 해결</a:t>
            </a:r>
            <a:endParaRPr lang="en-US" sz="1300" dirty="0"/>
          </a:p>
        </p:txBody>
      </p:sp>
      <p:sp>
        <p:nvSpPr>
          <p:cNvPr id="25" name="Text 16"/>
          <p:cNvSpPr/>
          <p:nvPr/>
        </p:nvSpPr>
        <p:spPr>
          <a:xfrm>
            <a:off x="6629400" y="2821880"/>
            <a:ext cx="1206500" cy="416520"/>
          </a:xfrm>
          <a:prstGeom prst="roundRect">
            <a:avLst>
              <a:gd name="adj" fmla="val 21344"/>
            </a:avLst>
          </a:prstGeom>
          <a:solidFill>
            <a:srgbClr val="3A2F28"/>
          </a:solidFill>
          <a:ln/>
        </p:spPr>
        <p:txBody>
          <a:bodyPr wrap="square" lIns="50162" tIns="75562" rIns="50162" bIns="50162" rtlCol="0" anchor="t">
            <a:normAutofit/>
          </a:bodyPr>
          <a:lstStyle/>
          <a:p>
            <a:pPr algn="ctr" indent="0" marL="0">
              <a:lnSpc>
                <a:spcPts val="1680"/>
              </a:lnSpc>
              <a:buNone/>
            </a:pPr>
            <a:r>
              <a:rPr lang="en-US" sz="1200" b="1" dirty="0">
                <a:solidFill>
                  <a:srgbClr val="F6F1EA"/>
                </a:solidFill>
                <a:latin typeface="IBM Plex Sans KR" pitchFamily="34" charset="0"/>
                <a:ea typeface="IBM Plex Sans KR" pitchFamily="34" charset="-122"/>
                <a:cs typeface="IBM Plex Sans KR" pitchFamily="34" charset="-120"/>
              </a:rPr>
              <a:t>셀카 → 톤</a:t>
            </a:r>
            <a:endParaRPr lang="en-US" sz="1200" dirty="0"/>
          </a:p>
        </p:txBody>
      </p:sp>
      <p:sp>
        <p:nvSpPr>
          <p:cNvPr id="26" name="Text 17"/>
          <p:cNvSpPr/>
          <p:nvPr/>
        </p:nvSpPr>
        <p:spPr>
          <a:xfrm>
            <a:off x="6629400" y="3314601"/>
            <a:ext cx="1206500" cy="416520"/>
          </a:xfrm>
          <a:prstGeom prst="roundRect">
            <a:avLst>
              <a:gd name="adj" fmla="val 21344"/>
            </a:avLst>
          </a:prstGeom>
          <a:solidFill>
            <a:srgbClr val="3A2F28"/>
          </a:solidFill>
          <a:ln/>
        </p:spPr>
        <p:txBody>
          <a:bodyPr wrap="square" lIns="50162" tIns="75562" rIns="50162" bIns="50162" rtlCol="0" anchor="t">
            <a:normAutofit/>
          </a:bodyPr>
          <a:lstStyle/>
          <a:p>
            <a:pPr algn="ctr" indent="0" marL="0">
              <a:lnSpc>
                <a:spcPts val="1680"/>
              </a:lnSpc>
              <a:buNone/>
            </a:pPr>
            <a:r>
              <a:rPr lang="en-US" sz="1200" b="1" dirty="0">
                <a:solidFill>
                  <a:srgbClr val="F6F1EA"/>
                </a:solidFill>
                <a:latin typeface="IBM Plex Sans KR" pitchFamily="34" charset="0"/>
                <a:ea typeface="IBM Plex Sans KR" pitchFamily="34" charset="-122"/>
                <a:cs typeface="IBM Plex Sans KR" pitchFamily="34" charset="-120"/>
              </a:rPr>
              <a:t>전신 → 체형</a:t>
            </a:r>
            <a:endParaRPr lang="en-US" sz="1200" dirty="0"/>
          </a:p>
        </p:txBody>
      </p:sp>
      <p:sp>
        <p:nvSpPr>
          <p:cNvPr id="27" name="Text 18"/>
          <p:cNvSpPr/>
          <p:nvPr/>
        </p:nvSpPr>
        <p:spPr>
          <a:xfrm>
            <a:off x="6629400" y="3807321"/>
            <a:ext cx="1206500" cy="416520"/>
          </a:xfrm>
          <a:prstGeom prst="roundRect">
            <a:avLst>
              <a:gd name="adj" fmla="val 21344"/>
            </a:avLst>
          </a:prstGeom>
          <a:solidFill>
            <a:srgbClr val="3A2F28"/>
          </a:solidFill>
          <a:ln/>
        </p:spPr>
        <p:txBody>
          <a:bodyPr wrap="square" lIns="50162" tIns="75562" rIns="50162" bIns="50162" rtlCol="0" anchor="t">
            <a:normAutofit/>
          </a:bodyPr>
          <a:lstStyle/>
          <a:p>
            <a:pPr algn="ctr" indent="0" marL="0">
              <a:lnSpc>
                <a:spcPts val="1680"/>
              </a:lnSpc>
              <a:buNone/>
            </a:pPr>
            <a:r>
              <a:rPr lang="en-US" sz="1200" b="1" dirty="0">
                <a:solidFill>
                  <a:srgbClr val="F6F1EA"/>
                </a:solidFill>
                <a:latin typeface="IBM Plex Sans KR" pitchFamily="34" charset="0"/>
                <a:ea typeface="IBM Plex Sans KR" pitchFamily="34" charset="-122"/>
                <a:cs typeface="IBM Plex Sans KR" pitchFamily="34" charset="-120"/>
              </a:rPr>
              <a:t>날씨 → 오늘</a:t>
            </a:r>
            <a:endParaRPr lang="en-US" sz="1200" dirty="0"/>
          </a:p>
        </p:txBody>
      </p:sp>
      <p:pic>
        <p:nvPicPr>
          <p:cNvPr id="28" name="Image 7" descr="arrow-right">    </p:cNvPr>
          <p:cNvPicPr>
            <a:picLocks noChangeAspect="1"/>
          </p:cNvPicPr>
          <p:nvPr/>
        </p:nvPicPr>
        <p:blipFill>
          <a:blip r:embed="rId8"/>
          <a:srcRect l="0" r="0" t="0" b="0"/>
          <a:stretch/>
        </p:blipFill>
        <p:spPr>
          <a:xfrm>
            <a:off x="7924800" y="3453011"/>
            <a:ext cx="254000" cy="139700"/>
          </a:xfrm>
          <a:prstGeom prst="rect">
            <a:avLst/>
          </a:prstGeom>
        </p:spPr>
      </p:pic>
      <p:sp>
        <p:nvSpPr>
          <p:cNvPr id="29" name="Text 19"/>
          <p:cNvSpPr/>
          <p:nvPr/>
        </p:nvSpPr>
        <p:spPr>
          <a:xfrm>
            <a:off x="8267700" y="3135511"/>
            <a:ext cx="762000" cy="774700"/>
          </a:xfrm>
          <a:custGeom>
            <a:avLst/>
            <a:gdLst/>
            <a:ahLst/>
            <a:cxnLst/>
            <a:rect l="l" t="t" r="r" b="b"/>
            <a:pathLst>
              <a:path w="762000" h="774700">
                <a:moveTo>
                  <a:pt x="114300" y="0"/>
                </a:moveTo>
                <a:lnTo>
                  <a:pt x="647700" y="0"/>
                </a:lnTo>
                <a:arcTo hR="114300" wR="114300" stAng="16200000" swAng="5400000"/>
                <a:lnTo>
                  <a:pt x="762000" y="660400"/>
                </a:lnTo>
                <a:arcTo hR="114300" wR="114300" stAng="0" swAng="5400000"/>
                <a:lnTo>
                  <a:pt x="114300" y="774700"/>
                </a:lnTo>
                <a:arcTo hR="114300" wR="114300" stAng="5400000" swAng="5400000"/>
                <a:lnTo>
                  <a:pt x="0" y="114300"/>
                </a:lnTo>
                <a:arcTo hR="114300" wR="114300" stAng="10800000" swAng="5400000"/>
                <a:close/>
              </a:path>
            </a:pathLst>
          </a:custGeom>
          <a:solidFill>
            <a:srgbClr val="A8714B"/>
          </a:solidFill>
          <a:ln/>
        </p:spPr>
        <p:txBody>
          <a:bodyPr wrap="square" lIns="0" tIns="254000" rIns="0" bIns="228600" rtlCol="0" anchor="t">
            <a:normAutofit/>
          </a:bodyPr>
          <a:lstStyle/>
          <a:p>
            <a:pPr algn="ctr" indent="0" marL="0">
              <a:lnSpc>
                <a:spcPts val="2100"/>
              </a:lnSpc>
              <a:buNone/>
            </a:pPr>
            <a:r>
              <a:rPr lang="en-US" sz="1500" b="1" spc="100" kern="0" dirty="0">
                <a:solidFill>
                  <a:srgbClr val="2B231E"/>
                </a:solidFill>
                <a:latin typeface="IBM Plex Sans KR" pitchFamily="34" charset="0"/>
                <a:ea typeface="IBM Plex Sans KR" pitchFamily="34" charset="-122"/>
                <a:cs typeface="IBM Plex Sans KR" pitchFamily="34" charset="-120"/>
              </a:rPr>
              <a:t>ONDO</a:t>
            </a:r>
            <a:endParaRPr lang="en-US" sz="1500" dirty="0"/>
          </a:p>
        </p:txBody>
      </p:sp>
      <p:pic>
        <p:nvPicPr>
          <p:cNvPr id="30" name="Image 8" descr="arrow-right">    </p:cNvPr>
          <p:cNvPicPr>
            <a:picLocks noChangeAspect="1"/>
          </p:cNvPicPr>
          <p:nvPr/>
        </p:nvPicPr>
        <p:blipFill>
          <a:blip r:embed="rId9"/>
          <a:srcRect l="0" r="0" t="0" b="0"/>
          <a:stretch/>
        </p:blipFill>
        <p:spPr>
          <a:xfrm>
            <a:off x="9118600" y="3453011"/>
            <a:ext cx="254000" cy="139700"/>
          </a:xfrm>
          <a:prstGeom prst="rect">
            <a:avLst/>
          </a:prstGeom>
        </p:spPr>
      </p:pic>
      <p:pic>
        <p:nvPicPr>
          <p:cNvPr id="31" name="Image 9" descr="ONDO 홈 화면: 부산 14도 날씨와 오늘의 추천 TOP 3">    </p:cNvPr>
          <p:cNvPicPr>
            <a:picLocks noChangeAspect="1"/>
          </p:cNvPicPr>
          <p:nvPr/>
        </p:nvPicPr>
        <p:blipFill>
          <a:blip r:embed="rId10"/>
          <a:srcRect l="17180" r="17180" t="0" b="0"/>
          <a:stretch/>
        </p:blipFill>
        <p:spPr>
          <a:xfrm>
            <a:off x="9461500" y="2316361"/>
            <a:ext cx="1587500" cy="2413000"/>
          </a:xfrm>
          <a:prstGeom prst="roundRect">
            <a:avLst>
              <a:gd name="adj" fmla="val 6400"/>
            </a:avLst>
          </a:prstGeom>
        </p:spPr>
      </p:pic>
      <p:sp>
        <p:nvSpPr>
          <p:cNvPr id="32" name="Text 20"/>
          <p:cNvSpPr/>
          <p:nvPr/>
        </p:nvSpPr>
        <p:spPr>
          <a:xfrm>
            <a:off x="6629400" y="4830961"/>
            <a:ext cx="468299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D9B48F"/>
                </a:solidFill>
                <a:latin typeface="IBM Plex Sans KR" pitchFamily="34" charset="0"/>
                <a:ea typeface="IBM Plex Sans KR" pitchFamily="34" charset="-122"/>
                <a:cs typeface="IBM Plex Sans KR" pitchFamily="34" charset="-120"/>
              </a:rPr>
              <a:t>→ 나에게 맞는 옷 · 매일 자동 추천</a:t>
            </a:r>
            <a:endParaRPr lang="en-US" sz="1300" dirty="0"/>
          </a:p>
        </p:txBody>
      </p:sp>
      <p:sp>
        <p:nvSpPr>
          <p:cNvPr id="33" name="Text 21"/>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B6E"/>
                </a:solidFill>
                <a:latin typeface="IBM Plex Sans KR" pitchFamily="34" charset="0"/>
                <a:ea typeface="IBM Plex Sans KR" pitchFamily="34" charset="-122"/>
                <a:cs typeface="IBM Plex Sans KR" pitchFamily="34" charset="-120"/>
              </a:rPr>
              <a:t>배포 완료 · ondo-daily-style.vercel.app</a:t>
            </a:r>
            <a:endParaRPr lang="en-US" sz="1200" dirty="0"/>
          </a:p>
        </p:txBody>
      </p:sp>
      <p:sp>
        <p:nvSpPr>
          <p:cNvPr id="34" name="Text 2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7B6E"/>
                </a:solidFill>
                <a:latin typeface="IBM Plex Sans KR" pitchFamily="34" charset="0"/>
                <a:ea typeface="IBM Plex Sans KR" pitchFamily="34" charset="-122"/>
                <a:cs typeface="IBM Plex Sans KR"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C6440"/>
                </a:solidFill>
                <a:latin typeface="IBM Plex Sans KR" pitchFamily="34" charset="0"/>
                <a:ea typeface="IBM Plex Sans KR" pitchFamily="34" charset="-122"/>
                <a:cs typeface="IBM Plex Sans KR" pitchFamily="34" charset="-120"/>
              </a:rPr>
              <a:t>시스템 아키텍처</a:t>
            </a:r>
            <a:endParaRPr lang="en-US" sz="1200" dirty="0"/>
          </a:p>
        </p:txBody>
      </p:sp>
      <p:sp>
        <p:nvSpPr>
          <p:cNvPr id="3" name="Text 1"/>
          <p:cNvSpPr/>
          <p:nvPr/>
        </p:nvSpPr>
        <p:spPr>
          <a:xfrm>
            <a:off x="812800" y="1102320"/>
            <a:ext cx="10883392" cy="513060"/>
          </a:xfrm>
          <a:prstGeom prst="rect">
            <a:avLst/>
          </a:prstGeom>
          <a:noFill/>
          <a:ln/>
        </p:spPr>
        <p:txBody>
          <a:bodyPr wrap="square" lIns="0" tIns="0" rIns="0" bIns="0" rtlCol="0" anchor="t">
            <a:normAutofit/>
          </a:bodyPr>
          <a:lstStyle/>
          <a:p>
            <a:pPr algn="l" indent="0" marL="0">
              <a:lnSpc>
                <a:spcPts val="3840"/>
              </a:lnSpc>
              <a:buNone/>
            </a:pPr>
            <a:r>
              <a:rPr lang="en-US" sz="3200" b="1" dirty="0">
                <a:solidFill>
                  <a:srgbClr val="2B231E"/>
                </a:solidFill>
                <a:latin typeface="Noto Serif KR" pitchFamily="18" charset="0"/>
                <a:ea typeface="Noto Serif KR" pitchFamily="18" charset="-122"/>
                <a:cs typeface="Noto Serif KR" pitchFamily="18" charset="-120"/>
              </a:rPr>
              <a:t>역할별로 서버를 나눠 설계했습니다</a:t>
            </a:r>
            <a:endParaRPr lang="en-US" sz="3200" dirty="0"/>
          </a:p>
        </p:txBody>
      </p:sp>
      <p:sp>
        <p:nvSpPr>
          <p:cNvPr id="4" name="Shape 2"/>
          <p:cNvSpPr/>
          <p:nvPr/>
        </p:nvSpPr>
        <p:spPr>
          <a:xfrm>
            <a:off x="812800" y="3253680"/>
            <a:ext cx="1905000" cy="1016000"/>
          </a:xfrm>
          <a:prstGeom prst="roundRect">
            <a:avLst>
              <a:gd name="adj" fmla="val 11250"/>
            </a:avLst>
          </a:prstGeom>
          <a:solidFill>
            <a:srgbClr val="EDE4D8"/>
          </a:solidFill>
          <a:ln/>
        </p:spPr>
      </p:sp>
      <p:sp>
        <p:nvSpPr>
          <p:cNvPr id="5" name="Text 3"/>
          <p:cNvSpPr/>
          <p:nvPr/>
        </p:nvSpPr>
        <p:spPr>
          <a:xfrm>
            <a:off x="1169154" y="3515320"/>
            <a:ext cx="1192292"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3A2F28"/>
                </a:solidFill>
                <a:latin typeface="IBM Plex Sans KR" pitchFamily="34" charset="0"/>
                <a:ea typeface="IBM Plex Sans KR" pitchFamily="34" charset="-122"/>
                <a:cs typeface="IBM Plex Sans KR" pitchFamily="34" charset="-120"/>
              </a:rPr>
              <a:t>사용자 휴대폰</a:t>
            </a:r>
            <a:endParaRPr lang="en-US" sz="1400" dirty="0"/>
          </a:p>
        </p:txBody>
      </p:sp>
      <p:sp>
        <p:nvSpPr>
          <p:cNvPr id="6" name="Text 4"/>
          <p:cNvSpPr/>
          <p:nvPr/>
        </p:nvSpPr>
        <p:spPr>
          <a:xfrm>
            <a:off x="1224518" y="3802261"/>
            <a:ext cx="1081564" cy="231080"/>
          </a:xfrm>
          <a:prstGeom prst="rect">
            <a:avLst/>
          </a:prstGeom>
          <a:noFill/>
          <a:ln/>
        </p:spPr>
        <p:txBody>
          <a:bodyPr wrap="square" lIns="0" tIns="0" rIns="0" bIns="0" rtlCol="0" anchor="t">
            <a:normAutofit/>
          </a:bodyPr>
          <a:lstStyle/>
          <a:p>
            <a:pPr algn="ctr" indent="0" marL="0">
              <a:lnSpc>
                <a:spcPts val="1620"/>
              </a:lnSpc>
              <a:buNone/>
            </a:pPr>
            <a:r>
              <a:rPr lang="en-US" sz="1200" dirty="0">
                <a:solidFill>
                  <a:srgbClr val="3A2F28"/>
                </a:solidFill>
                <a:latin typeface="IBM Plex Sans KR" pitchFamily="34" charset="0"/>
                <a:ea typeface="IBM Plex Sans KR" pitchFamily="34" charset="-122"/>
                <a:cs typeface="IBM Plex Sans KR" pitchFamily="34" charset="-120"/>
              </a:rPr>
              <a:t>사진·설문 입력</a:t>
            </a:r>
            <a:endParaRPr lang="en-US" sz="1200" dirty="0"/>
          </a:p>
        </p:txBody>
      </p:sp>
      <p:sp>
        <p:nvSpPr>
          <p:cNvPr id="7" name="Shape 5"/>
          <p:cNvSpPr/>
          <p:nvPr/>
        </p:nvSpPr>
        <p:spPr>
          <a:xfrm>
            <a:off x="3479800" y="2047180"/>
            <a:ext cx="2794000" cy="1270000"/>
          </a:xfrm>
          <a:prstGeom prst="roundRect">
            <a:avLst>
              <a:gd name="adj" fmla="val 9000"/>
            </a:avLst>
          </a:prstGeom>
          <a:solidFill>
            <a:srgbClr val="2B231E"/>
          </a:solidFill>
          <a:ln/>
        </p:spPr>
      </p:sp>
      <p:sp>
        <p:nvSpPr>
          <p:cNvPr id="8" name="Text 6"/>
          <p:cNvSpPr/>
          <p:nvPr/>
        </p:nvSpPr>
        <p:spPr>
          <a:xfrm>
            <a:off x="3657600" y="2310110"/>
            <a:ext cx="251155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1EA"/>
                </a:solidFill>
                <a:latin typeface="IBM Plex Sans KR" pitchFamily="34" charset="0"/>
                <a:ea typeface="IBM Plex Sans KR" pitchFamily="34" charset="-122"/>
                <a:cs typeface="IBM Plex Sans KR" pitchFamily="34" charset="-120"/>
              </a:rPr>
              <a:t>① AI 분석 서버</a:t>
            </a:r>
            <a:endParaRPr lang="en-US" sz="1400" dirty="0"/>
          </a:p>
        </p:txBody>
      </p:sp>
      <p:sp>
        <p:nvSpPr>
          <p:cNvPr id="9" name="Text 7"/>
          <p:cNvSpPr/>
          <p:nvPr/>
        </p:nvSpPr>
        <p:spPr>
          <a:xfrm>
            <a:off x="3657600" y="2597051"/>
            <a:ext cx="251155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D9B48F"/>
                </a:solidFill>
                <a:latin typeface="IBM Plex Sans KR" pitchFamily="34" charset="0"/>
                <a:ea typeface="IBM Plex Sans KR" pitchFamily="34" charset="-122"/>
                <a:cs typeface="IBM Plex Sans KR" pitchFamily="34" charset="-120"/>
              </a:rPr>
              <a:t>Render · FastAPI</a:t>
            </a:r>
            <a:endParaRPr lang="en-US" sz="1200" dirty="0"/>
          </a:p>
        </p:txBody>
      </p:sp>
      <p:sp>
        <p:nvSpPr>
          <p:cNvPr id="10" name="Text 8"/>
          <p:cNvSpPr/>
          <p:nvPr/>
        </p:nvSpPr>
        <p:spPr>
          <a:xfrm>
            <a:off x="3657600" y="2848471"/>
            <a:ext cx="2511552"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E3D6C7"/>
                </a:solidFill>
                <a:latin typeface="IBM Plex Sans KR" pitchFamily="34" charset="0"/>
                <a:ea typeface="IBM Plex Sans KR" pitchFamily="34" charset="-122"/>
                <a:cs typeface="IBM Plex Sans KR" pitchFamily="34" charset="-120"/>
              </a:rPr>
              <a:t>무거운 AI 계산을 분리</a:t>
            </a:r>
            <a:endParaRPr lang="en-US" sz="1200" dirty="0"/>
          </a:p>
        </p:txBody>
      </p:sp>
      <p:sp>
        <p:nvSpPr>
          <p:cNvPr id="11" name="Shape 9"/>
          <p:cNvSpPr/>
          <p:nvPr/>
        </p:nvSpPr>
        <p:spPr>
          <a:xfrm>
            <a:off x="3479800" y="4206180"/>
            <a:ext cx="2794000" cy="1270000"/>
          </a:xfrm>
          <a:prstGeom prst="roundRect">
            <a:avLst>
              <a:gd name="adj" fmla="val 9000"/>
            </a:avLst>
          </a:prstGeom>
          <a:solidFill>
            <a:srgbClr val="A8714B"/>
          </a:solidFill>
          <a:ln/>
        </p:spPr>
      </p:sp>
      <p:sp>
        <p:nvSpPr>
          <p:cNvPr id="12" name="Text 10"/>
          <p:cNvSpPr/>
          <p:nvPr/>
        </p:nvSpPr>
        <p:spPr>
          <a:xfrm>
            <a:off x="3657600" y="4469110"/>
            <a:ext cx="251155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231E"/>
                </a:solidFill>
                <a:latin typeface="IBM Plex Sans KR" pitchFamily="34" charset="0"/>
                <a:ea typeface="IBM Plex Sans KR" pitchFamily="34" charset="-122"/>
                <a:cs typeface="IBM Plex Sans KR" pitchFamily="34" charset="-120"/>
              </a:rPr>
              <a:t>② 웹 서비스</a:t>
            </a:r>
            <a:endParaRPr lang="en-US" sz="1400" dirty="0"/>
          </a:p>
        </p:txBody>
      </p:sp>
      <p:sp>
        <p:nvSpPr>
          <p:cNvPr id="13" name="Text 11"/>
          <p:cNvSpPr/>
          <p:nvPr/>
        </p:nvSpPr>
        <p:spPr>
          <a:xfrm>
            <a:off x="3657600" y="4756051"/>
            <a:ext cx="251155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A2F28"/>
                </a:solidFill>
                <a:latin typeface="IBM Plex Sans KR" pitchFamily="34" charset="0"/>
                <a:ea typeface="IBM Plex Sans KR" pitchFamily="34" charset="-122"/>
                <a:cs typeface="IBM Plex Sans KR" pitchFamily="34" charset="-120"/>
              </a:rPr>
              <a:t>Vercel · Next.js</a:t>
            </a:r>
            <a:endParaRPr lang="en-US" sz="1200" dirty="0"/>
          </a:p>
        </p:txBody>
      </p:sp>
      <p:sp>
        <p:nvSpPr>
          <p:cNvPr id="14" name="Text 12"/>
          <p:cNvSpPr/>
          <p:nvPr/>
        </p:nvSpPr>
        <p:spPr>
          <a:xfrm>
            <a:off x="3657600" y="5007471"/>
            <a:ext cx="2511552"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31E"/>
                </a:solidFill>
                <a:latin typeface="IBM Plex Sans KR" pitchFamily="34" charset="0"/>
                <a:ea typeface="IBM Plex Sans KR" pitchFamily="34" charset="-122"/>
                <a:cs typeface="IBM Plex Sans KR" pitchFamily="34" charset="-120"/>
              </a:rPr>
              <a:t>화면 + 추천 계산</a:t>
            </a:r>
            <a:endParaRPr lang="en-US" sz="1200" dirty="0"/>
          </a:p>
        </p:txBody>
      </p:sp>
      <p:sp>
        <p:nvSpPr>
          <p:cNvPr id="15" name="Shape 13"/>
          <p:cNvSpPr/>
          <p:nvPr/>
        </p:nvSpPr>
        <p:spPr>
          <a:xfrm>
            <a:off x="7042150" y="1863030"/>
            <a:ext cx="4330700" cy="749300"/>
          </a:xfrm>
          <a:prstGeom prst="roundRect">
            <a:avLst>
              <a:gd name="adj" fmla="val 14407"/>
            </a:avLst>
          </a:prstGeom>
          <a:solidFill>
            <a:srgbClr val="FFFCF7"/>
          </a:solidFill>
          <a:ln w="12700">
            <a:solidFill>
              <a:srgbClr val="E3D8CA"/>
            </a:solidFill>
            <a:prstDash val="solid"/>
          </a:ln>
        </p:spPr>
      </p:sp>
      <p:sp>
        <p:nvSpPr>
          <p:cNvPr id="16" name="Text 14"/>
          <p:cNvSpPr/>
          <p:nvPr/>
        </p:nvSpPr>
        <p:spPr>
          <a:xfrm>
            <a:off x="7226300" y="1991320"/>
            <a:ext cx="408127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231E"/>
                </a:solidFill>
                <a:latin typeface="IBM Plex Sans KR" pitchFamily="34" charset="0"/>
                <a:ea typeface="IBM Plex Sans KR" pitchFamily="34" charset="-122"/>
                <a:cs typeface="IBM Plex Sans KR" pitchFamily="34" charset="-120"/>
              </a:rPr>
              <a:t>퍼스널컬러 AI</a:t>
            </a:r>
            <a:endParaRPr lang="en-US" sz="1400" dirty="0"/>
          </a:p>
        </p:txBody>
      </p:sp>
      <p:sp>
        <p:nvSpPr>
          <p:cNvPr id="17" name="Text 15"/>
          <p:cNvSpPr/>
          <p:nvPr/>
        </p:nvSpPr>
        <p:spPr>
          <a:xfrm>
            <a:off x="7226300" y="2278261"/>
            <a:ext cx="4081272"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B4E44"/>
                </a:solidFill>
                <a:latin typeface="IBM Plex Sans KR" pitchFamily="34" charset="0"/>
                <a:ea typeface="IBM Plex Sans KR" pitchFamily="34" charset="-122"/>
                <a:cs typeface="IBM Plex Sans KR" pitchFamily="34" charset="-120"/>
              </a:rPr>
              <a:t>얼굴 인식 → 피부색 → 웜·쿨</a:t>
            </a:r>
            <a:endParaRPr lang="en-US" sz="1200" dirty="0"/>
          </a:p>
        </p:txBody>
      </p:sp>
      <p:sp>
        <p:nvSpPr>
          <p:cNvPr id="18" name="Shape 16"/>
          <p:cNvSpPr/>
          <p:nvPr/>
        </p:nvSpPr>
        <p:spPr>
          <a:xfrm>
            <a:off x="7042150" y="2879030"/>
            <a:ext cx="4330700" cy="749300"/>
          </a:xfrm>
          <a:prstGeom prst="roundRect">
            <a:avLst>
              <a:gd name="adj" fmla="val 14407"/>
            </a:avLst>
          </a:prstGeom>
          <a:solidFill>
            <a:srgbClr val="FFFCF7"/>
          </a:solidFill>
          <a:ln w="12700">
            <a:solidFill>
              <a:srgbClr val="E3D8CA"/>
            </a:solidFill>
            <a:prstDash val="solid"/>
          </a:ln>
        </p:spPr>
      </p:sp>
      <p:sp>
        <p:nvSpPr>
          <p:cNvPr id="19" name="Text 17"/>
          <p:cNvSpPr/>
          <p:nvPr/>
        </p:nvSpPr>
        <p:spPr>
          <a:xfrm>
            <a:off x="7226300" y="3007320"/>
            <a:ext cx="408127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231E"/>
                </a:solidFill>
                <a:latin typeface="IBM Plex Sans KR" pitchFamily="34" charset="0"/>
                <a:ea typeface="IBM Plex Sans KR" pitchFamily="34" charset="-122"/>
                <a:cs typeface="IBM Plex Sans KR" pitchFamily="34" charset="-120"/>
              </a:rPr>
              <a:t>골격 AI</a:t>
            </a:r>
            <a:endParaRPr lang="en-US" sz="1400" dirty="0"/>
          </a:p>
        </p:txBody>
      </p:sp>
      <p:sp>
        <p:nvSpPr>
          <p:cNvPr id="20" name="Text 18"/>
          <p:cNvSpPr/>
          <p:nvPr/>
        </p:nvSpPr>
        <p:spPr>
          <a:xfrm>
            <a:off x="7226300" y="3294261"/>
            <a:ext cx="4081272"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B4E44"/>
                </a:solidFill>
                <a:latin typeface="IBM Plex Sans KR" pitchFamily="34" charset="0"/>
                <a:ea typeface="IBM Plex Sans KR" pitchFamily="34" charset="-122"/>
                <a:cs typeface="IBM Plex Sans KR" pitchFamily="34" charset="-120"/>
              </a:rPr>
              <a:t>관절점 → 몸 비율 + 설문 → 골격</a:t>
            </a:r>
            <a:endParaRPr lang="en-US" sz="1200" dirty="0"/>
          </a:p>
        </p:txBody>
      </p:sp>
      <p:sp>
        <p:nvSpPr>
          <p:cNvPr id="21" name="Shape 19"/>
          <p:cNvSpPr/>
          <p:nvPr/>
        </p:nvSpPr>
        <p:spPr>
          <a:xfrm>
            <a:off x="7042150" y="3895030"/>
            <a:ext cx="4330700" cy="749300"/>
          </a:xfrm>
          <a:prstGeom prst="roundRect">
            <a:avLst>
              <a:gd name="adj" fmla="val 14407"/>
            </a:avLst>
          </a:prstGeom>
          <a:solidFill>
            <a:srgbClr val="FFFCF7"/>
          </a:solidFill>
          <a:ln w="12700">
            <a:solidFill>
              <a:srgbClr val="E3D8CA"/>
            </a:solidFill>
            <a:prstDash val="solid"/>
          </a:ln>
        </p:spPr>
      </p:sp>
      <p:sp>
        <p:nvSpPr>
          <p:cNvPr id="22" name="Text 20"/>
          <p:cNvSpPr/>
          <p:nvPr/>
        </p:nvSpPr>
        <p:spPr>
          <a:xfrm>
            <a:off x="7226300" y="4023320"/>
            <a:ext cx="408127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231E"/>
                </a:solidFill>
                <a:latin typeface="IBM Plex Sans KR" pitchFamily="34" charset="0"/>
                <a:ea typeface="IBM Plex Sans KR" pitchFamily="34" charset="-122"/>
                <a:cs typeface="IBM Plex Sans KR" pitchFamily="34" charset="-120"/>
              </a:rPr>
              <a:t>③ 데이터베이스 · Supabase</a:t>
            </a:r>
            <a:endParaRPr lang="en-US" sz="1400" dirty="0"/>
          </a:p>
        </p:txBody>
      </p:sp>
      <p:sp>
        <p:nvSpPr>
          <p:cNvPr id="23" name="Text 21"/>
          <p:cNvSpPr/>
          <p:nvPr/>
        </p:nvSpPr>
        <p:spPr>
          <a:xfrm>
            <a:off x="7226300" y="4310261"/>
            <a:ext cx="4081272"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B4E44"/>
                </a:solidFill>
                <a:latin typeface="IBM Plex Sans KR" pitchFamily="34" charset="0"/>
                <a:ea typeface="IBM Plex Sans KR" pitchFamily="34" charset="-122"/>
                <a:cs typeface="IBM Plex Sans KR" pitchFamily="34" charset="-120"/>
              </a:rPr>
              <a:t>상품 1,590 · 프로필 저장</a:t>
            </a:r>
            <a:endParaRPr lang="en-US" sz="1200" dirty="0"/>
          </a:p>
        </p:txBody>
      </p:sp>
      <p:sp>
        <p:nvSpPr>
          <p:cNvPr id="24" name="Shape 22"/>
          <p:cNvSpPr/>
          <p:nvPr/>
        </p:nvSpPr>
        <p:spPr>
          <a:xfrm>
            <a:off x="7042150" y="4911030"/>
            <a:ext cx="4330700" cy="749300"/>
          </a:xfrm>
          <a:prstGeom prst="roundRect">
            <a:avLst>
              <a:gd name="adj" fmla="val 14407"/>
            </a:avLst>
          </a:prstGeom>
          <a:solidFill>
            <a:srgbClr val="FFFCF7"/>
          </a:solidFill>
          <a:ln w="12700">
            <a:solidFill>
              <a:srgbClr val="E3D8CA"/>
            </a:solidFill>
            <a:prstDash val="solid"/>
          </a:ln>
        </p:spPr>
      </p:sp>
      <p:sp>
        <p:nvSpPr>
          <p:cNvPr id="25" name="Text 23"/>
          <p:cNvSpPr/>
          <p:nvPr/>
        </p:nvSpPr>
        <p:spPr>
          <a:xfrm>
            <a:off x="7226300" y="5039320"/>
            <a:ext cx="408127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231E"/>
                </a:solidFill>
                <a:latin typeface="IBM Plex Sans KR" pitchFamily="34" charset="0"/>
                <a:ea typeface="IBM Plex Sans KR" pitchFamily="34" charset="-122"/>
                <a:cs typeface="IBM Plex Sans KR" pitchFamily="34" charset="-120"/>
              </a:rPr>
              <a:t>④ 실시간 날씨 · Open-Meteo</a:t>
            </a:r>
            <a:endParaRPr lang="en-US" sz="1400" dirty="0"/>
          </a:p>
        </p:txBody>
      </p:sp>
      <p:sp>
        <p:nvSpPr>
          <p:cNvPr id="26" name="Text 24"/>
          <p:cNvSpPr/>
          <p:nvPr/>
        </p:nvSpPr>
        <p:spPr>
          <a:xfrm>
            <a:off x="7226300" y="5326261"/>
            <a:ext cx="4081272"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B4E44"/>
                </a:solidFill>
                <a:latin typeface="IBM Plex Sans KR" pitchFamily="34" charset="0"/>
                <a:ea typeface="IBM Plex Sans KR" pitchFamily="34" charset="-122"/>
                <a:cs typeface="IBM Plex Sans KR" pitchFamily="34" charset="-120"/>
              </a:rPr>
              <a:t>기온·비·바람 실시간</a:t>
            </a:r>
            <a:endParaRPr lang="en-US" sz="1200" dirty="0"/>
          </a:p>
        </p:txBody>
      </p:sp>
      <p:pic>
        <p:nvPicPr>
          <p:cNvPr id="27" name="Image 0" descr="connector">    </p:cNvPr>
          <p:cNvPicPr>
            <a:picLocks noChangeAspect="1"/>
          </p:cNvPicPr>
          <p:nvPr/>
        </p:nvPicPr>
        <p:blipFill>
          <a:blip r:embed="rId1"/>
          <a:srcRect l="0" r="0" t="0" b="0"/>
          <a:stretch/>
        </p:blipFill>
        <p:spPr>
          <a:xfrm>
            <a:off x="2667000" y="2631380"/>
            <a:ext cx="863600" cy="800100"/>
          </a:xfrm>
          <a:prstGeom prst="rect">
            <a:avLst/>
          </a:prstGeom>
        </p:spPr>
      </p:pic>
      <p:pic>
        <p:nvPicPr>
          <p:cNvPr id="28" name="Image 1" descr="connector">    </p:cNvPr>
          <p:cNvPicPr>
            <a:picLocks noChangeAspect="1"/>
          </p:cNvPicPr>
          <p:nvPr/>
        </p:nvPicPr>
        <p:blipFill>
          <a:blip r:embed="rId2"/>
          <a:srcRect l="0" r="0" t="0" b="0"/>
          <a:stretch/>
        </p:blipFill>
        <p:spPr>
          <a:xfrm>
            <a:off x="2667000" y="4091880"/>
            <a:ext cx="863600" cy="800100"/>
          </a:xfrm>
          <a:prstGeom prst="rect">
            <a:avLst/>
          </a:prstGeom>
        </p:spPr>
      </p:pic>
      <p:pic>
        <p:nvPicPr>
          <p:cNvPr id="29" name="Image 2" descr="connector">    </p:cNvPr>
          <p:cNvPicPr>
            <a:picLocks noChangeAspect="1"/>
          </p:cNvPicPr>
          <p:nvPr/>
        </p:nvPicPr>
        <p:blipFill>
          <a:blip r:embed="rId3"/>
          <a:srcRect l="0" r="0" t="0" b="0"/>
          <a:stretch/>
        </p:blipFill>
        <p:spPr>
          <a:xfrm>
            <a:off x="6223000" y="2186880"/>
            <a:ext cx="863600" cy="355600"/>
          </a:xfrm>
          <a:prstGeom prst="rect">
            <a:avLst/>
          </a:prstGeom>
        </p:spPr>
      </p:pic>
      <p:pic>
        <p:nvPicPr>
          <p:cNvPr id="30" name="Image 3" descr="connector">    </p:cNvPr>
          <p:cNvPicPr>
            <a:picLocks noChangeAspect="1"/>
          </p:cNvPicPr>
          <p:nvPr/>
        </p:nvPicPr>
        <p:blipFill>
          <a:blip r:embed="rId4"/>
          <a:srcRect l="0" r="0" t="0" b="0"/>
          <a:stretch/>
        </p:blipFill>
        <p:spPr>
          <a:xfrm>
            <a:off x="6223000" y="2821880"/>
            <a:ext cx="863600" cy="482600"/>
          </a:xfrm>
          <a:prstGeom prst="rect">
            <a:avLst/>
          </a:prstGeom>
        </p:spPr>
      </p:pic>
      <p:pic>
        <p:nvPicPr>
          <p:cNvPr id="31" name="Image 4" descr="connector">    </p:cNvPr>
          <p:cNvPicPr>
            <a:picLocks noChangeAspect="1"/>
          </p:cNvPicPr>
          <p:nvPr/>
        </p:nvPicPr>
        <p:blipFill>
          <a:blip r:embed="rId5"/>
          <a:srcRect l="0" r="0" t="0" b="0"/>
          <a:stretch/>
        </p:blipFill>
        <p:spPr>
          <a:xfrm>
            <a:off x="6223000" y="4218880"/>
            <a:ext cx="863600" cy="482600"/>
          </a:xfrm>
          <a:prstGeom prst="rect">
            <a:avLst/>
          </a:prstGeom>
        </p:spPr>
      </p:pic>
      <p:pic>
        <p:nvPicPr>
          <p:cNvPr id="32" name="Image 5" descr="connector">    </p:cNvPr>
          <p:cNvPicPr>
            <a:picLocks noChangeAspect="1"/>
          </p:cNvPicPr>
          <p:nvPr/>
        </p:nvPicPr>
        <p:blipFill>
          <a:blip r:embed="rId6"/>
          <a:srcRect l="0" r="0" t="0" b="0"/>
          <a:stretch/>
        </p:blipFill>
        <p:spPr>
          <a:xfrm>
            <a:off x="6223000" y="4980880"/>
            <a:ext cx="863600" cy="355600"/>
          </a:xfrm>
          <a:prstGeom prst="rect">
            <a:avLst/>
          </a:prstGeom>
        </p:spPr>
      </p:pic>
      <p:sp>
        <p:nvSpPr>
          <p:cNvPr id="33" name="Text 25"/>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B6E"/>
                </a:solidFill>
                <a:latin typeface="IBM Plex Sans KR" pitchFamily="34" charset="0"/>
                <a:ea typeface="IBM Plex Sans KR" pitchFamily="34" charset="-122"/>
                <a:cs typeface="IBM Plex Sans KR" pitchFamily="34" charset="-120"/>
              </a:rPr>
              <a:t>사진은 저장하지 않고 결과만 남깁니다</a:t>
            </a:r>
            <a:endParaRPr lang="en-US" sz="1200" dirty="0"/>
          </a:p>
        </p:txBody>
      </p:sp>
      <p:sp>
        <p:nvSpPr>
          <p:cNvPr id="34" name="Text 2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7B6E"/>
                </a:solidFill>
                <a:latin typeface="IBM Plex Sans KR" pitchFamily="34" charset="0"/>
                <a:ea typeface="IBM Plex Sans KR" pitchFamily="34" charset="-122"/>
                <a:cs typeface="IBM Plex Sans KR"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C6440"/>
                </a:solidFill>
                <a:latin typeface="IBM Plex Sans KR" pitchFamily="34" charset="0"/>
                <a:ea typeface="IBM Plex Sans KR" pitchFamily="34" charset="-122"/>
                <a:cs typeface="IBM Plex Sans KR" pitchFamily="34" charset="-120"/>
              </a:rPr>
              <a:t>작동 방식</a:t>
            </a:r>
            <a:endParaRPr lang="en-US" sz="1200" dirty="0"/>
          </a:p>
        </p:txBody>
      </p:sp>
      <p:sp>
        <p:nvSpPr>
          <p:cNvPr id="3" name="Text 1"/>
          <p:cNvSpPr/>
          <p:nvPr/>
        </p:nvSpPr>
        <p:spPr>
          <a:xfrm>
            <a:off x="812800" y="1102320"/>
            <a:ext cx="10883392" cy="513060"/>
          </a:xfrm>
          <a:prstGeom prst="rect">
            <a:avLst/>
          </a:prstGeom>
          <a:noFill/>
          <a:ln/>
        </p:spPr>
        <p:txBody>
          <a:bodyPr wrap="square" lIns="0" tIns="0" rIns="0" bIns="0" rtlCol="0" anchor="t">
            <a:normAutofit/>
          </a:bodyPr>
          <a:lstStyle/>
          <a:p>
            <a:pPr algn="l" indent="0" marL="0">
              <a:lnSpc>
                <a:spcPts val="3840"/>
              </a:lnSpc>
              <a:buNone/>
            </a:pPr>
            <a:r>
              <a:rPr lang="en-US" sz="3200" b="1" dirty="0">
                <a:solidFill>
                  <a:srgbClr val="2B231E"/>
                </a:solidFill>
                <a:latin typeface="Noto Serif KR" pitchFamily="18" charset="0"/>
                <a:ea typeface="Noto Serif KR" pitchFamily="18" charset="-122"/>
                <a:cs typeface="Noto Serif KR" pitchFamily="18" charset="-120"/>
              </a:rPr>
              <a:t>1,590개 상품 컬러를 두 단계로 걸러 15개를 골랐습니다</a:t>
            </a:r>
            <a:endParaRPr lang="en-US" sz="3200" dirty="0"/>
          </a:p>
        </p:txBody>
      </p:sp>
      <p:sp>
        <p:nvSpPr>
          <p:cNvPr id="4" name="Shape 2"/>
          <p:cNvSpPr/>
          <p:nvPr/>
        </p:nvSpPr>
        <p:spPr>
          <a:xfrm>
            <a:off x="812800" y="1914029"/>
            <a:ext cx="5715000" cy="756841"/>
          </a:xfrm>
          <a:prstGeom prst="roundRect">
            <a:avLst>
              <a:gd name="adj" fmla="val 13424"/>
            </a:avLst>
          </a:prstGeom>
          <a:solidFill>
            <a:srgbClr val="D8CCBE"/>
          </a:solidFill>
          <a:ln/>
        </p:spPr>
      </p:sp>
      <p:sp>
        <p:nvSpPr>
          <p:cNvPr id="5" name="Text 3"/>
          <p:cNvSpPr/>
          <p:nvPr/>
        </p:nvSpPr>
        <p:spPr>
          <a:xfrm>
            <a:off x="1066800" y="2159099"/>
            <a:ext cx="325266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B231E"/>
                </a:solidFill>
                <a:latin typeface="IBM Plex Sans KR" pitchFamily="34" charset="0"/>
                <a:ea typeface="IBM Plex Sans KR" pitchFamily="34" charset="-122"/>
                <a:cs typeface="IBM Plex Sans KR" pitchFamily="34" charset="-120"/>
              </a:rPr>
              <a:t>전체 상품 컬러 </a:t>
            </a:r>
            <a:r>
              <a:rPr lang="en-US" sz="1500" b="1" dirty="0">
                <a:solidFill>
                  <a:srgbClr val="5B4E44"/>
                </a:solidFill>
                <a:latin typeface="IBM Plex Sans KR" pitchFamily="34" charset="0"/>
                <a:ea typeface="IBM Plex Sans KR" pitchFamily="34" charset="-122"/>
                <a:cs typeface="IBM Plex Sans KR" pitchFamily="34" charset="-120"/>
              </a:rPr>
              <a:t>265개 상품 × 6컬러</a:t>
            </a:r>
            <a:endParaRPr lang="en-US" sz="1500" dirty="0"/>
          </a:p>
        </p:txBody>
      </p:sp>
      <p:sp>
        <p:nvSpPr>
          <p:cNvPr id="6" name="Text 4"/>
          <p:cNvSpPr/>
          <p:nvPr/>
        </p:nvSpPr>
        <p:spPr>
          <a:xfrm>
            <a:off x="5289510" y="2079129"/>
            <a:ext cx="984290" cy="452041"/>
          </a:xfrm>
          <a:prstGeom prst="rect">
            <a:avLst/>
          </a:prstGeom>
          <a:noFill/>
          <a:ln/>
        </p:spPr>
        <p:txBody>
          <a:bodyPr wrap="square" lIns="0" tIns="0" rIns="0" bIns="0" rtlCol="0" anchor="t">
            <a:normAutofit/>
          </a:bodyPr>
          <a:lstStyle/>
          <a:p>
            <a:pPr algn="r" indent="0" marL="0">
              <a:lnSpc>
                <a:spcPts val="3360"/>
              </a:lnSpc>
              <a:buNone/>
            </a:pPr>
            <a:r>
              <a:rPr lang="en-US" sz="2400" b="1" dirty="0">
                <a:solidFill>
                  <a:srgbClr val="2B231E"/>
                </a:solidFill>
                <a:latin typeface="Noto Serif KR" pitchFamily="18" charset="0"/>
                <a:ea typeface="Noto Serif KR" pitchFamily="18" charset="-122"/>
                <a:cs typeface="Noto Serif KR" pitchFamily="18" charset="-120"/>
              </a:rPr>
              <a:t>1,590</a:t>
            </a:r>
            <a:endParaRPr lang="en-US" sz="2400" dirty="0"/>
          </a:p>
        </p:txBody>
      </p:sp>
      <p:pic>
        <p:nvPicPr>
          <p:cNvPr id="7" name="Image 0" descr="arrow-down">    </p:cNvPr>
          <p:cNvPicPr>
            <a:picLocks noChangeAspect="1"/>
          </p:cNvPicPr>
          <p:nvPr/>
        </p:nvPicPr>
        <p:blipFill>
          <a:blip r:embed="rId1"/>
          <a:srcRect l="0" r="0" t="0" b="0"/>
          <a:stretch/>
        </p:blipFill>
        <p:spPr>
          <a:xfrm>
            <a:off x="3543300" y="2759770"/>
            <a:ext cx="254000" cy="203200"/>
          </a:xfrm>
          <a:prstGeom prst="rect">
            <a:avLst/>
          </a:prstGeom>
        </p:spPr>
      </p:pic>
      <p:sp>
        <p:nvSpPr>
          <p:cNvPr id="8" name="Shape 5"/>
          <p:cNvSpPr/>
          <p:nvPr/>
        </p:nvSpPr>
        <p:spPr>
          <a:xfrm>
            <a:off x="1511300" y="3051870"/>
            <a:ext cx="4318000" cy="756841"/>
          </a:xfrm>
          <a:prstGeom prst="roundRect">
            <a:avLst>
              <a:gd name="adj" fmla="val 13424"/>
            </a:avLst>
          </a:prstGeom>
          <a:solidFill>
            <a:srgbClr val="E8C9A6"/>
          </a:solidFill>
          <a:ln/>
        </p:spPr>
      </p:sp>
      <p:sp>
        <p:nvSpPr>
          <p:cNvPr id="9" name="Text 6"/>
          <p:cNvSpPr/>
          <p:nvPr/>
        </p:nvSpPr>
        <p:spPr>
          <a:xfrm>
            <a:off x="1765300" y="3296940"/>
            <a:ext cx="135612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B231E"/>
                </a:solidFill>
                <a:latin typeface="IBM Plex Sans KR" pitchFamily="34" charset="0"/>
                <a:ea typeface="IBM Plex Sans KR" pitchFamily="34" charset="-122"/>
                <a:cs typeface="IBM Plex Sans KR" pitchFamily="34" charset="-120"/>
              </a:rPr>
              <a:t>① 날씨로 제외</a:t>
            </a:r>
            <a:endParaRPr lang="en-US" sz="1500" dirty="0"/>
          </a:p>
        </p:txBody>
      </p:sp>
      <p:sp>
        <p:nvSpPr>
          <p:cNvPr id="10" name="Text 7"/>
          <p:cNvSpPr/>
          <p:nvPr/>
        </p:nvSpPr>
        <p:spPr>
          <a:xfrm>
            <a:off x="4928910" y="3216970"/>
            <a:ext cx="646390" cy="452041"/>
          </a:xfrm>
          <a:prstGeom prst="rect">
            <a:avLst/>
          </a:prstGeom>
          <a:noFill/>
          <a:ln/>
        </p:spPr>
        <p:txBody>
          <a:bodyPr wrap="square" lIns="0" tIns="0" rIns="0" bIns="0" rtlCol="0" anchor="t">
            <a:normAutofit/>
          </a:bodyPr>
          <a:lstStyle/>
          <a:p>
            <a:pPr algn="r" indent="0" marL="0">
              <a:lnSpc>
                <a:spcPts val="3360"/>
              </a:lnSpc>
              <a:buNone/>
            </a:pPr>
            <a:r>
              <a:rPr lang="en-US" sz="2400" b="1" dirty="0">
                <a:solidFill>
                  <a:srgbClr val="2B231E"/>
                </a:solidFill>
                <a:latin typeface="Noto Serif KR" pitchFamily="18" charset="0"/>
                <a:ea typeface="Noto Serif KR" pitchFamily="18" charset="-122"/>
                <a:cs typeface="Noto Serif KR" pitchFamily="18" charset="-120"/>
              </a:rPr>
              <a:t>444</a:t>
            </a:r>
            <a:endParaRPr lang="en-US" sz="2400" dirty="0"/>
          </a:p>
        </p:txBody>
      </p:sp>
      <p:pic>
        <p:nvPicPr>
          <p:cNvPr id="11" name="Image 1" descr="arrow-down">    </p:cNvPr>
          <p:cNvPicPr>
            <a:picLocks noChangeAspect="1"/>
          </p:cNvPicPr>
          <p:nvPr/>
        </p:nvPicPr>
        <p:blipFill>
          <a:blip r:embed="rId2"/>
          <a:srcRect l="0" r="0" t="0" b="0"/>
          <a:stretch/>
        </p:blipFill>
        <p:spPr>
          <a:xfrm>
            <a:off x="3543300" y="3897610"/>
            <a:ext cx="254000" cy="203200"/>
          </a:xfrm>
          <a:prstGeom prst="rect">
            <a:avLst/>
          </a:prstGeom>
        </p:spPr>
      </p:pic>
      <p:sp>
        <p:nvSpPr>
          <p:cNvPr id="12" name="Shape 8"/>
          <p:cNvSpPr/>
          <p:nvPr/>
        </p:nvSpPr>
        <p:spPr>
          <a:xfrm>
            <a:off x="2209800" y="4189710"/>
            <a:ext cx="2921000" cy="756841"/>
          </a:xfrm>
          <a:prstGeom prst="roundRect">
            <a:avLst>
              <a:gd name="adj" fmla="val 13424"/>
            </a:avLst>
          </a:prstGeom>
          <a:solidFill>
            <a:srgbClr val="2B231E"/>
          </a:solidFill>
          <a:ln/>
        </p:spPr>
      </p:sp>
      <p:sp>
        <p:nvSpPr>
          <p:cNvPr id="13" name="Text 9"/>
          <p:cNvSpPr/>
          <p:nvPr/>
        </p:nvSpPr>
        <p:spPr>
          <a:xfrm>
            <a:off x="2463800" y="4434780"/>
            <a:ext cx="135612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6F1EA"/>
                </a:solidFill>
                <a:latin typeface="IBM Plex Sans KR" pitchFamily="34" charset="0"/>
                <a:ea typeface="IBM Plex Sans KR" pitchFamily="34" charset="-122"/>
                <a:cs typeface="IBM Plex Sans KR" pitchFamily="34" charset="-120"/>
              </a:rPr>
              <a:t>② 나에게 맞춤</a:t>
            </a:r>
            <a:endParaRPr lang="en-US" sz="1500" dirty="0"/>
          </a:p>
        </p:txBody>
      </p:sp>
      <p:sp>
        <p:nvSpPr>
          <p:cNvPr id="14" name="Text 10"/>
          <p:cNvSpPr/>
          <p:nvPr/>
        </p:nvSpPr>
        <p:spPr>
          <a:xfrm>
            <a:off x="4445913" y="4354810"/>
            <a:ext cx="430887" cy="452041"/>
          </a:xfrm>
          <a:prstGeom prst="rect">
            <a:avLst/>
          </a:prstGeom>
          <a:noFill/>
          <a:ln/>
        </p:spPr>
        <p:txBody>
          <a:bodyPr wrap="square" lIns="0" tIns="0" rIns="0" bIns="0" rtlCol="0" anchor="t">
            <a:normAutofit/>
          </a:bodyPr>
          <a:lstStyle/>
          <a:p>
            <a:pPr algn="r" indent="0" marL="0">
              <a:lnSpc>
                <a:spcPts val="3360"/>
              </a:lnSpc>
              <a:buNone/>
            </a:pPr>
            <a:r>
              <a:rPr lang="en-US" sz="2400" b="1" dirty="0">
                <a:solidFill>
                  <a:srgbClr val="D9B48F"/>
                </a:solidFill>
                <a:latin typeface="Noto Serif KR" pitchFamily="18" charset="0"/>
                <a:ea typeface="Noto Serif KR" pitchFamily="18" charset="-122"/>
                <a:cs typeface="Noto Serif KR" pitchFamily="18" charset="-120"/>
              </a:rPr>
              <a:t>15</a:t>
            </a:r>
            <a:endParaRPr lang="en-US" sz="2400" dirty="0"/>
          </a:p>
        </p:txBody>
      </p:sp>
      <p:sp>
        <p:nvSpPr>
          <p:cNvPr id="15" name="Text 11"/>
          <p:cNvSpPr/>
          <p:nvPr/>
        </p:nvSpPr>
        <p:spPr>
          <a:xfrm>
            <a:off x="6883400" y="1894780"/>
            <a:ext cx="4630674"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C6440"/>
                </a:solidFill>
                <a:latin typeface="IBM Plex Sans KR" pitchFamily="34" charset="0"/>
                <a:ea typeface="IBM Plex Sans KR" pitchFamily="34" charset="-122"/>
                <a:cs typeface="IBM Plex Sans KR" pitchFamily="34" charset="-120"/>
              </a:rPr>
              <a:t>① 날씨 필터</a:t>
            </a:r>
            <a:endParaRPr lang="en-US" sz="1300" dirty="0"/>
          </a:p>
        </p:txBody>
      </p:sp>
      <p:sp>
        <p:nvSpPr>
          <p:cNvPr id="16" name="Text 12"/>
          <p:cNvSpPr/>
          <p:nvPr/>
        </p:nvSpPr>
        <p:spPr>
          <a:xfrm>
            <a:off x="6883400" y="2176661"/>
            <a:ext cx="4630674"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2B231E"/>
                </a:solidFill>
                <a:latin typeface="IBM Plex Sans KR" pitchFamily="34" charset="0"/>
                <a:ea typeface="IBM Plex Sans KR" pitchFamily="34" charset="-122"/>
                <a:cs typeface="IBM Plex Sans KR" pitchFamily="34" charset="-120"/>
              </a:rPr>
              <a:t>체감온도 범위 밖 · 비 2mm 이상 · 24℃ 이상 아우터</a:t>
            </a:r>
            <a:endParaRPr lang="en-US" sz="1300" dirty="0"/>
          </a:p>
        </p:txBody>
      </p:sp>
      <p:sp>
        <p:nvSpPr>
          <p:cNvPr id="17" name="Text 13"/>
          <p:cNvSpPr/>
          <p:nvPr/>
        </p:nvSpPr>
        <p:spPr>
          <a:xfrm>
            <a:off x="6883400" y="2466777"/>
            <a:ext cx="4630674"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5B4E44"/>
                </a:solidFill>
                <a:latin typeface="IBM Plex Sans KR" pitchFamily="34" charset="0"/>
                <a:ea typeface="IBM Plex Sans KR" pitchFamily="34" charset="-122"/>
                <a:cs typeface="IBM Plex Sans KR" pitchFamily="34" charset="-120"/>
              </a:rPr>
              <a:t>추운 날 반팔 추천 차단</a:t>
            </a:r>
            <a:endParaRPr lang="en-US" sz="1100" dirty="0"/>
          </a:p>
        </p:txBody>
      </p:sp>
      <p:sp>
        <p:nvSpPr>
          <p:cNvPr id="18" name="Text 14"/>
          <p:cNvSpPr/>
          <p:nvPr/>
        </p:nvSpPr>
        <p:spPr>
          <a:xfrm>
            <a:off x="6883400" y="2814737"/>
            <a:ext cx="4630674"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C6440"/>
                </a:solidFill>
                <a:latin typeface="IBM Plex Sans KR" pitchFamily="34" charset="0"/>
                <a:ea typeface="IBM Plex Sans KR" pitchFamily="34" charset="-122"/>
                <a:cs typeface="IBM Plex Sans KR" pitchFamily="34" charset="-120"/>
              </a:rPr>
              <a:t>② 맞춤 점수 (최대점)</a:t>
            </a:r>
            <a:endParaRPr lang="en-US" sz="1300" dirty="0"/>
          </a:p>
        </p:txBody>
      </p:sp>
      <p:sp>
        <p:nvSpPr>
          <p:cNvPr id="19" name="Text 15"/>
          <p:cNvSpPr/>
          <p:nvPr/>
        </p:nvSpPr>
        <p:spPr>
          <a:xfrm>
            <a:off x="6883400" y="3109317"/>
            <a:ext cx="812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231E"/>
                </a:solidFill>
                <a:latin typeface="IBM Plex Sans KR" pitchFamily="34" charset="0"/>
                <a:ea typeface="IBM Plex Sans KR" pitchFamily="34" charset="-122"/>
                <a:cs typeface="IBM Plex Sans KR" pitchFamily="34" charset="-120"/>
              </a:rPr>
              <a:t>날씨</a:t>
            </a:r>
            <a:endParaRPr lang="en-US" sz="1200" dirty="0"/>
          </a:p>
        </p:txBody>
      </p:sp>
      <p:sp>
        <p:nvSpPr>
          <p:cNvPr id="20" name="Shape 16"/>
          <p:cNvSpPr/>
          <p:nvPr/>
        </p:nvSpPr>
        <p:spPr>
          <a:xfrm>
            <a:off x="7747000" y="3127077"/>
            <a:ext cx="1905000" cy="177800"/>
          </a:xfrm>
          <a:prstGeom prst="roundRect">
            <a:avLst>
              <a:gd name="adj" fmla="val 21429"/>
            </a:avLst>
          </a:prstGeom>
          <a:solidFill>
            <a:srgbClr val="A8714B"/>
          </a:solidFill>
          <a:ln/>
        </p:spPr>
      </p:sp>
      <p:sp>
        <p:nvSpPr>
          <p:cNvPr id="21" name="Text 17"/>
          <p:cNvSpPr/>
          <p:nvPr/>
        </p:nvSpPr>
        <p:spPr>
          <a:xfrm>
            <a:off x="9753600" y="3109317"/>
            <a:ext cx="2337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E44"/>
                </a:solidFill>
                <a:latin typeface="IBM Plex Sans KR" pitchFamily="34" charset="0"/>
                <a:ea typeface="IBM Plex Sans KR" pitchFamily="34" charset="-122"/>
                <a:cs typeface="IBM Plex Sans KR" pitchFamily="34" charset="-120"/>
              </a:rPr>
              <a:t>50</a:t>
            </a:r>
            <a:endParaRPr lang="en-US" sz="1200" dirty="0"/>
          </a:p>
        </p:txBody>
      </p:sp>
      <p:sp>
        <p:nvSpPr>
          <p:cNvPr id="22" name="Text 18"/>
          <p:cNvSpPr/>
          <p:nvPr/>
        </p:nvSpPr>
        <p:spPr>
          <a:xfrm>
            <a:off x="6883400" y="3386138"/>
            <a:ext cx="812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231E"/>
                </a:solidFill>
                <a:latin typeface="IBM Plex Sans KR" pitchFamily="34" charset="0"/>
                <a:ea typeface="IBM Plex Sans KR" pitchFamily="34" charset="-122"/>
                <a:cs typeface="IBM Plex Sans KR" pitchFamily="34" charset="-120"/>
              </a:rPr>
              <a:t>피부톤</a:t>
            </a:r>
            <a:endParaRPr lang="en-US" sz="1200" dirty="0"/>
          </a:p>
        </p:txBody>
      </p:sp>
      <p:sp>
        <p:nvSpPr>
          <p:cNvPr id="23" name="Shape 19"/>
          <p:cNvSpPr/>
          <p:nvPr/>
        </p:nvSpPr>
        <p:spPr>
          <a:xfrm>
            <a:off x="7747000" y="3403898"/>
            <a:ext cx="762000" cy="177800"/>
          </a:xfrm>
          <a:prstGeom prst="roundRect">
            <a:avLst>
              <a:gd name="adj" fmla="val 21429"/>
            </a:avLst>
          </a:prstGeom>
          <a:solidFill>
            <a:srgbClr val="A8714B"/>
          </a:solidFill>
          <a:ln/>
        </p:spPr>
      </p:sp>
      <p:sp>
        <p:nvSpPr>
          <p:cNvPr id="24" name="Text 20"/>
          <p:cNvSpPr/>
          <p:nvPr/>
        </p:nvSpPr>
        <p:spPr>
          <a:xfrm>
            <a:off x="8610600" y="3386138"/>
            <a:ext cx="2337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E44"/>
                </a:solidFill>
                <a:latin typeface="IBM Plex Sans KR" pitchFamily="34" charset="0"/>
                <a:ea typeface="IBM Plex Sans KR" pitchFamily="34" charset="-122"/>
                <a:cs typeface="IBM Plex Sans KR" pitchFamily="34" charset="-120"/>
              </a:rPr>
              <a:t>20</a:t>
            </a:r>
            <a:endParaRPr lang="en-US" sz="1200" dirty="0"/>
          </a:p>
        </p:txBody>
      </p:sp>
      <p:sp>
        <p:nvSpPr>
          <p:cNvPr id="25" name="Text 21"/>
          <p:cNvSpPr/>
          <p:nvPr/>
        </p:nvSpPr>
        <p:spPr>
          <a:xfrm>
            <a:off x="6883400" y="3662958"/>
            <a:ext cx="812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231E"/>
                </a:solidFill>
                <a:latin typeface="IBM Plex Sans KR" pitchFamily="34" charset="0"/>
                <a:ea typeface="IBM Plex Sans KR" pitchFamily="34" charset="-122"/>
                <a:cs typeface="IBM Plex Sans KR" pitchFamily="34" charset="-120"/>
              </a:rPr>
              <a:t>상황</a:t>
            </a:r>
            <a:endParaRPr lang="en-US" sz="1200" dirty="0"/>
          </a:p>
        </p:txBody>
      </p:sp>
      <p:sp>
        <p:nvSpPr>
          <p:cNvPr id="26" name="Shape 22"/>
          <p:cNvSpPr/>
          <p:nvPr/>
        </p:nvSpPr>
        <p:spPr>
          <a:xfrm>
            <a:off x="7747000" y="3680718"/>
            <a:ext cx="685800" cy="177800"/>
          </a:xfrm>
          <a:prstGeom prst="roundRect">
            <a:avLst>
              <a:gd name="adj" fmla="val 21429"/>
            </a:avLst>
          </a:prstGeom>
          <a:solidFill>
            <a:srgbClr val="A8714B"/>
          </a:solidFill>
          <a:ln/>
        </p:spPr>
      </p:sp>
      <p:sp>
        <p:nvSpPr>
          <p:cNvPr id="27" name="Text 23"/>
          <p:cNvSpPr/>
          <p:nvPr/>
        </p:nvSpPr>
        <p:spPr>
          <a:xfrm>
            <a:off x="8534400" y="3662958"/>
            <a:ext cx="2337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E44"/>
                </a:solidFill>
                <a:latin typeface="IBM Plex Sans KR" pitchFamily="34" charset="0"/>
                <a:ea typeface="IBM Plex Sans KR" pitchFamily="34" charset="-122"/>
                <a:cs typeface="IBM Plex Sans KR" pitchFamily="34" charset="-120"/>
              </a:rPr>
              <a:t>18</a:t>
            </a:r>
            <a:endParaRPr lang="en-US" sz="1200" dirty="0"/>
          </a:p>
        </p:txBody>
      </p:sp>
      <p:sp>
        <p:nvSpPr>
          <p:cNvPr id="28" name="Text 24"/>
          <p:cNvSpPr/>
          <p:nvPr/>
        </p:nvSpPr>
        <p:spPr>
          <a:xfrm>
            <a:off x="6883400" y="3939778"/>
            <a:ext cx="812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231E"/>
                </a:solidFill>
                <a:latin typeface="IBM Plex Sans KR" pitchFamily="34" charset="0"/>
                <a:ea typeface="IBM Plex Sans KR" pitchFamily="34" charset="-122"/>
                <a:cs typeface="IBM Plex Sans KR" pitchFamily="34" charset="-120"/>
              </a:rPr>
              <a:t>체형</a:t>
            </a:r>
            <a:endParaRPr lang="en-US" sz="1200" dirty="0"/>
          </a:p>
        </p:txBody>
      </p:sp>
      <p:sp>
        <p:nvSpPr>
          <p:cNvPr id="29" name="Shape 25"/>
          <p:cNvSpPr/>
          <p:nvPr/>
        </p:nvSpPr>
        <p:spPr>
          <a:xfrm>
            <a:off x="7747000" y="3957538"/>
            <a:ext cx="571500" cy="177800"/>
          </a:xfrm>
          <a:prstGeom prst="roundRect">
            <a:avLst>
              <a:gd name="adj" fmla="val 21429"/>
            </a:avLst>
          </a:prstGeom>
          <a:solidFill>
            <a:srgbClr val="A8714B"/>
          </a:solidFill>
          <a:ln/>
        </p:spPr>
      </p:sp>
      <p:sp>
        <p:nvSpPr>
          <p:cNvPr id="30" name="Text 26"/>
          <p:cNvSpPr/>
          <p:nvPr/>
        </p:nvSpPr>
        <p:spPr>
          <a:xfrm>
            <a:off x="8420100" y="3939778"/>
            <a:ext cx="2337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E44"/>
                </a:solidFill>
                <a:latin typeface="IBM Plex Sans KR" pitchFamily="34" charset="0"/>
                <a:ea typeface="IBM Plex Sans KR" pitchFamily="34" charset="-122"/>
                <a:cs typeface="IBM Plex Sans KR" pitchFamily="34" charset="-120"/>
              </a:rPr>
              <a:t>15</a:t>
            </a:r>
            <a:endParaRPr lang="en-US" sz="1200" dirty="0"/>
          </a:p>
        </p:txBody>
      </p:sp>
      <p:sp>
        <p:nvSpPr>
          <p:cNvPr id="31" name="Text 27"/>
          <p:cNvSpPr/>
          <p:nvPr/>
        </p:nvSpPr>
        <p:spPr>
          <a:xfrm>
            <a:off x="6883400" y="4216598"/>
            <a:ext cx="812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231E"/>
                </a:solidFill>
                <a:latin typeface="IBM Plex Sans KR" pitchFamily="34" charset="0"/>
                <a:ea typeface="IBM Plex Sans KR" pitchFamily="34" charset="-122"/>
                <a:cs typeface="IBM Plex Sans KR" pitchFamily="34" charset="-120"/>
              </a:rPr>
              <a:t>실루엣</a:t>
            </a:r>
            <a:endParaRPr lang="en-US" sz="1200" dirty="0"/>
          </a:p>
        </p:txBody>
      </p:sp>
      <p:sp>
        <p:nvSpPr>
          <p:cNvPr id="32" name="Shape 28"/>
          <p:cNvSpPr/>
          <p:nvPr/>
        </p:nvSpPr>
        <p:spPr>
          <a:xfrm>
            <a:off x="7747000" y="4234359"/>
            <a:ext cx="381000" cy="177800"/>
          </a:xfrm>
          <a:prstGeom prst="roundRect">
            <a:avLst>
              <a:gd name="adj" fmla="val 21429"/>
            </a:avLst>
          </a:prstGeom>
          <a:solidFill>
            <a:srgbClr val="A8714B"/>
          </a:solidFill>
          <a:ln/>
        </p:spPr>
      </p:sp>
      <p:sp>
        <p:nvSpPr>
          <p:cNvPr id="33" name="Text 29"/>
          <p:cNvSpPr/>
          <p:nvPr/>
        </p:nvSpPr>
        <p:spPr>
          <a:xfrm>
            <a:off x="8229600" y="4216598"/>
            <a:ext cx="2337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E44"/>
                </a:solidFill>
                <a:latin typeface="IBM Plex Sans KR" pitchFamily="34" charset="0"/>
                <a:ea typeface="IBM Plex Sans KR" pitchFamily="34" charset="-122"/>
                <a:cs typeface="IBM Plex Sans KR" pitchFamily="34" charset="-120"/>
              </a:rPr>
              <a:t>10</a:t>
            </a:r>
            <a:endParaRPr lang="en-US" sz="1200" dirty="0"/>
          </a:p>
        </p:txBody>
      </p:sp>
      <p:sp>
        <p:nvSpPr>
          <p:cNvPr id="34" name="Text 30"/>
          <p:cNvSpPr/>
          <p:nvPr/>
        </p:nvSpPr>
        <p:spPr>
          <a:xfrm>
            <a:off x="6883400" y="4493419"/>
            <a:ext cx="812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231E"/>
                </a:solidFill>
                <a:latin typeface="IBM Plex Sans KR" pitchFamily="34" charset="0"/>
                <a:ea typeface="IBM Plex Sans KR" pitchFamily="34" charset="-122"/>
                <a:cs typeface="IBM Plex Sans KR" pitchFamily="34" charset="-120"/>
              </a:rPr>
              <a:t>취향</a:t>
            </a:r>
            <a:endParaRPr lang="en-US" sz="1200" dirty="0"/>
          </a:p>
        </p:txBody>
      </p:sp>
      <p:sp>
        <p:nvSpPr>
          <p:cNvPr id="35" name="Shape 31"/>
          <p:cNvSpPr/>
          <p:nvPr/>
        </p:nvSpPr>
        <p:spPr>
          <a:xfrm>
            <a:off x="7747000" y="4511179"/>
            <a:ext cx="152400" cy="177800"/>
          </a:xfrm>
          <a:prstGeom prst="roundRect">
            <a:avLst>
              <a:gd name="adj" fmla="val 25000"/>
            </a:avLst>
          </a:prstGeom>
          <a:solidFill>
            <a:srgbClr val="A8714B"/>
          </a:solidFill>
          <a:ln/>
        </p:spPr>
      </p:sp>
      <p:sp>
        <p:nvSpPr>
          <p:cNvPr id="36" name="Text 32"/>
          <p:cNvSpPr/>
          <p:nvPr/>
        </p:nvSpPr>
        <p:spPr>
          <a:xfrm>
            <a:off x="8001000" y="4493419"/>
            <a:ext cx="1422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E44"/>
                </a:solidFill>
                <a:latin typeface="IBM Plex Sans KR" pitchFamily="34" charset="0"/>
                <a:ea typeface="IBM Plex Sans KR" pitchFamily="34" charset="-122"/>
                <a:cs typeface="IBM Plex Sans KR" pitchFamily="34" charset="-120"/>
              </a:rPr>
              <a:t>4</a:t>
            </a:r>
            <a:endParaRPr lang="en-US" sz="1200" dirty="0"/>
          </a:p>
        </p:txBody>
      </p:sp>
      <p:sp>
        <p:nvSpPr>
          <p:cNvPr id="37" name="Text 33"/>
          <p:cNvSpPr/>
          <p:nvPr/>
        </p:nvSpPr>
        <p:spPr>
          <a:xfrm>
            <a:off x="6883400" y="4770239"/>
            <a:ext cx="4630674"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5B4E44"/>
                </a:solidFill>
                <a:latin typeface="IBM Plex Sans KR" pitchFamily="34" charset="0"/>
                <a:ea typeface="IBM Plex Sans KR" pitchFamily="34" charset="-122"/>
                <a:cs typeface="IBM Plex Sans KR" pitchFamily="34" charset="-120"/>
              </a:rPr>
              <a:t>피부톤: 맞는 톤 20 · 공용 12 · 다른 톤 0 → 종류별 TOP 3</a:t>
            </a:r>
            <a:endParaRPr lang="en-US" sz="1100" dirty="0"/>
          </a:p>
        </p:txBody>
      </p:sp>
      <p:sp>
        <p:nvSpPr>
          <p:cNvPr id="38" name="Text 34"/>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B6E"/>
                </a:solidFill>
                <a:latin typeface="IBM Plex Sans KR" pitchFamily="34" charset="0"/>
                <a:ea typeface="IBM Plex Sans KR" pitchFamily="34" charset="-122"/>
                <a:cs typeface="IBM Plex Sans KR" pitchFamily="34" charset="-120"/>
              </a:rPr>
              <a:t>체감 5℃ · 웜·웨이브 사용자로 직접 계산</a:t>
            </a:r>
            <a:endParaRPr lang="en-US" sz="1200" dirty="0"/>
          </a:p>
        </p:txBody>
      </p:sp>
      <p:sp>
        <p:nvSpPr>
          <p:cNvPr id="39" name="Text 3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7B6E"/>
                </a:solidFill>
                <a:latin typeface="IBM Plex Sans KR" pitchFamily="34" charset="0"/>
                <a:ea typeface="IBM Plex Sans KR" pitchFamily="34" charset="-122"/>
                <a:cs typeface="IBM Plex Sans KR"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C6440"/>
                </a:solidFill>
                <a:latin typeface="IBM Plex Sans KR" pitchFamily="34" charset="0"/>
                <a:ea typeface="IBM Plex Sans KR" pitchFamily="34" charset="-122"/>
                <a:cs typeface="IBM Plex Sans KR" pitchFamily="34" charset="-120"/>
              </a:rPr>
              <a:t>AI 진단</a:t>
            </a:r>
            <a:endParaRPr lang="en-US" sz="1200" dirty="0"/>
          </a:p>
        </p:txBody>
      </p:sp>
      <p:sp>
        <p:nvSpPr>
          <p:cNvPr id="3" name="Text 1"/>
          <p:cNvSpPr/>
          <p:nvPr/>
        </p:nvSpPr>
        <p:spPr>
          <a:xfrm>
            <a:off x="812800" y="1102320"/>
            <a:ext cx="10883392" cy="513060"/>
          </a:xfrm>
          <a:prstGeom prst="rect">
            <a:avLst/>
          </a:prstGeom>
          <a:noFill/>
          <a:ln/>
        </p:spPr>
        <p:txBody>
          <a:bodyPr wrap="square" lIns="0" tIns="0" rIns="0" bIns="0" rtlCol="0" anchor="t">
            <a:normAutofit/>
          </a:bodyPr>
          <a:lstStyle/>
          <a:p>
            <a:pPr algn="l" indent="0" marL="0">
              <a:lnSpc>
                <a:spcPts val="3840"/>
              </a:lnSpc>
              <a:buNone/>
            </a:pPr>
            <a:r>
              <a:rPr lang="en-US" sz="3200" b="1" dirty="0">
                <a:solidFill>
                  <a:srgbClr val="2B231E"/>
                </a:solidFill>
                <a:latin typeface="Noto Serif KR" pitchFamily="18" charset="0"/>
                <a:ea typeface="Noto Serif KR" pitchFamily="18" charset="-122"/>
                <a:cs typeface="Noto Serif KR" pitchFamily="18" charset="-120"/>
              </a:rPr>
              <a:t>두 가지 AI 진단을 직접 구현했습니다</a:t>
            </a:r>
            <a:endParaRPr lang="en-US" sz="3200" dirty="0"/>
          </a:p>
        </p:txBody>
      </p:sp>
      <p:sp>
        <p:nvSpPr>
          <p:cNvPr id="4" name="Shape 2"/>
          <p:cNvSpPr/>
          <p:nvPr/>
        </p:nvSpPr>
        <p:spPr>
          <a:xfrm>
            <a:off x="819150" y="1901130"/>
            <a:ext cx="5168900" cy="1925141"/>
          </a:xfrm>
          <a:prstGeom prst="roundRect">
            <a:avLst>
              <a:gd name="adj" fmla="val 7586"/>
            </a:avLst>
          </a:prstGeom>
          <a:solidFill>
            <a:srgbClr val="FFFCF7"/>
          </a:solidFill>
          <a:ln w="12700">
            <a:solidFill>
              <a:srgbClr val="E3D8CA"/>
            </a:solidFill>
            <a:prstDash val="solid"/>
          </a:ln>
        </p:spPr>
      </p:sp>
      <p:sp>
        <p:nvSpPr>
          <p:cNvPr id="5" name="Text 3"/>
          <p:cNvSpPr/>
          <p:nvPr/>
        </p:nvSpPr>
        <p:spPr>
          <a:xfrm>
            <a:off x="1079500" y="2136080"/>
            <a:ext cx="478764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C6440"/>
                </a:solidFill>
                <a:latin typeface="IBM Plex Sans KR" pitchFamily="34" charset="0"/>
                <a:ea typeface="IBM Plex Sans KR" pitchFamily="34" charset="-122"/>
                <a:cs typeface="IBM Plex Sans KR" pitchFamily="34" charset="-120"/>
              </a:rPr>
              <a:t>퍼스널컬러</a:t>
            </a:r>
            <a:endParaRPr lang="en-US" sz="1300" dirty="0"/>
          </a:p>
        </p:txBody>
      </p:sp>
      <p:sp>
        <p:nvSpPr>
          <p:cNvPr id="6" name="Text 4"/>
          <p:cNvSpPr/>
          <p:nvPr/>
        </p:nvSpPr>
        <p:spPr>
          <a:xfrm>
            <a:off x="1079500" y="2494161"/>
            <a:ext cx="571202" cy="375841"/>
          </a:xfrm>
          <a:prstGeom prst="roundRect">
            <a:avLst>
              <a:gd name="adj" fmla="val 20275"/>
            </a:avLst>
          </a:prstGeom>
          <a:solidFill>
            <a:srgbClr val="EDE4D8"/>
          </a:solidFill>
          <a:ln/>
        </p:spPr>
        <p:txBody>
          <a:bodyPr wrap="none" lIns="0" tIns="0" rIns="0" bIns="0" rtlCol="0" anchor="ctr">
            <a:normAutofit/>
          </a:bodyPr>
          <a:lstStyle/>
          <a:p>
            <a:pPr algn="ctr" indent="0" marL="0">
              <a:lnSpc>
                <a:spcPts val="1960"/>
              </a:lnSpc>
              <a:buNone/>
            </a:pPr>
            <a:r>
              <a:rPr lang="en-US" sz="1400" b="1" dirty="0">
                <a:solidFill>
                  <a:srgbClr val="2B231E"/>
                </a:solidFill>
                <a:latin typeface="IBM Plex Sans KR" pitchFamily="34" charset="0"/>
                <a:ea typeface="IBM Plex Sans KR" pitchFamily="34" charset="-122"/>
                <a:cs typeface="IBM Plex Sans KR" pitchFamily="34" charset="-120"/>
              </a:rPr>
              <a:t>셀카</a:t>
            </a:r>
            <a:endParaRPr lang="en-US" sz="1400" dirty="0"/>
          </a:p>
        </p:txBody>
      </p:sp>
      <p:pic>
        <p:nvPicPr>
          <p:cNvPr id="7" name="Image 0" descr="arrow-right">    </p:cNvPr>
          <p:cNvPicPr>
            <a:picLocks noChangeAspect="1"/>
          </p:cNvPicPr>
          <p:nvPr/>
        </p:nvPicPr>
        <p:blipFill>
          <a:blip r:embed="rId1"/>
          <a:srcRect l="0" r="0" t="0" b="0"/>
          <a:stretch/>
        </p:blipFill>
        <p:spPr>
          <a:xfrm>
            <a:off x="1752302" y="2612231"/>
            <a:ext cx="254000" cy="139700"/>
          </a:xfrm>
          <a:prstGeom prst="rect">
            <a:avLst/>
          </a:prstGeom>
        </p:spPr>
      </p:pic>
      <p:sp>
        <p:nvSpPr>
          <p:cNvPr id="8" name="Text 5"/>
          <p:cNvSpPr/>
          <p:nvPr/>
        </p:nvSpPr>
        <p:spPr>
          <a:xfrm>
            <a:off x="2107902" y="2494161"/>
            <a:ext cx="1089025" cy="375841"/>
          </a:xfrm>
          <a:prstGeom prst="roundRect">
            <a:avLst>
              <a:gd name="adj" fmla="val 20275"/>
            </a:avLst>
          </a:prstGeom>
          <a:solidFill>
            <a:srgbClr val="EDE4D8"/>
          </a:solidFill>
          <a:ln/>
        </p:spPr>
        <p:txBody>
          <a:bodyPr wrap="none" lIns="0" tIns="0" rIns="0" bIns="0" rtlCol="0" anchor="ctr">
            <a:normAutofit/>
          </a:bodyPr>
          <a:lstStyle/>
          <a:p>
            <a:pPr algn="ctr" indent="0" marL="0">
              <a:lnSpc>
                <a:spcPts val="1960"/>
              </a:lnSpc>
              <a:buNone/>
            </a:pPr>
            <a:r>
              <a:rPr lang="en-US" sz="1400" b="1" dirty="0">
                <a:solidFill>
                  <a:srgbClr val="2B231E"/>
                </a:solidFill>
                <a:latin typeface="IBM Plex Sans KR" pitchFamily="34" charset="0"/>
                <a:ea typeface="IBM Plex Sans KR" pitchFamily="34" charset="-122"/>
                <a:cs typeface="IBM Plex Sans KR" pitchFamily="34" charset="-120"/>
              </a:rPr>
              <a:t>피부색 분석</a:t>
            </a:r>
            <a:endParaRPr lang="en-US" sz="1400" dirty="0"/>
          </a:p>
        </p:txBody>
      </p:sp>
      <p:pic>
        <p:nvPicPr>
          <p:cNvPr id="9" name="Image 1" descr="arrow-right">    </p:cNvPr>
          <p:cNvPicPr>
            <a:picLocks noChangeAspect="1"/>
          </p:cNvPicPr>
          <p:nvPr/>
        </p:nvPicPr>
        <p:blipFill>
          <a:blip r:embed="rId2"/>
          <a:srcRect l="0" r="0" t="0" b="0"/>
          <a:stretch/>
        </p:blipFill>
        <p:spPr>
          <a:xfrm>
            <a:off x="3298527" y="2612231"/>
            <a:ext cx="254000" cy="139700"/>
          </a:xfrm>
          <a:prstGeom prst="rect">
            <a:avLst/>
          </a:prstGeom>
        </p:spPr>
      </p:pic>
      <p:sp>
        <p:nvSpPr>
          <p:cNvPr id="10" name="Text 6"/>
          <p:cNvSpPr/>
          <p:nvPr/>
        </p:nvSpPr>
        <p:spPr>
          <a:xfrm>
            <a:off x="3654127" y="2494161"/>
            <a:ext cx="841177" cy="375841"/>
          </a:xfrm>
          <a:prstGeom prst="roundRect">
            <a:avLst>
              <a:gd name="adj" fmla="val 20275"/>
            </a:avLst>
          </a:prstGeom>
          <a:solidFill>
            <a:srgbClr val="2B231E"/>
          </a:solidFill>
          <a:ln/>
        </p:spPr>
        <p:txBody>
          <a:bodyPr wrap="none" lIns="0" tIns="0" rIns="0" bIns="0" rtlCol="0" anchor="ctr">
            <a:normAutofit/>
          </a:bodyPr>
          <a:lstStyle/>
          <a:p>
            <a:pPr algn="ctr" indent="0" marL="0">
              <a:lnSpc>
                <a:spcPts val="1960"/>
              </a:lnSpc>
              <a:buNone/>
            </a:pPr>
            <a:r>
              <a:rPr lang="en-US" sz="1400" b="1" dirty="0">
                <a:solidFill>
                  <a:srgbClr val="F6F1EA"/>
                </a:solidFill>
                <a:latin typeface="IBM Plex Sans KR" pitchFamily="34" charset="0"/>
                <a:ea typeface="IBM Plex Sans KR" pitchFamily="34" charset="-122"/>
                <a:cs typeface="IBM Plex Sans KR" pitchFamily="34" charset="-120"/>
              </a:rPr>
              <a:t>웜 89%</a:t>
            </a:r>
            <a:endParaRPr lang="en-US" sz="1400" dirty="0"/>
          </a:p>
        </p:txBody>
      </p:sp>
      <p:sp>
        <p:nvSpPr>
          <p:cNvPr id="11" name="Text 7"/>
          <p:cNvSpPr/>
          <p:nvPr/>
        </p:nvSpPr>
        <p:spPr>
          <a:xfrm>
            <a:off x="1079500" y="2997002"/>
            <a:ext cx="1683841" cy="271760"/>
          </a:xfrm>
          <a:prstGeom prst="roundRect">
            <a:avLst>
              <a:gd name="adj" fmla="val 50000"/>
            </a:avLst>
          </a:prstGeom>
          <a:solidFill>
            <a:srgbClr val="EDE4D8"/>
          </a:solidFill>
          <a:ln/>
        </p:spPr>
        <p:txBody>
          <a:bodyPr wrap="none" lIns="0" tIns="0" rIns="0" bIns="0" rtlCol="0" anchor="ctr">
            <a:normAutofit/>
          </a:bodyPr>
          <a:lstStyle/>
          <a:p>
            <a:pPr algn="ctr" indent="0" marL="0">
              <a:lnSpc>
                <a:spcPts val="1540"/>
              </a:lnSpc>
              <a:buNone/>
            </a:pPr>
            <a:r>
              <a:rPr lang="en-US" sz="1100" b="1" dirty="0">
                <a:solidFill>
                  <a:srgbClr val="3A2F28"/>
                </a:solidFill>
                <a:latin typeface="IBM Plex Sans KR" pitchFamily="34" charset="0"/>
                <a:ea typeface="IBM Plex Sans KR" pitchFamily="34" charset="-122"/>
                <a:cs typeface="IBM Plex Sans KR" pitchFamily="34" charset="-120"/>
              </a:rPr>
              <a:t>MediaPipe 얼굴 랜드마크</a:t>
            </a:r>
            <a:endParaRPr lang="en-US" sz="1100" dirty="0"/>
          </a:p>
        </p:txBody>
      </p:sp>
      <p:sp>
        <p:nvSpPr>
          <p:cNvPr id="12" name="Text 8"/>
          <p:cNvSpPr/>
          <p:nvPr/>
        </p:nvSpPr>
        <p:spPr>
          <a:xfrm>
            <a:off x="2826841" y="2997002"/>
            <a:ext cx="1075333" cy="271760"/>
          </a:xfrm>
          <a:prstGeom prst="roundRect">
            <a:avLst>
              <a:gd name="adj" fmla="val 50000"/>
            </a:avLst>
          </a:prstGeom>
          <a:solidFill>
            <a:srgbClr val="EDE4D8"/>
          </a:solidFill>
          <a:ln/>
        </p:spPr>
        <p:txBody>
          <a:bodyPr wrap="none" lIns="0" tIns="0" rIns="0" bIns="0" rtlCol="0" anchor="ctr">
            <a:normAutofit/>
          </a:bodyPr>
          <a:lstStyle/>
          <a:p>
            <a:pPr algn="ctr" indent="0" marL="0">
              <a:lnSpc>
                <a:spcPts val="1540"/>
              </a:lnSpc>
              <a:buNone/>
            </a:pPr>
            <a:r>
              <a:rPr lang="en-US" sz="1100" b="1" dirty="0">
                <a:solidFill>
                  <a:srgbClr val="3A2F28"/>
                </a:solidFill>
                <a:latin typeface="IBM Plex Sans KR" pitchFamily="34" charset="0"/>
                <a:ea typeface="IBM Plex Sans KR" pitchFamily="34" charset="-122"/>
                <a:cs typeface="IBM Plex Sans KR" pitchFamily="34" charset="-120"/>
              </a:rPr>
              <a:t>피부색 특징 9개</a:t>
            </a:r>
            <a:endParaRPr lang="en-US" sz="1100" dirty="0"/>
          </a:p>
        </p:txBody>
      </p:sp>
      <p:sp>
        <p:nvSpPr>
          <p:cNvPr id="13" name="Text 9"/>
          <p:cNvSpPr/>
          <p:nvPr/>
        </p:nvSpPr>
        <p:spPr>
          <a:xfrm>
            <a:off x="3965674" y="2997002"/>
            <a:ext cx="958453" cy="271760"/>
          </a:xfrm>
          <a:prstGeom prst="roundRect">
            <a:avLst>
              <a:gd name="adj" fmla="val 50000"/>
            </a:avLst>
          </a:prstGeom>
          <a:solidFill>
            <a:srgbClr val="EDE4D8"/>
          </a:solidFill>
          <a:ln/>
        </p:spPr>
        <p:txBody>
          <a:bodyPr wrap="none" lIns="0" tIns="0" rIns="0" bIns="0" rtlCol="0" anchor="ctr">
            <a:normAutofit/>
          </a:bodyPr>
          <a:lstStyle/>
          <a:p>
            <a:pPr algn="ctr" indent="0" marL="0">
              <a:lnSpc>
                <a:spcPts val="1540"/>
              </a:lnSpc>
              <a:buNone/>
            </a:pPr>
            <a:r>
              <a:rPr lang="en-US" sz="1100" b="1" dirty="0">
                <a:solidFill>
                  <a:srgbClr val="3A2F28"/>
                </a:solidFill>
                <a:latin typeface="IBM Plex Sans KR" pitchFamily="34" charset="0"/>
                <a:ea typeface="IBM Plex Sans KR" pitchFamily="34" charset="-122"/>
                <a:cs typeface="IBM Plex Sans KR" pitchFamily="34" charset="-120"/>
              </a:rPr>
              <a:t>로지스틱 회귀</a:t>
            </a:r>
            <a:endParaRPr lang="en-US" sz="1100" dirty="0"/>
          </a:p>
        </p:txBody>
      </p:sp>
      <p:sp>
        <p:nvSpPr>
          <p:cNvPr id="14" name="Text 10"/>
          <p:cNvSpPr/>
          <p:nvPr/>
        </p:nvSpPr>
        <p:spPr>
          <a:xfrm>
            <a:off x="1079500" y="3395762"/>
            <a:ext cx="4787646"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5B4E44"/>
                </a:solidFill>
                <a:latin typeface="IBM Plex Sans KR" pitchFamily="34" charset="0"/>
                <a:ea typeface="IBM Plex Sans KR" pitchFamily="34" charset="-122"/>
                <a:cs typeface="IBM Plex Sans KR" pitchFamily="34" charset="-120"/>
              </a:rPr>
              <a:t>SVM 대비 과적합이 적고 설명 가능해 선택</a:t>
            </a:r>
            <a:endParaRPr lang="en-US" sz="1100" dirty="0"/>
          </a:p>
        </p:txBody>
      </p:sp>
      <p:sp>
        <p:nvSpPr>
          <p:cNvPr id="15" name="Shape 11"/>
          <p:cNvSpPr/>
          <p:nvPr/>
        </p:nvSpPr>
        <p:spPr>
          <a:xfrm>
            <a:off x="6203950" y="1901130"/>
            <a:ext cx="5168900" cy="1925141"/>
          </a:xfrm>
          <a:prstGeom prst="roundRect">
            <a:avLst>
              <a:gd name="adj" fmla="val 7586"/>
            </a:avLst>
          </a:prstGeom>
          <a:solidFill>
            <a:srgbClr val="FFFCF7"/>
          </a:solidFill>
          <a:ln w="12700">
            <a:solidFill>
              <a:srgbClr val="E3D8CA"/>
            </a:solidFill>
            <a:prstDash val="solid"/>
          </a:ln>
        </p:spPr>
      </p:sp>
      <p:sp>
        <p:nvSpPr>
          <p:cNvPr id="16" name="Text 12"/>
          <p:cNvSpPr/>
          <p:nvPr/>
        </p:nvSpPr>
        <p:spPr>
          <a:xfrm>
            <a:off x="6464300" y="2136080"/>
            <a:ext cx="478764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C6440"/>
                </a:solidFill>
                <a:latin typeface="IBM Plex Sans KR" pitchFamily="34" charset="0"/>
                <a:ea typeface="IBM Plex Sans KR" pitchFamily="34" charset="-122"/>
                <a:cs typeface="IBM Plex Sans KR" pitchFamily="34" charset="-120"/>
              </a:rPr>
              <a:t>골격</a:t>
            </a:r>
            <a:endParaRPr lang="en-US" sz="1300" dirty="0"/>
          </a:p>
        </p:txBody>
      </p:sp>
      <p:sp>
        <p:nvSpPr>
          <p:cNvPr id="17" name="Text 13"/>
          <p:cNvSpPr/>
          <p:nvPr/>
        </p:nvSpPr>
        <p:spPr>
          <a:xfrm>
            <a:off x="6464300" y="2494161"/>
            <a:ext cx="995164" cy="375841"/>
          </a:xfrm>
          <a:prstGeom prst="roundRect">
            <a:avLst>
              <a:gd name="adj" fmla="val 20275"/>
            </a:avLst>
          </a:prstGeom>
          <a:solidFill>
            <a:srgbClr val="EDE4D8"/>
          </a:solidFill>
          <a:ln/>
        </p:spPr>
        <p:txBody>
          <a:bodyPr wrap="none" lIns="0" tIns="0" rIns="0" bIns="0" rtlCol="0" anchor="ctr">
            <a:normAutofit/>
          </a:bodyPr>
          <a:lstStyle/>
          <a:p>
            <a:pPr algn="ctr" indent="0" marL="0">
              <a:lnSpc>
                <a:spcPts val="1960"/>
              </a:lnSpc>
              <a:buNone/>
            </a:pPr>
            <a:r>
              <a:rPr lang="en-US" sz="1400" b="1" dirty="0">
                <a:solidFill>
                  <a:srgbClr val="2B231E"/>
                </a:solidFill>
                <a:latin typeface="IBM Plex Sans KR" pitchFamily="34" charset="0"/>
                <a:ea typeface="IBM Plex Sans KR" pitchFamily="34" charset="-122"/>
                <a:cs typeface="IBM Plex Sans KR" pitchFamily="34" charset="-120"/>
              </a:rPr>
              <a:t>전신+설문</a:t>
            </a:r>
            <a:endParaRPr lang="en-US" sz="1400" dirty="0"/>
          </a:p>
        </p:txBody>
      </p:sp>
      <p:pic>
        <p:nvPicPr>
          <p:cNvPr id="18" name="Image 2" descr="arrow-right">    </p:cNvPr>
          <p:cNvPicPr>
            <a:picLocks noChangeAspect="1"/>
          </p:cNvPicPr>
          <p:nvPr/>
        </p:nvPicPr>
        <p:blipFill>
          <a:blip r:embed="rId3"/>
          <a:srcRect l="0" r="0" t="0" b="0"/>
          <a:stretch/>
        </p:blipFill>
        <p:spPr>
          <a:xfrm>
            <a:off x="7561064" y="2612231"/>
            <a:ext cx="254000" cy="139700"/>
          </a:xfrm>
          <a:prstGeom prst="rect">
            <a:avLst/>
          </a:prstGeom>
        </p:spPr>
      </p:pic>
      <p:sp>
        <p:nvSpPr>
          <p:cNvPr id="19" name="Text 14"/>
          <p:cNvSpPr/>
          <p:nvPr/>
        </p:nvSpPr>
        <p:spPr>
          <a:xfrm>
            <a:off x="7916664" y="2494161"/>
            <a:ext cx="1130995" cy="375841"/>
          </a:xfrm>
          <a:prstGeom prst="roundRect">
            <a:avLst>
              <a:gd name="adj" fmla="val 20275"/>
            </a:avLst>
          </a:prstGeom>
          <a:solidFill>
            <a:srgbClr val="EDE4D8"/>
          </a:solidFill>
          <a:ln/>
        </p:spPr>
        <p:txBody>
          <a:bodyPr wrap="none" lIns="0" tIns="0" rIns="0" bIns="0" rtlCol="0" anchor="ctr">
            <a:normAutofit/>
          </a:bodyPr>
          <a:lstStyle/>
          <a:p>
            <a:pPr algn="ctr" indent="0" marL="0">
              <a:lnSpc>
                <a:spcPts val="1960"/>
              </a:lnSpc>
              <a:buNone/>
            </a:pPr>
            <a:r>
              <a:rPr lang="en-US" sz="1400" b="1" dirty="0">
                <a:solidFill>
                  <a:srgbClr val="2B231E"/>
                </a:solidFill>
                <a:latin typeface="IBM Plex Sans KR" pitchFamily="34" charset="0"/>
                <a:ea typeface="IBM Plex Sans KR" pitchFamily="34" charset="-122"/>
                <a:cs typeface="IBM Plex Sans KR" pitchFamily="34" charset="-120"/>
              </a:rPr>
              <a:t>몸 비율 측정</a:t>
            </a:r>
            <a:endParaRPr lang="en-US" sz="1400" dirty="0"/>
          </a:p>
        </p:txBody>
      </p:sp>
      <p:pic>
        <p:nvPicPr>
          <p:cNvPr id="20" name="Image 3" descr="arrow-right">    </p:cNvPr>
          <p:cNvPicPr>
            <a:picLocks noChangeAspect="1"/>
          </p:cNvPicPr>
          <p:nvPr/>
        </p:nvPicPr>
        <p:blipFill>
          <a:blip r:embed="rId4"/>
          <a:srcRect l="0" r="0" t="0" b="0"/>
          <a:stretch/>
        </p:blipFill>
        <p:spPr>
          <a:xfrm>
            <a:off x="9149259" y="2612231"/>
            <a:ext cx="254000" cy="139700"/>
          </a:xfrm>
          <a:prstGeom prst="rect">
            <a:avLst/>
          </a:prstGeom>
        </p:spPr>
      </p:pic>
      <p:sp>
        <p:nvSpPr>
          <p:cNvPr id="21" name="Text 15"/>
          <p:cNvSpPr/>
          <p:nvPr/>
        </p:nvSpPr>
        <p:spPr>
          <a:xfrm>
            <a:off x="9504859" y="2494161"/>
            <a:ext cx="1158379" cy="375841"/>
          </a:xfrm>
          <a:prstGeom prst="roundRect">
            <a:avLst>
              <a:gd name="adj" fmla="val 20275"/>
            </a:avLst>
          </a:prstGeom>
          <a:solidFill>
            <a:srgbClr val="2B231E"/>
          </a:solidFill>
          <a:ln/>
        </p:spPr>
        <p:txBody>
          <a:bodyPr wrap="none" lIns="0" tIns="0" rIns="0" bIns="0" rtlCol="0" anchor="ctr">
            <a:normAutofit/>
          </a:bodyPr>
          <a:lstStyle/>
          <a:p>
            <a:pPr algn="ctr" indent="0" marL="0">
              <a:lnSpc>
                <a:spcPts val="1960"/>
              </a:lnSpc>
              <a:buNone/>
            </a:pPr>
            <a:r>
              <a:rPr lang="en-US" sz="1400" b="1" dirty="0">
                <a:solidFill>
                  <a:srgbClr val="F6F1EA"/>
                </a:solidFill>
                <a:latin typeface="IBM Plex Sans KR" pitchFamily="34" charset="0"/>
                <a:ea typeface="IBM Plex Sans KR" pitchFamily="34" charset="-122"/>
                <a:cs typeface="IBM Plex Sans KR" pitchFamily="34" charset="-120"/>
              </a:rPr>
              <a:t>웨이브 83%</a:t>
            </a:r>
            <a:endParaRPr lang="en-US" sz="1400" dirty="0"/>
          </a:p>
        </p:txBody>
      </p:sp>
      <p:sp>
        <p:nvSpPr>
          <p:cNvPr id="22" name="Text 16"/>
          <p:cNvSpPr/>
          <p:nvPr/>
        </p:nvSpPr>
        <p:spPr>
          <a:xfrm>
            <a:off x="6464300" y="2997002"/>
            <a:ext cx="1626592" cy="271760"/>
          </a:xfrm>
          <a:prstGeom prst="roundRect">
            <a:avLst>
              <a:gd name="adj" fmla="val 50000"/>
            </a:avLst>
          </a:prstGeom>
          <a:solidFill>
            <a:srgbClr val="EDE4D8"/>
          </a:solidFill>
          <a:ln/>
        </p:spPr>
        <p:txBody>
          <a:bodyPr wrap="none" lIns="0" tIns="0" rIns="0" bIns="0" rtlCol="0" anchor="ctr">
            <a:normAutofit/>
          </a:bodyPr>
          <a:lstStyle/>
          <a:p>
            <a:pPr algn="ctr" indent="0" marL="0">
              <a:lnSpc>
                <a:spcPts val="1540"/>
              </a:lnSpc>
              <a:buNone/>
            </a:pPr>
            <a:r>
              <a:rPr lang="en-US" sz="1100" b="1" dirty="0">
                <a:solidFill>
                  <a:srgbClr val="3A2F28"/>
                </a:solidFill>
                <a:latin typeface="IBM Plex Sans KR" pitchFamily="34" charset="0"/>
                <a:ea typeface="IBM Plex Sans KR" pitchFamily="34" charset="-122"/>
                <a:cs typeface="IBM Plex Sans KR" pitchFamily="34" charset="-120"/>
              </a:rPr>
              <a:t>MediaPipe Pose 관절점</a:t>
            </a:r>
            <a:endParaRPr lang="en-US" sz="1100" dirty="0"/>
          </a:p>
        </p:txBody>
      </p:sp>
      <p:sp>
        <p:nvSpPr>
          <p:cNvPr id="23" name="Text 17"/>
          <p:cNvSpPr/>
          <p:nvPr/>
        </p:nvSpPr>
        <p:spPr>
          <a:xfrm>
            <a:off x="8154392" y="2997002"/>
            <a:ext cx="1307703" cy="271760"/>
          </a:xfrm>
          <a:prstGeom prst="roundRect">
            <a:avLst>
              <a:gd name="adj" fmla="val 50000"/>
            </a:avLst>
          </a:prstGeom>
          <a:solidFill>
            <a:srgbClr val="EDE4D8"/>
          </a:solidFill>
          <a:ln/>
        </p:spPr>
        <p:txBody>
          <a:bodyPr wrap="none" lIns="0" tIns="0" rIns="0" bIns="0" rtlCol="0" anchor="ctr">
            <a:normAutofit/>
          </a:bodyPr>
          <a:lstStyle/>
          <a:p>
            <a:pPr algn="ctr" indent="0" marL="0">
              <a:lnSpc>
                <a:spcPts val="1540"/>
              </a:lnSpc>
              <a:buNone/>
            </a:pPr>
            <a:r>
              <a:rPr lang="en-US" sz="1100" b="1" dirty="0">
                <a:solidFill>
                  <a:srgbClr val="3A2F28"/>
                </a:solidFill>
                <a:latin typeface="IBM Plex Sans KR" pitchFamily="34" charset="0"/>
                <a:ea typeface="IBM Plex Sans KR" pitchFamily="34" charset="-122"/>
                <a:cs typeface="IBM Plex Sans KR" pitchFamily="34" charset="-120"/>
              </a:rPr>
              <a:t>어깨·허리·골반 비율</a:t>
            </a:r>
            <a:endParaRPr lang="en-US" sz="1100" dirty="0"/>
          </a:p>
        </p:txBody>
      </p:sp>
      <p:sp>
        <p:nvSpPr>
          <p:cNvPr id="24" name="Text 18"/>
          <p:cNvSpPr/>
          <p:nvPr/>
        </p:nvSpPr>
        <p:spPr>
          <a:xfrm>
            <a:off x="9525595" y="2997002"/>
            <a:ext cx="1108273" cy="271760"/>
          </a:xfrm>
          <a:prstGeom prst="roundRect">
            <a:avLst>
              <a:gd name="adj" fmla="val 50000"/>
            </a:avLst>
          </a:prstGeom>
          <a:solidFill>
            <a:srgbClr val="EDE4D8"/>
          </a:solidFill>
          <a:ln/>
        </p:spPr>
        <p:txBody>
          <a:bodyPr wrap="none" lIns="0" tIns="0" rIns="0" bIns="0" rtlCol="0" anchor="ctr">
            <a:normAutofit/>
          </a:bodyPr>
          <a:lstStyle/>
          <a:p>
            <a:pPr algn="ctr" indent="0" marL="0">
              <a:lnSpc>
                <a:spcPts val="1540"/>
              </a:lnSpc>
              <a:buNone/>
            </a:pPr>
            <a:r>
              <a:rPr lang="en-US" sz="1100" b="1" dirty="0">
                <a:solidFill>
                  <a:srgbClr val="3A2F28"/>
                </a:solidFill>
                <a:latin typeface="IBM Plex Sans KR" pitchFamily="34" charset="0"/>
                <a:ea typeface="IBM Plex Sans KR" pitchFamily="34" charset="-122"/>
                <a:cs typeface="IBM Plex Sans KR" pitchFamily="34" charset="-120"/>
              </a:rPr>
              <a:t>사진 + 설문 결합</a:t>
            </a:r>
            <a:endParaRPr lang="en-US" sz="1100" dirty="0"/>
          </a:p>
        </p:txBody>
      </p:sp>
      <p:sp>
        <p:nvSpPr>
          <p:cNvPr id="25" name="Text 19"/>
          <p:cNvSpPr/>
          <p:nvPr/>
        </p:nvSpPr>
        <p:spPr>
          <a:xfrm>
            <a:off x="6464300" y="3395762"/>
            <a:ext cx="4787646"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5B4E44"/>
                </a:solidFill>
                <a:latin typeface="IBM Plex Sans KR" pitchFamily="34" charset="0"/>
                <a:ea typeface="IBM Plex Sans KR" pitchFamily="34" charset="-122"/>
                <a:cs typeface="IBM Plex Sans KR" pitchFamily="34" charset="-120"/>
              </a:rPr>
              <a:t>사진 79.7% → 설문으로 보강</a:t>
            </a:r>
            <a:endParaRPr lang="en-US" sz="1100" dirty="0"/>
          </a:p>
        </p:txBody>
      </p:sp>
      <p:sp>
        <p:nvSpPr>
          <p:cNvPr id="26" name="Text 20"/>
          <p:cNvSpPr/>
          <p:nvPr/>
        </p:nvSpPr>
        <p:spPr>
          <a:xfrm>
            <a:off x="812800" y="4137422"/>
            <a:ext cx="10566400" cy="571500"/>
          </a:xfrm>
          <a:prstGeom prst="roundRect">
            <a:avLst>
              <a:gd name="adj" fmla="val 17778"/>
            </a:avLst>
          </a:prstGeom>
          <a:solidFill>
            <a:srgbClr val="EDE4D8"/>
          </a:solidFill>
          <a:ln/>
        </p:spPr>
        <p:txBody>
          <a:bodyPr wrap="square" lIns="173442" tIns="122642" rIns="0" bIns="97242" rtlCol="0" anchor="t">
            <a:normAutofit/>
          </a:bodyPr>
          <a:lstStyle/>
          <a:p>
            <a:pPr algn="l" indent="0" marL="0">
              <a:lnSpc>
                <a:spcPts val="2100"/>
              </a:lnSpc>
              <a:buNone/>
            </a:pPr>
            <a:r>
              <a:rPr lang="en-US" sz="1400" b="1" dirty="0">
                <a:solidFill>
                  <a:srgbClr val="3A2F28"/>
                </a:solidFill>
                <a:latin typeface="IBM Plex Sans KR" pitchFamily="34" charset="0"/>
                <a:ea typeface="IBM Plex Sans KR" pitchFamily="34" charset="-122"/>
                <a:cs typeface="IBM Plex Sans KR" pitchFamily="34" charset="-120"/>
              </a:rPr>
              <a:t>사진은 저장하지 않습니다.</a:t>
            </a:r>
            <a:r>
              <a:rPr lang="en-US" sz="1400" dirty="0">
                <a:solidFill>
                  <a:srgbClr val="3A2F28"/>
                </a:solidFill>
                <a:latin typeface="IBM Plex Sans KR" pitchFamily="34" charset="0"/>
                <a:ea typeface="IBM Plex Sans KR" pitchFamily="34" charset="-122"/>
                <a:cs typeface="IBM Plex Sans KR" pitchFamily="34" charset="-120"/>
              </a:rPr>
              <a:t> 결과만 남깁니다.</a:t>
            </a:r>
            <a:endParaRPr lang="en-US" sz="1400" dirty="0"/>
          </a:p>
        </p:txBody>
      </p:sp>
      <p:sp>
        <p:nvSpPr>
          <p:cNvPr id="27" name="Text 2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7B6E"/>
                </a:solidFill>
                <a:latin typeface="IBM Plex Sans KR" pitchFamily="34" charset="0"/>
                <a:ea typeface="IBM Plex Sans KR" pitchFamily="34" charset="-122"/>
                <a:cs typeface="IBM Plex Sans KR"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C6440"/>
                </a:solidFill>
                <a:latin typeface="IBM Plex Sans KR" pitchFamily="34" charset="0"/>
                <a:ea typeface="IBM Plex Sans KR" pitchFamily="34" charset="-122"/>
                <a:cs typeface="IBM Plex Sans KR" pitchFamily="34" charset="-120"/>
              </a:rPr>
              <a:t>AI ① 퍼스널컬러</a:t>
            </a:r>
            <a:endParaRPr lang="en-US" sz="1200" dirty="0"/>
          </a:p>
        </p:txBody>
      </p:sp>
      <p:sp>
        <p:nvSpPr>
          <p:cNvPr id="3" name="Text 1"/>
          <p:cNvSpPr/>
          <p:nvPr/>
        </p:nvSpPr>
        <p:spPr>
          <a:xfrm>
            <a:off x="812800" y="1127720"/>
            <a:ext cx="10883392" cy="513060"/>
          </a:xfrm>
          <a:prstGeom prst="rect">
            <a:avLst/>
          </a:prstGeom>
          <a:noFill/>
          <a:ln/>
        </p:spPr>
        <p:txBody>
          <a:bodyPr wrap="square" lIns="0" tIns="0" rIns="0" bIns="0" rtlCol="0" anchor="t">
            <a:normAutofit/>
          </a:bodyPr>
          <a:lstStyle/>
          <a:p>
            <a:pPr algn="l" indent="0" marL="0">
              <a:lnSpc>
                <a:spcPts val="3840"/>
              </a:lnSpc>
              <a:buNone/>
            </a:pPr>
            <a:r>
              <a:rPr lang="en-US" sz="3200" b="1" dirty="0">
                <a:solidFill>
                  <a:srgbClr val="2B231E"/>
                </a:solidFill>
                <a:latin typeface="Noto Serif KR" pitchFamily="18" charset="0"/>
                <a:ea typeface="Noto Serif KR" pitchFamily="18" charset="-122"/>
                <a:cs typeface="Noto Serif KR" pitchFamily="18" charset="-120"/>
              </a:rPr>
              <a:t>피부색을 숫자 9개로 바꿔 웜·쿨을 판별했습니다</a:t>
            </a:r>
            <a:endParaRPr lang="en-US" sz="3200" dirty="0"/>
          </a:p>
        </p:txBody>
      </p:sp>
      <p:sp>
        <p:nvSpPr>
          <p:cNvPr id="4" name="Shape 2"/>
          <p:cNvSpPr/>
          <p:nvPr/>
        </p:nvSpPr>
        <p:spPr>
          <a:xfrm>
            <a:off x="815975" y="1897955"/>
            <a:ext cx="2476500" cy="874911"/>
          </a:xfrm>
          <a:prstGeom prst="roundRect">
            <a:avLst>
              <a:gd name="adj" fmla="val 11250"/>
            </a:avLst>
          </a:prstGeom>
          <a:solidFill>
            <a:srgbClr val="FFFCF7"/>
          </a:solidFill>
          <a:ln w="6350">
            <a:solidFill>
              <a:srgbClr val="E3D8CA"/>
            </a:solidFill>
            <a:prstDash val="solid"/>
          </a:ln>
        </p:spPr>
      </p:sp>
      <p:sp>
        <p:nvSpPr>
          <p:cNvPr id="5" name="Text 3"/>
          <p:cNvSpPr/>
          <p:nvPr/>
        </p:nvSpPr>
        <p:spPr>
          <a:xfrm>
            <a:off x="996950" y="2078930"/>
            <a:ext cx="217798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C6440"/>
                </a:solidFill>
                <a:latin typeface="IBM Plex Sans KR" pitchFamily="34" charset="0"/>
                <a:ea typeface="IBM Plex Sans KR" pitchFamily="34" charset="-122"/>
                <a:cs typeface="IBM Plex Sans KR" pitchFamily="34" charset="-120"/>
              </a:rPr>
              <a:t>입력</a:t>
            </a:r>
            <a:endParaRPr lang="en-US" sz="1200" dirty="0"/>
          </a:p>
        </p:txBody>
      </p:sp>
      <p:sp>
        <p:nvSpPr>
          <p:cNvPr id="6" name="Text 4"/>
          <p:cNvSpPr/>
          <p:nvPr/>
        </p:nvSpPr>
        <p:spPr>
          <a:xfrm>
            <a:off x="996950" y="2343051"/>
            <a:ext cx="2177987"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231E"/>
                </a:solidFill>
                <a:latin typeface="IBM Plex Sans KR" pitchFamily="34" charset="0"/>
                <a:ea typeface="IBM Plex Sans KR" pitchFamily="34" charset="-122"/>
                <a:cs typeface="IBM Plex Sans KR" pitchFamily="34" charset="-120"/>
              </a:rPr>
              <a:t>셀카 1장</a:t>
            </a:r>
            <a:endParaRPr lang="en-US" sz="1400" dirty="0"/>
          </a:p>
        </p:txBody>
      </p:sp>
      <p:pic>
        <p:nvPicPr>
          <p:cNvPr id="7" name="Image 0" descr="arrow-right">    </p:cNvPr>
          <p:cNvPicPr>
            <a:picLocks noChangeAspect="1"/>
          </p:cNvPicPr>
          <p:nvPr/>
        </p:nvPicPr>
        <p:blipFill>
          <a:blip r:embed="rId1"/>
          <a:srcRect l="0" r="0" t="0" b="0"/>
          <a:stretch/>
        </p:blipFill>
        <p:spPr>
          <a:xfrm>
            <a:off x="3397250" y="2252861"/>
            <a:ext cx="304800" cy="165100"/>
          </a:xfrm>
          <a:prstGeom prst="rect">
            <a:avLst/>
          </a:prstGeom>
        </p:spPr>
      </p:pic>
      <p:sp>
        <p:nvSpPr>
          <p:cNvPr id="8" name="Shape 5"/>
          <p:cNvSpPr/>
          <p:nvPr/>
        </p:nvSpPr>
        <p:spPr>
          <a:xfrm>
            <a:off x="3806825" y="1897955"/>
            <a:ext cx="4591050" cy="874911"/>
          </a:xfrm>
          <a:prstGeom prst="roundRect">
            <a:avLst>
              <a:gd name="adj" fmla="val 11250"/>
            </a:avLst>
          </a:prstGeom>
          <a:solidFill>
            <a:srgbClr val="FFFCF7"/>
          </a:solidFill>
          <a:ln w="6350">
            <a:solidFill>
              <a:srgbClr val="E3D8CA"/>
            </a:solidFill>
            <a:prstDash val="solid"/>
          </a:ln>
        </p:spPr>
      </p:sp>
      <p:sp>
        <p:nvSpPr>
          <p:cNvPr id="9" name="Text 6"/>
          <p:cNvSpPr/>
          <p:nvPr/>
        </p:nvSpPr>
        <p:spPr>
          <a:xfrm>
            <a:off x="3987800" y="2078930"/>
            <a:ext cx="435597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C6440"/>
                </a:solidFill>
                <a:latin typeface="IBM Plex Sans KR" pitchFamily="34" charset="0"/>
                <a:ea typeface="IBM Plex Sans KR" pitchFamily="34" charset="-122"/>
                <a:cs typeface="IBM Plex Sans KR" pitchFamily="34" charset="-120"/>
              </a:rPr>
              <a:t>처리</a:t>
            </a:r>
            <a:endParaRPr lang="en-US" sz="1200" dirty="0"/>
          </a:p>
        </p:txBody>
      </p:sp>
      <p:sp>
        <p:nvSpPr>
          <p:cNvPr id="10" name="Text 7"/>
          <p:cNvSpPr/>
          <p:nvPr/>
        </p:nvSpPr>
        <p:spPr>
          <a:xfrm>
            <a:off x="3987800" y="2343051"/>
            <a:ext cx="435597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231E"/>
                </a:solidFill>
                <a:latin typeface="IBM Plex Sans KR" pitchFamily="34" charset="0"/>
                <a:ea typeface="IBM Plex Sans KR" pitchFamily="34" charset="-122"/>
                <a:cs typeface="IBM Plex Sans KR" pitchFamily="34" charset="-120"/>
              </a:rPr>
              <a:t>얼굴 인식 → 피부만 추출 → 색 수치 9개</a:t>
            </a:r>
            <a:endParaRPr lang="en-US" sz="1400" dirty="0"/>
          </a:p>
        </p:txBody>
      </p:sp>
      <p:pic>
        <p:nvPicPr>
          <p:cNvPr id="11" name="Image 1" descr="arrow-right">    </p:cNvPr>
          <p:cNvPicPr>
            <a:picLocks noChangeAspect="1"/>
          </p:cNvPicPr>
          <p:nvPr/>
        </p:nvPicPr>
        <p:blipFill>
          <a:blip r:embed="rId2"/>
          <a:srcRect l="0" r="0" t="0" b="0"/>
          <a:stretch/>
        </p:blipFill>
        <p:spPr>
          <a:xfrm>
            <a:off x="8502650" y="2252861"/>
            <a:ext cx="304800" cy="165100"/>
          </a:xfrm>
          <a:prstGeom prst="rect">
            <a:avLst/>
          </a:prstGeom>
        </p:spPr>
      </p:pic>
      <p:sp>
        <p:nvSpPr>
          <p:cNvPr id="12" name="Shape 8"/>
          <p:cNvSpPr/>
          <p:nvPr/>
        </p:nvSpPr>
        <p:spPr>
          <a:xfrm>
            <a:off x="8909050" y="1894780"/>
            <a:ext cx="2470150" cy="881261"/>
          </a:xfrm>
          <a:prstGeom prst="roundRect">
            <a:avLst>
              <a:gd name="adj" fmla="val 11529"/>
            </a:avLst>
          </a:prstGeom>
          <a:solidFill>
            <a:srgbClr val="2B231E"/>
          </a:solidFill>
          <a:ln/>
        </p:spPr>
      </p:sp>
      <p:sp>
        <p:nvSpPr>
          <p:cNvPr id="13" name="Text 9"/>
          <p:cNvSpPr/>
          <p:nvPr/>
        </p:nvSpPr>
        <p:spPr>
          <a:xfrm>
            <a:off x="9086850" y="2072580"/>
            <a:ext cx="217798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D9B48F"/>
                </a:solidFill>
                <a:latin typeface="IBM Plex Sans KR" pitchFamily="34" charset="0"/>
                <a:ea typeface="IBM Plex Sans KR" pitchFamily="34" charset="-122"/>
                <a:cs typeface="IBM Plex Sans KR" pitchFamily="34" charset="-120"/>
              </a:rPr>
              <a:t>출력</a:t>
            </a:r>
            <a:endParaRPr lang="en-US" sz="1200" dirty="0"/>
          </a:p>
        </p:txBody>
      </p:sp>
      <p:sp>
        <p:nvSpPr>
          <p:cNvPr id="14" name="Text 10"/>
          <p:cNvSpPr/>
          <p:nvPr/>
        </p:nvSpPr>
        <p:spPr>
          <a:xfrm>
            <a:off x="9086850" y="2336701"/>
            <a:ext cx="2177987"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1EA"/>
                </a:solidFill>
                <a:latin typeface="IBM Plex Sans KR" pitchFamily="34" charset="0"/>
                <a:ea typeface="IBM Plex Sans KR" pitchFamily="34" charset="-122"/>
                <a:cs typeface="IBM Plex Sans KR" pitchFamily="34" charset="-120"/>
              </a:rPr>
              <a:t>로지스틱 회귀 → 웜·쿨 확률</a:t>
            </a:r>
            <a:endParaRPr lang="en-US" sz="1400" dirty="0"/>
          </a:p>
        </p:txBody>
      </p:sp>
      <p:pic>
        <p:nvPicPr>
          <p:cNvPr id="15" name="Image 2" descr="웜톤 아바타 얼굴의 피부 분석 영역을 주황색으로 표시한 이미지">    </p:cNvPr>
          <p:cNvPicPr>
            <a:picLocks noChangeAspect="1"/>
          </p:cNvPicPr>
          <p:nvPr/>
        </p:nvPicPr>
        <p:blipFill>
          <a:blip r:embed="rId3"/>
          <a:srcRect l="0" r="0" t="65" b="65"/>
          <a:stretch/>
        </p:blipFill>
        <p:spPr>
          <a:xfrm>
            <a:off x="812800" y="3055441"/>
            <a:ext cx="1905000" cy="1803400"/>
          </a:xfrm>
          <a:prstGeom prst="roundRect">
            <a:avLst>
              <a:gd name="adj" fmla="val 5634"/>
            </a:avLst>
          </a:prstGeom>
        </p:spPr>
      </p:pic>
      <p:pic>
        <p:nvPicPr>
          <p:cNvPr id="16" name="Image 3" descr="쿨톤 아바타 얼굴의 피부 분석 영역을 주황색으로 표시한 이미지">    </p:cNvPr>
          <p:cNvPicPr>
            <a:picLocks noChangeAspect="1"/>
          </p:cNvPicPr>
          <p:nvPr/>
        </p:nvPicPr>
        <p:blipFill>
          <a:blip r:embed="rId4"/>
          <a:srcRect l="0" r="0" t="691" b="691"/>
          <a:stretch/>
        </p:blipFill>
        <p:spPr>
          <a:xfrm>
            <a:off x="2819400" y="3055441"/>
            <a:ext cx="1905000" cy="1803400"/>
          </a:xfrm>
          <a:prstGeom prst="roundRect">
            <a:avLst>
              <a:gd name="adj" fmla="val 5634"/>
            </a:avLst>
          </a:prstGeom>
        </p:spPr>
      </p:pic>
      <p:sp>
        <p:nvSpPr>
          <p:cNvPr id="17" name="Shape 11"/>
          <p:cNvSpPr/>
          <p:nvPr/>
        </p:nvSpPr>
        <p:spPr>
          <a:xfrm>
            <a:off x="4978400" y="3371850"/>
            <a:ext cx="6223000" cy="1170583"/>
          </a:xfrm>
          <a:prstGeom prst="rect">
            <a:avLst/>
          </a:prstGeom>
          <a:solidFill>
            <a:srgbClr val="FFFCF7"/>
          </a:solidFill>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991100" y="3384550"/>
          <a:ext cx="6210300" cy="1157883"/>
        </p:xfrm>
        <a:graphic>
          <a:graphicData uri="http://schemas.openxmlformats.org/drawingml/2006/table">
            <a:tbl>
              <a:tblPr/>
              <a:tblGrid>
                <a:gridCol w="2111502"/>
                <a:gridCol w="1366266"/>
                <a:gridCol w="1366266"/>
                <a:gridCol w="1366266"/>
              </a:tblGrid>
              <a:tr h="385961">
                <a:tc>
                  <a:txBody>
                    <a:bodyPr/>
                    <a:lstStyle/>
                    <a:p>
                      <a:pPr indent="0" marL="0">
                        <a:lnSpc>
                          <a:spcPts val="1960"/>
                        </a:lnSpc>
                        <a:buNone/>
                      </a:pPr>
                      <a:r>
                        <a:rPr lang="en-US" sz="1400" b="1" dirty="0">
                          <a:solidFill>
                            <a:srgbClr val="2B231E"/>
                          </a:solidFill>
                          <a:latin typeface="IBM Plex Sans KR" pitchFamily="34" charset="0"/>
                          <a:ea typeface="IBM Plex Sans KR" pitchFamily="34" charset="-122"/>
                          <a:cs typeface="IBM Plex Sans KR" pitchFamily="34" charset="-120"/>
                        </a:rPr>
                        <a:t>시연 아바타</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BC9C5"/>
                      </a:solidFill>
                      <a:prstDash val="solid"/>
                      <a:round/>
                      <a:headEnd type="none" w="med" len="med"/>
                      <a:tailEnd type="none" w="med" len="med"/>
                    </a:lnL>
                    <a:lnR w="12700" cap="flat" cmpd="sng" algn="ctr">
                      <a:solidFill>
                        <a:srgbClr val="BCBAB7"/>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BCBAB7"/>
                      </a:solidFill>
                      <a:prstDash val="solid"/>
                      <a:round/>
                      <a:headEnd type="none" w="med" len="med"/>
                      <a:tailEnd type="none" w="med" len="med"/>
                    </a:lnB>
                    <a:solidFill>
                      <a:srgbClr val="ECE9E5"/>
                    </a:solidFill>
                  </a:tcPr>
                </a:tc>
                <a:tc>
                  <a:txBody>
                    <a:bodyPr/>
                    <a:lstStyle/>
                    <a:p>
                      <a:pPr indent="0" marL="0">
                        <a:lnSpc>
                          <a:spcPts val="1960"/>
                        </a:lnSpc>
                        <a:buNone/>
                      </a:pPr>
                      <a:r>
                        <a:rPr lang="en-US" sz="1400" b="1" dirty="0">
                          <a:solidFill>
                            <a:srgbClr val="2B231E"/>
                          </a:solidFill>
                          <a:latin typeface="IBM Plex Sans KR" pitchFamily="34" charset="0"/>
                          <a:ea typeface="IBM Plex Sans KR" pitchFamily="34" charset="-122"/>
                          <a:cs typeface="IBM Plex Sans KR" pitchFamily="34" charset="-120"/>
                        </a:rPr>
                        <a:t>피부색</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CBAB7"/>
                      </a:solidFill>
                      <a:prstDash val="solid"/>
                      <a:round/>
                      <a:headEnd type="none" w="med" len="med"/>
                      <a:tailEnd type="none" w="med" len="med"/>
                    </a:lnL>
                    <a:lnR w="12700" cap="flat" cmpd="sng" algn="ctr">
                      <a:solidFill>
                        <a:srgbClr val="BCBAB7"/>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BCBAB7"/>
                      </a:solidFill>
                      <a:prstDash val="solid"/>
                      <a:round/>
                      <a:headEnd type="none" w="med" len="med"/>
                      <a:tailEnd type="none" w="med" len="med"/>
                    </a:lnB>
                    <a:solidFill>
                      <a:srgbClr val="ECE9E5"/>
                    </a:solidFill>
                  </a:tcPr>
                </a:tc>
                <a:tc>
                  <a:txBody>
                    <a:bodyPr/>
                    <a:lstStyle/>
                    <a:p>
                      <a:pPr indent="0" marL="0">
                        <a:lnSpc>
                          <a:spcPts val="1960"/>
                        </a:lnSpc>
                        <a:buNone/>
                      </a:pPr>
                      <a:r>
                        <a:rPr lang="en-US" sz="1400" b="1" dirty="0">
                          <a:solidFill>
                            <a:srgbClr val="2B231E"/>
                          </a:solidFill>
                          <a:latin typeface="IBM Plex Sans KR" pitchFamily="34" charset="0"/>
                          <a:ea typeface="IBM Plex Sans KR" pitchFamily="34" charset="-122"/>
                          <a:cs typeface="IBM Plex Sans KR" pitchFamily="34" charset="-120"/>
                        </a:rPr>
                        <a:t>노란기 b*</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CBAB7"/>
                      </a:solidFill>
                      <a:prstDash val="solid"/>
                      <a:round/>
                      <a:headEnd type="none" w="med" len="med"/>
                      <a:tailEnd type="none" w="med" len="med"/>
                    </a:lnL>
                    <a:lnR w="12700" cap="flat" cmpd="sng" algn="ctr">
                      <a:solidFill>
                        <a:srgbClr val="BCBAB7"/>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BCBAB7"/>
                      </a:solidFill>
                      <a:prstDash val="solid"/>
                      <a:round/>
                      <a:headEnd type="none" w="med" len="med"/>
                      <a:tailEnd type="none" w="med" len="med"/>
                    </a:lnB>
                    <a:solidFill>
                      <a:srgbClr val="ECE9E5"/>
                    </a:solidFill>
                  </a:tcPr>
                </a:tc>
                <a:tc>
                  <a:txBody>
                    <a:bodyPr/>
                    <a:lstStyle/>
                    <a:p>
                      <a:pPr indent="0" marL="0">
                        <a:lnSpc>
                          <a:spcPts val="1960"/>
                        </a:lnSpc>
                        <a:buNone/>
                      </a:pPr>
                      <a:r>
                        <a:rPr lang="en-US" sz="1400" b="1" dirty="0">
                          <a:solidFill>
                            <a:srgbClr val="2B231E"/>
                          </a:solidFill>
                          <a:latin typeface="IBM Plex Sans KR" pitchFamily="34" charset="0"/>
                          <a:ea typeface="IBM Plex Sans KR" pitchFamily="34" charset="-122"/>
                          <a:cs typeface="IBM Plex Sans KR" pitchFamily="34" charset="-120"/>
                        </a:rPr>
                        <a:t>결과</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CBAB7"/>
                      </a:solidFill>
                      <a:prstDash val="solid"/>
                      <a:round/>
                      <a:headEnd type="none" w="med" len="med"/>
                      <a:tailEnd type="none" w="med" len="med"/>
                    </a:lnL>
                    <a:lnR w="12700" cap="flat" cmpd="sng" algn="ctr">
                      <a:solidFill>
                        <a:srgbClr val="BCBAB7"/>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BCBAB7"/>
                      </a:solidFill>
                      <a:prstDash val="solid"/>
                      <a:round/>
                      <a:headEnd type="none" w="med" len="med"/>
                      <a:tailEnd type="none" w="med" len="med"/>
                    </a:lnB>
                    <a:solidFill>
                      <a:srgbClr val="ECE9E5"/>
                    </a:solidFill>
                  </a:tcPr>
                </a:tc>
              </a:tr>
              <a:tr h="385961">
                <a:tc>
                  <a:txBody>
                    <a:bodyPr/>
                    <a:lstStyle/>
                    <a:p>
                      <a:pPr indent="0" marL="0">
                        <a:lnSpc>
                          <a:spcPts val="1960"/>
                        </a:lnSpc>
                        <a:buNone/>
                      </a:pPr>
                      <a:r>
                        <a:rPr lang="en-US" sz="1400" dirty="0">
                          <a:solidFill>
                            <a:srgbClr val="2B231E"/>
                          </a:solidFill>
                          <a:latin typeface="IBM Plex Sans KR" pitchFamily="34" charset="0"/>
                          <a:ea typeface="IBM Plex Sans KR" pitchFamily="34" charset="-122"/>
                          <a:cs typeface="IBM Plex Sans KR" pitchFamily="34" charset="-120"/>
                        </a:rPr>
                        <a:t>왼쪽 (웜)</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BCBAB7"/>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c>
                  <a:txBody>
                    <a:bodyPr/>
                    <a:lstStyle/>
                    <a:p>
                      <a:pPr indent="0" marL="0">
                        <a:lnSpc>
                          <a:spcPts val="1960"/>
                        </a:lnSpc>
                        <a:buNone/>
                      </a:pPr>
                      <a:r>
                        <a:rPr lang="en-US" sz="1400" dirty="0">
                          <a:solidFill>
                            <a:srgbClr val="2B231E"/>
                          </a:solidFill>
                          <a:latin typeface="IBM Plex Sans KR" pitchFamily="34" charset="0"/>
                          <a:ea typeface="IBM Plex Sans KR" pitchFamily="34" charset="-122"/>
                          <a:cs typeface="IBM Plex Sans KR" pitchFamily="34" charset="-120"/>
                        </a:rPr>
                        <a:t>#CDA999</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BCBAB7"/>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c>
                  <a:txBody>
                    <a:bodyPr/>
                    <a:lstStyle/>
                    <a:p>
                      <a:pPr indent="0" marL="0">
                        <a:lnSpc>
                          <a:spcPts val="1960"/>
                        </a:lnSpc>
                        <a:buNone/>
                      </a:pPr>
                      <a:r>
                        <a:rPr lang="en-US" sz="1400" dirty="0">
                          <a:solidFill>
                            <a:srgbClr val="2B231E"/>
                          </a:solidFill>
                          <a:latin typeface="IBM Plex Sans KR" pitchFamily="34" charset="0"/>
                          <a:ea typeface="IBM Plex Sans KR" pitchFamily="34" charset="-122"/>
                          <a:cs typeface="IBM Plex Sans KR" pitchFamily="34" charset="-120"/>
                        </a:rPr>
                        <a:t>13.2</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BCBAB7"/>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c>
                  <a:txBody>
                    <a:bodyPr/>
                    <a:lstStyle/>
                    <a:p>
                      <a:pPr indent="0" marL="0">
                        <a:lnSpc>
                          <a:spcPts val="1960"/>
                        </a:lnSpc>
                        <a:buNone/>
                      </a:pPr>
                      <a:r>
                        <a:rPr lang="en-US" sz="1400" dirty="0">
                          <a:solidFill>
                            <a:srgbClr val="2B231E"/>
                          </a:solidFill>
                          <a:latin typeface="IBM Plex Sans KR" pitchFamily="34" charset="0"/>
                          <a:ea typeface="IBM Plex Sans KR" pitchFamily="34" charset="-122"/>
                          <a:cs typeface="IBM Plex Sans KR" pitchFamily="34" charset="-120"/>
                        </a:rPr>
                        <a:t>웜 74.2%</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BCBAB7"/>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r>
              <a:tr h="385961">
                <a:tc>
                  <a:txBody>
                    <a:bodyPr/>
                    <a:lstStyle/>
                    <a:p>
                      <a:pPr indent="0" marL="0">
                        <a:lnSpc>
                          <a:spcPts val="1960"/>
                        </a:lnSpc>
                        <a:buNone/>
                      </a:pPr>
                      <a:r>
                        <a:rPr lang="en-US" sz="1400" dirty="0">
                          <a:solidFill>
                            <a:srgbClr val="2B231E"/>
                          </a:solidFill>
                          <a:latin typeface="IBM Plex Sans KR" pitchFamily="34" charset="0"/>
                          <a:ea typeface="IBM Plex Sans KR" pitchFamily="34" charset="-122"/>
                          <a:cs typeface="IBM Plex Sans KR" pitchFamily="34" charset="-120"/>
                        </a:rPr>
                        <a:t>오른쪽 (쿨)</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c>
                  <a:txBody>
                    <a:bodyPr/>
                    <a:lstStyle/>
                    <a:p>
                      <a:pPr indent="0" marL="0">
                        <a:lnSpc>
                          <a:spcPts val="1960"/>
                        </a:lnSpc>
                        <a:buNone/>
                      </a:pPr>
                      <a:r>
                        <a:rPr lang="en-US" sz="1400" dirty="0">
                          <a:solidFill>
                            <a:srgbClr val="2B231E"/>
                          </a:solidFill>
                          <a:latin typeface="IBM Plex Sans KR" pitchFamily="34" charset="0"/>
                          <a:ea typeface="IBM Plex Sans KR" pitchFamily="34" charset="-122"/>
                          <a:cs typeface="IBM Plex Sans KR" pitchFamily="34" charset="-120"/>
                        </a:rPr>
                        <a:t>#C7ABA5</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c>
                  <a:txBody>
                    <a:bodyPr/>
                    <a:lstStyle/>
                    <a:p>
                      <a:pPr indent="0" marL="0">
                        <a:lnSpc>
                          <a:spcPts val="1960"/>
                        </a:lnSpc>
                        <a:buNone/>
                      </a:pPr>
                      <a:r>
                        <a:rPr lang="en-US" sz="1400" dirty="0">
                          <a:solidFill>
                            <a:srgbClr val="2B231E"/>
                          </a:solidFill>
                          <a:latin typeface="IBM Plex Sans KR" pitchFamily="34" charset="0"/>
                          <a:ea typeface="IBM Plex Sans KR" pitchFamily="34" charset="-122"/>
                          <a:cs typeface="IBM Plex Sans KR" pitchFamily="34" charset="-120"/>
                        </a:rPr>
                        <a:t>7.0</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c>
                  <a:txBody>
                    <a:bodyPr/>
                    <a:lstStyle/>
                    <a:p>
                      <a:pPr indent="0" marL="0">
                        <a:lnSpc>
                          <a:spcPts val="1960"/>
                        </a:lnSpc>
                        <a:buNone/>
                      </a:pPr>
                      <a:r>
                        <a:rPr lang="en-US" sz="1400" dirty="0">
                          <a:solidFill>
                            <a:srgbClr val="2B231E"/>
                          </a:solidFill>
                          <a:latin typeface="IBM Plex Sans KR" pitchFamily="34" charset="0"/>
                          <a:ea typeface="IBM Plex Sans KR" pitchFamily="34" charset="-122"/>
                          <a:cs typeface="IBM Plex Sans KR" pitchFamily="34" charset="-120"/>
                        </a:rPr>
                        <a:t>쿨 99.7%</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r>
            </a:tbl>
          </a:graphicData>
        </a:graphic>
      </p:graphicFrame>
      <p:sp>
        <p:nvSpPr>
          <p:cNvPr id="19" name="Text 12"/>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B6E"/>
                </a:solidFill>
                <a:latin typeface="IBM Plex Sans KR" pitchFamily="34" charset="0"/>
                <a:ea typeface="IBM Plex Sans KR" pitchFamily="34" charset="-122"/>
                <a:cs typeface="IBM Plex Sans KR" pitchFamily="34" charset="-120"/>
              </a:rPr>
              <a:t>직접 분석한 결과 · 주황 = 분석한 피부</a:t>
            </a:r>
            <a:endParaRPr lang="en-US" sz="1200" dirty="0"/>
          </a:p>
        </p:txBody>
      </p:sp>
      <p:sp>
        <p:nvSpPr>
          <p:cNvPr id="20" name="Text 1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7B6E"/>
                </a:solidFill>
                <a:latin typeface="IBM Plex Sans KR" pitchFamily="34" charset="0"/>
                <a:ea typeface="IBM Plex Sans KR" pitchFamily="34" charset="-122"/>
                <a:cs typeface="IBM Plex Sans KR"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C6440"/>
                </a:solidFill>
                <a:latin typeface="IBM Plex Sans KR" pitchFamily="34" charset="0"/>
                <a:ea typeface="IBM Plex Sans KR" pitchFamily="34" charset="-122"/>
                <a:cs typeface="IBM Plex Sans KR" pitchFamily="34" charset="-120"/>
              </a:rPr>
              <a:t>AI ② 골격 · 사진 측정</a:t>
            </a:r>
            <a:endParaRPr lang="en-US" sz="1200" dirty="0"/>
          </a:p>
        </p:txBody>
      </p:sp>
      <p:sp>
        <p:nvSpPr>
          <p:cNvPr id="3" name="Text 1"/>
          <p:cNvSpPr/>
          <p:nvPr/>
        </p:nvSpPr>
        <p:spPr>
          <a:xfrm>
            <a:off x="812800" y="1127720"/>
            <a:ext cx="10883392" cy="513060"/>
          </a:xfrm>
          <a:prstGeom prst="rect">
            <a:avLst/>
          </a:prstGeom>
          <a:noFill/>
          <a:ln/>
        </p:spPr>
        <p:txBody>
          <a:bodyPr wrap="square" lIns="0" tIns="0" rIns="0" bIns="0" rtlCol="0" anchor="t">
            <a:normAutofit/>
          </a:bodyPr>
          <a:lstStyle/>
          <a:p>
            <a:pPr algn="l" indent="0" marL="0">
              <a:lnSpc>
                <a:spcPts val="3840"/>
              </a:lnSpc>
              <a:buNone/>
            </a:pPr>
            <a:r>
              <a:rPr lang="en-US" sz="3200" b="1" dirty="0">
                <a:solidFill>
                  <a:srgbClr val="2B231E"/>
                </a:solidFill>
                <a:latin typeface="Noto Serif KR" pitchFamily="18" charset="0"/>
                <a:ea typeface="Noto Serif KR" pitchFamily="18" charset="-122"/>
                <a:cs typeface="Noto Serif KR" pitchFamily="18" charset="-120"/>
              </a:rPr>
              <a:t>관절을 찾고 몸의 폭을 직접 측정했습니다</a:t>
            </a:r>
            <a:endParaRPr lang="en-US" sz="3200" dirty="0"/>
          </a:p>
        </p:txBody>
      </p:sp>
      <p:sp>
        <p:nvSpPr>
          <p:cNvPr id="4" name="Shape 2"/>
          <p:cNvSpPr/>
          <p:nvPr/>
        </p:nvSpPr>
        <p:spPr>
          <a:xfrm>
            <a:off x="812800" y="1869380"/>
            <a:ext cx="1333500" cy="3594100"/>
          </a:xfrm>
          <a:prstGeom prst="roundRect">
            <a:avLst>
              <a:gd name="adj" fmla="val 7619"/>
            </a:avLst>
          </a:prstGeom>
          <a:solidFill>
            <a:srgbClr val="E9E1D6"/>
          </a:solidFill>
          <a:ln/>
        </p:spPr>
      </p:sp>
      <p:pic>
        <p:nvPicPr>
          <p:cNvPr id="5" name="Image 0" descr="웨이브 예시 전신 사진에 관절과 어깨·허리·골반·허벅지 측정선을 그린 이미지">    </p:cNvPr>
          <p:cNvPicPr>
            <a:picLocks noChangeAspect="1"/>
          </p:cNvPicPr>
          <p:nvPr/>
        </p:nvPicPr>
        <p:blipFill>
          <a:blip r:embed="rId1"/>
          <a:srcRect l="-9" r="-9" t="0" b="0"/>
          <a:stretch/>
        </p:blipFill>
        <p:spPr>
          <a:xfrm>
            <a:off x="812800" y="1869380"/>
            <a:ext cx="1333500" cy="3594100"/>
          </a:xfrm>
          <a:prstGeom prst="roundRect">
            <a:avLst>
              <a:gd name="adj" fmla="val 7619"/>
            </a:avLst>
          </a:prstGeom>
        </p:spPr>
      </p:pic>
      <p:sp>
        <p:nvSpPr>
          <p:cNvPr id="6" name="Text 3"/>
          <p:cNvSpPr/>
          <p:nvPr/>
        </p:nvSpPr>
        <p:spPr>
          <a:xfrm>
            <a:off x="1050092" y="5526980"/>
            <a:ext cx="858917"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B231E"/>
                </a:solidFill>
                <a:latin typeface="IBM Plex Sans KR" pitchFamily="34" charset="0"/>
                <a:ea typeface="IBM Plex Sans KR" pitchFamily="34" charset="-122"/>
                <a:cs typeface="IBM Plex Sans KR" pitchFamily="34" charset="-120"/>
              </a:rPr>
              <a:t>웨이브 예시</a:t>
            </a:r>
            <a:endParaRPr lang="en-US" sz="1200" dirty="0"/>
          </a:p>
        </p:txBody>
      </p:sp>
      <p:sp>
        <p:nvSpPr>
          <p:cNvPr id="7" name="Shape 4"/>
          <p:cNvSpPr/>
          <p:nvPr/>
        </p:nvSpPr>
        <p:spPr>
          <a:xfrm>
            <a:off x="2273300" y="1869380"/>
            <a:ext cx="1333500" cy="3594100"/>
          </a:xfrm>
          <a:prstGeom prst="roundRect">
            <a:avLst>
              <a:gd name="adj" fmla="val 7619"/>
            </a:avLst>
          </a:prstGeom>
          <a:solidFill>
            <a:srgbClr val="E9E1D6"/>
          </a:solidFill>
          <a:ln/>
        </p:spPr>
      </p:sp>
      <p:pic>
        <p:nvPicPr>
          <p:cNvPr id="8" name="Image 1" descr="스트레이트 예시 전신 사진에 관절과 측정선을 그린 이미지">    </p:cNvPr>
          <p:cNvPicPr>
            <a:picLocks noChangeAspect="1"/>
          </p:cNvPicPr>
          <p:nvPr/>
        </p:nvPicPr>
        <p:blipFill>
          <a:blip r:embed="rId2"/>
          <a:stretch>
            <a:fillRect/>
          </a:stretch>
        </p:blipFill>
        <p:spPr>
          <a:xfrm>
            <a:off x="2273300" y="1887196"/>
            <a:ext cx="1333500" cy="3558469"/>
          </a:xfrm>
          <a:custGeom>
            <a:avLst/>
            <a:gdLst/>
            <a:ahLst/>
            <a:cxnLst/>
            <a:rect l="l" t="t" r="r" b="b"/>
            <a:pathLst>
              <a:path w="1333500" h="3558469">
                <a:moveTo>
                  <a:pt x="0" y="83785"/>
                </a:moveTo>
                <a:arcTo wR="101600" hR="101600" stAng="10800000" swAng="3333198"/>
                <a:lnTo>
                  <a:pt x="1289369" y="0"/>
                </a:lnTo>
                <a:arcTo wR="101600" hR="101600" stAng="18266802" swAng="3333198"/>
                <a:lnTo>
                  <a:pt x="1333500" y="3474685"/>
                </a:lnTo>
                <a:arcTo wR="101600" hR="101600" stAng="0" swAng="3333198"/>
                <a:lnTo>
                  <a:pt x="44131" y="3558469"/>
                </a:lnTo>
                <a:arcTo wR="101600" hR="101600" stAng="7466802" swAng="3333198"/>
                <a:close/>
              </a:path>
            </a:pathLst>
          </a:custGeom>
        </p:spPr>
      </p:pic>
      <p:sp>
        <p:nvSpPr>
          <p:cNvPr id="9" name="Text 5"/>
          <p:cNvSpPr/>
          <p:nvPr/>
        </p:nvSpPr>
        <p:spPr>
          <a:xfrm>
            <a:off x="2347476" y="5526980"/>
            <a:ext cx="1185148"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B231E"/>
                </a:solidFill>
                <a:latin typeface="IBM Plex Sans KR" pitchFamily="34" charset="0"/>
                <a:ea typeface="IBM Plex Sans KR" pitchFamily="34" charset="-122"/>
                <a:cs typeface="IBM Plex Sans KR" pitchFamily="34" charset="-120"/>
              </a:rPr>
              <a:t>스트레이트 예시</a:t>
            </a:r>
            <a:endParaRPr lang="en-US" sz="1200" dirty="0"/>
          </a:p>
        </p:txBody>
      </p:sp>
      <p:sp>
        <p:nvSpPr>
          <p:cNvPr id="10" name="Text 6"/>
          <p:cNvSpPr/>
          <p:nvPr/>
        </p:nvSpPr>
        <p:spPr>
          <a:xfrm>
            <a:off x="3911600" y="1869380"/>
            <a:ext cx="7691628"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5B4E44"/>
                </a:solidFill>
                <a:latin typeface="IBM Plex Sans KR" pitchFamily="34" charset="0"/>
                <a:ea typeface="IBM Plex Sans KR" pitchFamily="34" charset="-122"/>
                <a:cs typeface="IBM Plex Sans KR" pitchFamily="34" charset="-120"/>
              </a:rPr>
              <a:t>관절 검출 → 팔 제거 → </a:t>
            </a:r>
            <a:r>
              <a:rPr lang="en-US" sz="1400" dirty="0">
                <a:solidFill>
                  <a:srgbClr val="2E6FB0"/>
                </a:solidFill>
                <a:latin typeface="IBM Plex Sans KR" pitchFamily="34" charset="0"/>
                <a:ea typeface="IBM Plex Sans KR" pitchFamily="34" charset="-122"/>
                <a:cs typeface="IBM Plex Sans KR" pitchFamily="34" charset="-120"/>
              </a:rPr>
              <a:t>어깨</a:t>
            </a:r>
            <a:r>
              <a:rPr lang="en-US" sz="1400" dirty="0">
                <a:solidFill>
                  <a:srgbClr val="5B4E44"/>
                </a:solidFill>
                <a:latin typeface="IBM Plex Sans KR" pitchFamily="34" charset="0"/>
                <a:ea typeface="IBM Plex Sans KR" pitchFamily="34" charset="-122"/>
                <a:cs typeface="IBM Plex Sans KR" pitchFamily="34" charset="-120"/>
              </a:rPr>
              <a:t>·</a:t>
            </a:r>
            <a:r>
              <a:rPr lang="en-US" sz="1400" dirty="0">
                <a:solidFill>
                  <a:srgbClr val="3C8C3C"/>
                </a:solidFill>
                <a:latin typeface="IBM Plex Sans KR" pitchFamily="34" charset="0"/>
                <a:ea typeface="IBM Plex Sans KR" pitchFamily="34" charset="-122"/>
                <a:cs typeface="IBM Plex Sans KR" pitchFamily="34" charset="-120"/>
              </a:rPr>
              <a:t>허리</a:t>
            </a:r>
            <a:r>
              <a:rPr lang="en-US" sz="1400" dirty="0">
                <a:solidFill>
                  <a:srgbClr val="5B4E44"/>
                </a:solidFill>
                <a:latin typeface="IBM Plex Sans KR" pitchFamily="34" charset="0"/>
                <a:ea typeface="IBM Plex Sans KR" pitchFamily="34" charset="-122"/>
                <a:cs typeface="IBM Plex Sans KR" pitchFamily="34" charset="-120"/>
              </a:rPr>
              <a:t>·</a:t>
            </a:r>
            <a:r>
              <a:rPr lang="en-US" sz="1400" dirty="0">
                <a:solidFill>
                  <a:srgbClr val="9A3F8C"/>
                </a:solidFill>
                <a:latin typeface="IBM Plex Sans KR" pitchFamily="34" charset="0"/>
                <a:ea typeface="IBM Plex Sans KR" pitchFamily="34" charset="-122"/>
                <a:cs typeface="IBM Plex Sans KR" pitchFamily="34" charset="-120"/>
              </a:rPr>
              <a:t>골반</a:t>
            </a:r>
            <a:r>
              <a:rPr lang="en-US" sz="1400" dirty="0">
                <a:solidFill>
                  <a:srgbClr val="5B4E44"/>
                </a:solidFill>
                <a:latin typeface="IBM Plex Sans KR" pitchFamily="34" charset="0"/>
                <a:ea typeface="IBM Plex Sans KR" pitchFamily="34" charset="-122"/>
                <a:cs typeface="IBM Plex Sans KR" pitchFamily="34" charset="-120"/>
              </a:rPr>
              <a:t>·</a:t>
            </a:r>
            <a:r>
              <a:rPr lang="en-US" sz="1400" dirty="0">
                <a:solidFill>
                  <a:srgbClr val="B07800"/>
                </a:solidFill>
                <a:latin typeface="IBM Plex Sans KR" pitchFamily="34" charset="0"/>
                <a:ea typeface="IBM Plex Sans KR" pitchFamily="34" charset="-122"/>
                <a:cs typeface="IBM Plex Sans KR" pitchFamily="34" charset="-120"/>
              </a:rPr>
              <a:t>허벅지</a:t>
            </a:r>
            <a:r>
              <a:rPr lang="en-US" sz="1400" dirty="0">
                <a:solidFill>
                  <a:srgbClr val="5B4E44"/>
                </a:solidFill>
                <a:latin typeface="IBM Plex Sans KR" pitchFamily="34" charset="0"/>
                <a:ea typeface="IBM Plex Sans KR" pitchFamily="34" charset="-122"/>
                <a:cs typeface="IBM Plex Sans KR" pitchFamily="34" charset="-120"/>
              </a:rPr>
              <a:t> 폭 측정</a:t>
            </a:r>
            <a:endParaRPr lang="en-US" sz="1400" dirty="0"/>
          </a:p>
        </p:txBody>
      </p:sp>
      <p:sp>
        <p:nvSpPr>
          <p:cNvPr id="11" name="Shape 7"/>
          <p:cNvSpPr/>
          <p:nvPr/>
        </p:nvSpPr>
        <p:spPr>
          <a:xfrm>
            <a:off x="3911600" y="2288480"/>
            <a:ext cx="7467600" cy="1556544"/>
          </a:xfrm>
          <a:prstGeom prst="rect">
            <a:avLst/>
          </a:prstGeom>
          <a:solidFill>
            <a:srgbClr val="FFFCF7"/>
          </a:solidFill>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924300" y="2301180"/>
          <a:ext cx="7454900" cy="1543844"/>
        </p:xfrm>
        <a:graphic>
          <a:graphicData uri="http://schemas.openxmlformats.org/drawingml/2006/table">
            <a:tbl>
              <a:tblPr/>
              <a:tblGrid>
                <a:gridCol w="2981960"/>
                <a:gridCol w="2236470"/>
                <a:gridCol w="2236470"/>
              </a:tblGrid>
              <a:tr h="385961">
                <a:tc>
                  <a:txBody>
                    <a:bodyPr/>
                    <a:lstStyle/>
                    <a:p>
                      <a:pPr indent="0" marL="0">
                        <a:lnSpc>
                          <a:spcPts val="1960"/>
                        </a:lnSpc>
                        <a:buNone/>
                      </a:pPr>
                      <a:r>
                        <a:rPr lang="en-US" sz="1400" b="1" dirty="0">
                          <a:solidFill>
                            <a:srgbClr val="2B231E"/>
                          </a:solidFill>
                          <a:latin typeface="IBM Plex Sans KR" pitchFamily="34" charset="0"/>
                          <a:ea typeface="IBM Plex Sans KR" pitchFamily="34" charset="-122"/>
                          <a:cs typeface="IBM Plex Sans KR" pitchFamily="34" charset="-120"/>
                        </a:rPr>
                        <a:t>비율</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BC9C5"/>
                      </a:solidFill>
                      <a:prstDash val="solid"/>
                      <a:round/>
                      <a:headEnd type="none" w="med" len="med"/>
                      <a:tailEnd type="none" w="med" len="med"/>
                    </a:lnL>
                    <a:lnR w="12700" cap="flat" cmpd="sng" algn="ctr">
                      <a:solidFill>
                        <a:srgbClr val="BCBAB7"/>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BCBAB7"/>
                      </a:solidFill>
                      <a:prstDash val="solid"/>
                      <a:round/>
                      <a:headEnd type="none" w="med" len="med"/>
                      <a:tailEnd type="none" w="med" len="med"/>
                    </a:lnB>
                    <a:solidFill>
                      <a:srgbClr val="ECE9E5"/>
                    </a:solidFill>
                  </a:tcPr>
                </a:tc>
                <a:tc>
                  <a:txBody>
                    <a:bodyPr/>
                    <a:lstStyle/>
                    <a:p>
                      <a:pPr indent="0" marL="0">
                        <a:lnSpc>
                          <a:spcPts val="1960"/>
                        </a:lnSpc>
                        <a:buNone/>
                      </a:pPr>
                      <a:r>
                        <a:rPr lang="en-US" sz="1400" b="1" dirty="0">
                          <a:solidFill>
                            <a:srgbClr val="2B231E"/>
                          </a:solidFill>
                          <a:latin typeface="IBM Plex Sans KR" pitchFamily="34" charset="0"/>
                          <a:ea typeface="IBM Plex Sans KR" pitchFamily="34" charset="-122"/>
                          <a:cs typeface="IBM Plex Sans KR" pitchFamily="34" charset="-120"/>
                        </a:rPr>
                        <a:t>웨이브 예시</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CBAB7"/>
                      </a:solidFill>
                      <a:prstDash val="solid"/>
                      <a:round/>
                      <a:headEnd type="none" w="med" len="med"/>
                      <a:tailEnd type="none" w="med" len="med"/>
                    </a:lnL>
                    <a:lnR w="12700" cap="flat" cmpd="sng" algn="ctr">
                      <a:solidFill>
                        <a:srgbClr val="BCBAB7"/>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BCBAB7"/>
                      </a:solidFill>
                      <a:prstDash val="solid"/>
                      <a:round/>
                      <a:headEnd type="none" w="med" len="med"/>
                      <a:tailEnd type="none" w="med" len="med"/>
                    </a:lnB>
                    <a:solidFill>
                      <a:srgbClr val="ECE9E5"/>
                    </a:solidFill>
                  </a:tcPr>
                </a:tc>
                <a:tc>
                  <a:txBody>
                    <a:bodyPr/>
                    <a:lstStyle/>
                    <a:p>
                      <a:pPr indent="0" marL="0">
                        <a:lnSpc>
                          <a:spcPts val="1960"/>
                        </a:lnSpc>
                        <a:buNone/>
                      </a:pPr>
                      <a:r>
                        <a:rPr lang="en-US" sz="1400" b="1" dirty="0">
                          <a:solidFill>
                            <a:srgbClr val="2B231E"/>
                          </a:solidFill>
                          <a:latin typeface="IBM Plex Sans KR" pitchFamily="34" charset="0"/>
                          <a:ea typeface="IBM Plex Sans KR" pitchFamily="34" charset="-122"/>
                          <a:cs typeface="IBM Plex Sans KR" pitchFamily="34" charset="-120"/>
                        </a:rPr>
                        <a:t>스트레이트 예시</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CBAB7"/>
                      </a:solidFill>
                      <a:prstDash val="solid"/>
                      <a:round/>
                      <a:headEnd type="none" w="med" len="med"/>
                      <a:tailEnd type="none" w="med" len="med"/>
                    </a:lnL>
                    <a:lnR w="12700" cap="flat" cmpd="sng" algn="ctr">
                      <a:solidFill>
                        <a:srgbClr val="BCBAB7"/>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BCBAB7"/>
                      </a:solidFill>
                      <a:prstDash val="solid"/>
                      <a:round/>
                      <a:headEnd type="none" w="med" len="med"/>
                      <a:tailEnd type="none" w="med" len="med"/>
                    </a:lnB>
                    <a:solidFill>
                      <a:srgbClr val="ECE9E5"/>
                    </a:solidFill>
                  </a:tcPr>
                </a:tc>
              </a:tr>
              <a:tr h="385961">
                <a:tc>
                  <a:txBody>
                    <a:bodyPr/>
                    <a:lstStyle/>
                    <a:p>
                      <a:pPr indent="0" marL="0">
                        <a:lnSpc>
                          <a:spcPts val="1960"/>
                        </a:lnSpc>
                        <a:buNone/>
                      </a:pPr>
                      <a:r>
                        <a:rPr lang="en-US" sz="1400" dirty="0">
                          <a:solidFill>
                            <a:srgbClr val="2B231E"/>
                          </a:solidFill>
                          <a:latin typeface="IBM Plex Sans KR" pitchFamily="34" charset="0"/>
                          <a:ea typeface="IBM Plex Sans KR" pitchFamily="34" charset="-122"/>
                          <a:cs typeface="IBM Plex Sans KR" pitchFamily="34" charset="-120"/>
                        </a:rPr>
                        <a:t>어깨 / 골반</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BCBAB7"/>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c>
                  <a:txBody>
                    <a:bodyPr/>
                    <a:lstStyle/>
                    <a:p>
                      <a:pPr indent="0" marL="0">
                        <a:lnSpc>
                          <a:spcPts val="1960"/>
                        </a:lnSpc>
                        <a:buNone/>
                      </a:pPr>
                      <a:r>
                        <a:rPr lang="en-US" sz="1400" dirty="0">
                          <a:solidFill>
                            <a:srgbClr val="2B231E"/>
                          </a:solidFill>
                          <a:latin typeface="IBM Plex Sans KR" pitchFamily="34" charset="0"/>
                          <a:ea typeface="IBM Plex Sans KR" pitchFamily="34" charset="-122"/>
                          <a:cs typeface="IBM Plex Sans KR" pitchFamily="34" charset="-120"/>
                        </a:rPr>
                        <a:t>1.059</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BCBAB7"/>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c>
                  <a:txBody>
                    <a:bodyPr/>
                    <a:lstStyle/>
                    <a:p>
                      <a:pPr indent="0" marL="0">
                        <a:lnSpc>
                          <a:spcPts val="1960"/>
                        </a:lnSpc>
                        <a:buNone/>
                      </a:pPr>
                      <a:r>
                        <a:rPr lang="en-US" sz="1400" dirty="0">
                          <a:solidFill>
                            <a:srgbClr val="2B231E"/>
                          </a:solidFill>
                          <a:latin typeface="IBM Plex Sans KR" pitchFamily="34" charset="0"/>
                          <a:ea typeface="IBM Plex Sans KR" pitchFamily="34" charset="-122"/>
                          <a:cs typeface="IBM Plex Sans KR" pitchFamily="34" charset="-120"/>
                        </a:rPr>
                        <a:t>1.122</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BCBAB7"/>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r>
              <a:tr h="385961">
                <a:tc>
                  <a:txBody>
                    <a:bodyPr/>
                    <a:lstStyle/>
                    <a:p>
                      <a:pPr indent="0" marL="0">
                        <a:lnSpc>
                          <a:spcPts val="1960"/>
                        </a:lnSpc>
                        <a:buNone/>
                      </a:pPr>
                      <a:r>
                        <a:rPr lang="en-US" sz="1400" dirty="0">
                          <a:solidFill>
                            <a:srgbClr val="2B231E"/>
                          </a:solidFill>
                          <a:latin typeface="IBM Plex Sans KR" pitchFamily="34" charset="0"/>
                          <a:ea typeface="IBM Plex Sans KR" pitchFamily="34" charset="-122"/>
                          <a:cs typeface="IBM Plex Sans KR" pitchFamily="34" charset="-120"/>
                        </a:rPr>
                        <a:t>허리 / 골반</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c>
                  <a:txBody>
                    <a:bodyPr/>
                    <a:lstStyle/>
                    <a:p>
                      <a:pPr indent="0" marL="0">
                        <a:lnSpc>
                          <a:spcPts val="1960"/>
                        </a:lnSpc>
                        <a:buNone/>
                      </a:pPr>
                      <a:r>
                        <a:rPr lang="en-US" sz="1400" dirty="0">
                          <a:solidFill>
                            <a:srgbClr val="2B231E"/>
                          </a:solidFill>
                          <a:latin typeface="IBM Plex Sans KR" pitchFamily="34" charset="0"/>
                          <a:ea typeface="IBM Plex Sans KR" pitchFamily="34" charset="-122"/>
                          <a:cs typeface="IBM Plex Sans KR" pitchFamily="34" charset="-120"/>
                        </a:rPr>
                        <a:t>0.642</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c>
                  <a:txBody>
                    <a:bodyPr/>
                    <a:lstStyle/>
                    <a:p>
                      <a:pPr indent="0" marL="0">
                        <a:lnSpc>
                          <a:spcPts val="1960"/>
                        </a:lnSpc>
                        <a:buNone/>
                      </a:pPr>
                      <a:r>
                        <a:rPr lang="en-US" sz="1400" dirty="0">
                          <a:solidFill>
                            <a:srgbClr val="2B231E"/>
                          </a:solidFill>
                          <a:latin typeface="IBM Plex Sans KR" pitchFamily="34" charset="0"/>
                          <a:ea typeface="IBM Plex Sans KR" pitchFamily="34" charset="-122"/>
                          <a:cs typeface="IBM Plex Sans KR" pitchFamily="34" charset="-120"/>
                        </a:rPr>
                        <a:t>0.827</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r>
              <a:tr h="385961">
                <a:tc>
                  <a:txBody>
                    <a:bodyPr/>
                    <a:lstStyle/>
                    <a:p>
                      <a:pPr indent="0" marL="0">
                        <a:lnSpc>
                          <a:spcPts val="1960"/>
                        </a:lnSpc>
                        <a:buNone/>
                      </a:pPr>
                      <a:r>
                        <a:rPr lang="en-US" sz="1400" dirty="0">
                          <a:solidFill>
                            <a:srgbClr val="2B231E"/>
                          </a:solidFill>
                          <a:latin typeface="IBM Plex Sans KR" pitchFamily="34" charset="0"/>
                          <a:ea typeface="IBM Plex Sans KR" pitchFamily="34" charset="-122"/>
                          <a:cs typeface="IBM Plex Sans KR" pitchFamily="34" charset="-120"/>
                        </a:rPr>
                        <a:t>사진 점수</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c>
                  <a:txBody>
                    <a:bodyPr/>
                    <a:lstStyle/>
                    <a:p>
                      <a:pPr indent="0" marL="0">
                        <a:lnSpc>
                          <a:spcPts val="1960"/>
                        </a:lnSpc>
                        <a:buNone/>
                      </a:pPr>
                      <a:r>
                        <a:rPr lang="en-US" sz="1400" dirty="0">
                          <a:solidFill>
                            <a:srgbClr val="2B231E"/>
                          </a:solidFill>
                          <a:latin typeface="IBM Plex Sans KR" pitchFamily="34" charset="0"/>
                          <a:ea typeface="IBM Plex Sans KR" pitchFamily="34" charset="-122"/>
                          <a:cs typeface="IBM Plex Sans KR" pitchFamily="34" charset="-120"/>
                        </a:rPr>
                        <a:t>91% 웨이브 쪽</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c>
                  <a:txBody>
                    <a:bodyPr/>
                    <a:lstStyle/>
                    <a:p>
                      <a:pPr indent="0" marL="0">
                        <a:lnSpc>
                          <a:spcPts val="1960"/>
                        </a:lnSpc>
                        <a:buNone/>
                      </a:pPr>
                      <a:r>
                        <a:rPr lang="en-US" sz="1400" dirty="0">
                          <a:solidFill>
                            <a:srgbClr val="2B231E"/>
                          </a:solidFill>
                          <a:latin typeface="IBM Plex Sans KR" pitchFamily="34" charset="0"/>
                          <a:ea typeface="IBM Plex Sans KR" pitchFamily="34" charset="-122"/>
                          <a:cs typeface="IBM Plex Sans KR" pitchFamily="34" charset="-120"/>
                        </a:rPr>
                        <a:t>42% 웨이브 아님</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r>
            </a:tbl>
          </a:graphicData>
        </a:graphic>
      </p:graphicFrame>
      <p:sp>
        <p:nvSpPr>
          <p:cNvPr id="13" name="Text 8"/>
          <p:cNvSpPr/>
          <p:nvPr/>
        </p:nvSpPr>
        <p:spPr>
          <a:xfrm>
            <a:off x="3911600" y="3997424"/>
            <a:ext cx="7691628"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5B4E44"/>
                </a:solidFill>
                <a:latin typeface="IBM Plex Sans KR" pitchFamily="34" charset="0"/>
                <a:ea typeface="IBM Plex Sans KR" pitchFamily="34" charset="-122"/>
                <a:cs typeface="IBM Plex Sans KR" pitchFamily="34" charset="-120"/>
              </a:rPr>
              <a:t>측정 흔들림 해결: 한 장을 </a:t>
            </a:r>
            <a:r>
              <a:rPr lang="en-US" sz="1400" b="1" dirty="0">
                <a:solidFill>
                  <a:srgbClr val="5B4E44"/>
                </a:solidFill>
                <a:latin typeface="IBM Plex Sans KR" pitchFamily="34" charset="0"/>
                <a:ea typeface="IBM Plex Sans KR" pitchFamily="34" charset="-122"/>
                <a:cs typeface="IBM Plex Sans KR" pitchFamily="34" charset="-120"/>
              </a:rPr>
              <a:t>6번 재서 평균</a:t>
            </a:r>
            <a:endParaRPr lang="en-US" sz="1400" dirty="0"/>
          </a:p>
        </p:txBody>
      </p:sp>
      <p:sp>
        <p:nvSpPr>
          <p:cNvPr id="14"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7B6E"/>
                </a:solidFill>
                <a:latin typeface="IBM Plex Sans KR" pitchFamily="34" charset="0"/>
                <a:ea typeface="IBM Plex Sans KR" pitchFamily="34" charset="-122"/>
                <a:cs typeface="IBM Plex Sans KR"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621"/>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C6440"/>
                </a:solidFill>
                <a:latin typeface="IBM Plex Sans KR" pitchFamily="34" charset="0"/>
                <a:ea typeface="IBM Plex Sans KR" pitchFamily="34" charset="-122"/>
                <a:cs typeface="IBM Plex Sans KR" pitchFamily="34" charset="-120"/>
              </a:rPr>
              <a:t>핵심 코드</a:t>
            </a:r>
            <a:endParaRPr lang="en-US" sz="1200" dirty="0"/>
          </a:p>
        </p:txBody>
      </p:sp>
      <p:sp>
        <p:nvSpPr>
          <p:cNvPr id="3" name="Text 1"/>
          <p:cNvSpPr/>
          <p:nvPr/>
        </p:nvSpPr>
        <p:spPr>
          <a:xfrm>
            <a:off x="812800" y="1127621"/>
            <a:ext cx="10883392" cy="512762"/>
          </a:xfrm>
          <a:prstGeom prst="rect">
            <a:avLst/>
          </a:prstGeom>
          <a:noFill/>
          <a:ln/>
        </p:spPr>
        <p:txBody>
          <a:bodyPr wrap="square" lIns="0" tIns="0" rIns="0" bIns="0" rtlCol="0" anchor="t">
            <a:normAutofit/>
          </a:bodyPr>
          <a:lstStyle/>
          <a:p>
            <a:pPr algn="l" indent="0" marL="0">
              <a:lnSpc>
                <a:spcPts val="3840"/>
              </a:lnSpc>
              <a:buNone/>
            </a:pPr>
            <a:r>
              <a:rPr lang="en-US" sz="3200" b="1" dirty="0">
                <a:solidFill>
                  <a:srgbClr val="2B231E"/>
                </a:solidFill>
                <a:latin typeface="Noto Serif KR" pitchFamily="18" charset="0"/>
                <a:ea typeface="Noto Serif KR" pitchFamily="18" charset="-122"/>
                <a:cs typeface="Noto Serif KR" pitchFamily="18" charset="-120"/>
              </a:rPr>
              <a:t>세 가지 핵심 로직을 직접 구현했습니다</a:t>
            </a:r>
            <a:endParaRPr lang="en-US" sz="3200" dirty="0"/>
          </a:p>
        </p:txBody>
      </p:sp>
      <p:sp>
        <p:nvSpPr>
          <p:cNvPr id="4" name="Text 2"/>
          <p:cNvSpPr/>
          <p:nvPr/>
        </p:nvSpPr>
        <p:spPr>
          <a:xfrm>
            <a:off x="812800" y="1818184"/>
            <a:ext cx="1503998"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9C6440"/>
                </a:solidFill>
                <a:latin typeface="IBM Plex Sans KR" pitchFamily="34" charset="0"/>
                <a:ea typeface="IBM Plex Sans KR" pitchFamily="34" charset="-122"/>
                <a:cs typeface="IBM Plex Sans KR" pitchFamily="34" charset="-120"/>
              </a:rPr>
              <a:t>① 퍼스널컬러 AI</a:t>
            </a:r>
            <a:endParaRPr lang="en-US" sz="1400" dirty="0"/>
          </a:p>
        </p:txBody>
      </p:sp>
      <p:sp>
        <p:nvSpPr>
          <p:cNvPr id="5" name="Text 3"/>
          <p:cNvSpPr/>
          <p:nvPr/>
        </p:nvSpPr>
        <p:spPr>
          <a:xfrm>
            <a:off x="3755033" y="1862634"/>
            <a:ext cx="480417" cy="203200"/>
          </a:xfrm>
          <a:prstGeom prst="rect">
            <a:avLst/>
          </a:prstGeom>
          <a:noFill/>
          <a:ln/>
        </p:spPr>
        <p:txBody>
          <a:bodyPr wrap="square" lIns="0" tIns="0" rIns="0" bIns="0" rtlCol="0" anchor="t">
            <a:normAutofit/>
          </a:bodyPr>
          <a:lstStyle/>
          <a:p>
            <a:pPr algn="r" indent="0" marL="0">
              <a:lnSpc>
                <a:spcPts val="1400"/>
              </a:lnSpc>
              <a:buNone/>
            </a:pPr>
            <a:r>
              <a:rPr lang="en-US" sz="1000" dirty="0">
                <a:solidFill>
                  <a:srgbClr val="8A7B6E"/>
                </a:solidFill>
                <a:latin typeface="IBM Plex Sans KR" pitchFamily="34" charset="0"/>
                <a:ea typeface="IBM Plex Sans KR" pitchFamily="34" charset="-122"/>
                <a:cs typeface="IBM Plex Sans KR" pitchFamily="34" charset="-120"/>
              </a:rPr>
              <a:t>Python</a:t>
            </a:r>
            <a:endParaRPr lang="en-US" sz="1000" dirty="0"/>
          </a:p>
        </p:txBody>
      </p:sp>
      <p:sp>
        <p:nvSpPr>
          <p:cNvPr id="6" name="Text 4"/>
          <p:cNvSpPr/>
          <p:nvPr/>
        </p:nvSpPr>
        <p:spPr>
          <a:xfrm>
            <a:off x="812800" y="2173784"/>
            <a:ext cx="3422650" cy="1625600"/>
          </a:xfrm>
          <a:prstGeom prst="roundRect">
            <a:avLst>
              <a:gd name="adj" fmla="val 6250"/>
            </a:avLst>
          </a:prstGeom>
          <a:solidFill>
            <a:srgbClr val="3A2F28"/>
          </a:solidFill>
          <a:ln/>
        </p:spPr>
        <p:txBody>
          <a:bodyPr wrap="none" lIns="109942" tIns="97242" rIns="15645" bIns="71842" rtlCol="0" anchor="t">
            <a:normAutofit/>
          </a:bodyPr>
          <a:lstStyle/>
          <a:p>
            <a:pPr algn="l" indent="0" marL="0">
              <a:lnSpc>
                <a:spcPts val="1760"/>
              </a:lnSpc>
              <a:buNone/>
            </a:pPr>
            <a:r>
              <a:rPr lang="en-US" sz="1100" dirty="0">
                <a:solidFill>
                  <a:srgbClr val="F6F1EA"/>
                </a:solidFill>
                <a:latin typeface="JetBrains Mono" pitchFamily="49" charset="0"/>
                <a:ea typeface="JetBrains Mono" pitchFamily="49" charset="-122"/>
                <a:cs typeface="JetBrains Mono" pitchFamily="49" charset="-120"/>
              </a:rPr>
              <a:t>model = Pipeline([</a:t>
            </a:r>
            <a:endParaRPr lang="en-US" sz="1100" dirty="0"/>
          </a:p>
          <a:p>
            <a:pPr algn="l" indent="0" marL="0">
              <a:lnSpc>
                <a:spcPts val="1760"/>
              </a:lnSpc>
              <a:buNone/>
            </a:pPr>
            <a:r>
              <a:rPr lang="en-US" sz="1100" dirty="0">
                <a:solidFill>
                  <a:srgbClr val="F6F1EA"/>
                </a:solidFill>
                <a:latin typeface="JetBrains Mono" pitchFamily="49" charset="0"/>
                <a:ea typeface="JetBrains Mono" pitchFamily="49" charset="-122"/>
                <a:cs typeface="JetBrains Mono" pitchFamily="49" charset="-120"/>
              </a:rPr>
              <a:t>  </a:t>
            </a:r>
            <a:r>
              <a:rPr lang="en-US" sz="1100" b="1" dirty="0">
                <a:solidFill>
                  <a:srgbClr val="F2D3AE"/>
                </a:solidFill>
                <a:latin typeface="JetBrains Mono" pitchFamily="49" charset="0"/>
                <a:ea typeface="JetBrains Mono" pitchFamily="49" charset="-122"/>
                <a:cs typeface="JetBrains Mono" pitchFamily="49" charset="-120"/>
              </a:rPr>
              <a:t>StandardScaler()</a:t>
            </a:r>
            <a:r>
              <a:rPr lang="en-US" sz="1100" dirty="0">
                <a:solidFill>
                  <a:srgbClr val="F6F1EA"/>
                </a:solidFill>
                <a:latin typeface="JetBrains Mono" pitchFamily="49" charset="0"/>
                <a:ea typeface="JetBrains Mono" pitchFamily="49" charset="-122"/>
                <a:cs typeface="JetBrains Mono" pitchFamily="49" charset="-120"/>
              </a:rPr>
              <a:t>,</a:t>
            </a:r>
            <a:endParaRPr lang="en-US" sz="1100" dirty="0"/>
          </a:p>
          <a:p>
            <a:pPr algn="l" indent="0" marL="0">
              <a:lnSpc>
                <a:spcPts val="1760"/>
              </a:lnSpc>
              <a:buNone/>
            </a:pPr>
            <a:r>
              <a:rPr lang="en-US" sz="1100" dirty="0">
                <a:solidFill>
                  <a:srgbClr val="F6F1EA"/>
                </a:solidFill>
                <a:latin typeface="JetBrains Mono" pitchFamily="49" charset="0"/>
                <a:ea typeface="JetBrains Mono" pitchFamily="49" charset="-122"/>
                <a:cs typeface="JetBrains Mono" pitchFamily="49" charset="-120"/>
              </a:rPr>
              <a:t>  </a:t>
            </a:r>
            <a:r>
              <a:rPr lang="en-US" sz="1100" b="1" dirty="0">
                <a:solidFill>
                  <a:srgbClr val="F2D3AE"/>
                </a:solidFill>
                <a:latin typeface="JetBrains Mono" pitchFamily="49" charset="0"/>
                <a:ea typeface="JetBrains Mono" pitchFamily="49" charset="-122"/>
                <a:cs typeface="JetBrains Mono" pitchFamily="49" charset="-120"/>
              </a:rPr>
              <a:t>LogisticRegression()</a:t>
            </a:r>
            <a:endParaRPr lang="en-US" sz="1100" dirty="0"/>
          </a:p>
          <a:p>
            <a:pPr algn="l" indent="0" marL="0">
              <a:lnSpc>
                <a:spcPts val="1760"/>
              </a:lnSpc>
              <a:buNone/>
            </a:pPr>
            <a:r>
              <a:rPr lang="en-US" sz="1100" dirty="0">
                <a:solidFill>
                  <a:srgbClr val="F6F1EA"/>
                </a:solidFill>
                <a:latin typeface="JetBrains Mono" pitchFamily="49" charset="0"/>
                <a:ea typeface="JetBrains Mono" pitchFamily="49" charset="-122"/>
                <a:cs typeface="JetBrains Mono" pitchFamily="49" charset="-120"/>
              </a:rPr>
              <a:t>])</a:t>
            </a:r>
            <a:endParaRPr lang="en-US" sz="1100" dirty="0"/>
          </a:p>
          <a:p>
            <a:pPr algn="l" indent="0" marL="0">
              <a:lnSpc>
                <a:spcPts val="1760"/>
              </a:lnSpc>
              <a:buNone/>
            </a:pPr>
            <a:r>
              <a:rPr lang="en-US" sz="1100" dirty="0">
                <a:solidFill>
                  <a:srgbClr val="F6F1EA"/>
                </a:solidFill>
                <a:latin typeface="JetBrains Mono" pitchFamily="49" charset="0"/>
                <a:ea typeface="JetBrains Mono" pitchFamily="49" charset="-122"/>
                <a:cs typeface="JetBrains Mono" pitchFamily="49" charset="-120"/>
              </a:rPr>
              <a:t>model.fit(X_train, y_train)</a:t>
            </a:r>
            <a:endParaRPr lang="en-US" sz="1100" dirty="0"/>
          </a:p>
          <a:p>
            <a:pPr algn="l" indent="0" marL="0">
              <a:lnSpc>
                <a:spcPts val="1760"/>
              </a:lnSpc>
              <a:buNone/>
            </a:pPr>
            <a:r>
              <a:rPr lang="en-US" sz="1100" dirty="0">
                <a:solidFill>
                  <a:srgbClr val="F6F1EA"/>
                </a:solidFill>
                <a:latin typeface="JetBrains Mono" pitchFamily="49" charset="0"/>
                <a:ea typeface="JetBrains Mono" pitchFamily="49" charset="-122"/>
                <a:cs typeface="JetBrains Mono" pitchFamily="49" charset="-120"/>
              </a:rPr>
              <a:t>prob = model.</a:t>
            </a:r>
            <a:r>
              <a:rPr lang="en-US" sz="1100" b="1" dirty="0">
                <a:solidFill>
                  <a:srgbClr val="F2D3AE"/>
                </a:solidFill>
                <a:latin typeface="JetBrains Mono" pitchFamily="49" charset="0"/>
                <a:ea typeface="JetBrains Mono" pitchFamily="49" charset="-122"/>
                <a:cs typeface="JetBrains Mono" pitchFamily="49" charset="-120"/>
              </a:rPr>
              <a:t>predict_proba</a:t>
            </a:r>
            <a:r>
              <a:rPr lang="en-US" sz="1100" dirty="0">
                <a:solidFill>
                  <a:srgbClr val="F6F1EA"/>
                </a:solidFill>
                <a:latin typeface="JetBrains Mono" pitchFamily="49" charset="0"/>
                <a:ea typeface="JetBrains Mono" pitchFamily="49" charset="-122"/>
                <a:cs typeface="JetBrains Mono" pitchFamily="49" charset="-120"/>
              </a:rPr>
              <a:t>(X)</a:t>
            </a:r>
            <a:endParaRPr lang="en-US" sz="1100" dirty="0"/>
          </a:p>
        </p:txBody>
      </p:sp>
      <p:sp>
        <p:nvSpPr>
          <p:cNvPr id="7" name="Text 5"/>
          <p:cNvSpPr/>
          <p:nvPr/>
        </p:nvSpPr>
        <p:spPr>
          <a:xfrm>
            <a:off x="812800" y="3888284"/>
            <a:ext cx="3525330" cy="635000"/>
          </a:xfrm>
          <a:prstGeom prst="rect">
            <a:avLst/>
          </a:prstGeom>
          <a:noFill/>
          <a:ln/>
        </p:spPr>
        <p:txBody>
          <a:bodyPr wrap="square" lIns="0" tIns="0" rIns="0" bIns="0" rtlCol="0" anchor="t">
            <a:normAutofit/>
          </a:bodyPr>
          <a:lstStyle/>
          <a:p>
            <a:pPr algn="l" indent="0" marL="0">
              <a:lnSpc>
                <a:spcPts val="1523"/>
              </a:lnSpc>
              <a:buNone/>
            </a:pPr>
            <a:r>
              <a:rPr lang="en-US" sz="1050" b="1" dirty="0">
                <a:solidFill>
                  <a:srgbClr val="7A4A2A"/>
                </a:solidFill>
                <a:latin typeface="IBM Plex Sans KR" pitchFamily="34" charset="0"/>
                <a:ea typeface="IBM Plex Sans KR" pitchFamily="34" charset="-122"/>
                <a:cs typeface="IBM Plex Sans KR" pitchFamily="34" charset="-120"/>
              </a:rPr>
              <a:t>StandardScaler()</a:t>
            </a:r>
            <a:r>
              <a:rPr lang="en-US" sz="1050" dirty="0">
                <a:solidFill>
                  <a:srgbClr val="3E342D"/>
                </a:solidFill>
                <a:latin typeface="IBM Plex Sans KR" pitchFamily="34" charset="0"/>
                <a:ea typeface="IBM Plex Sans KR" pitchFamily="34" charset="-122"/>
                <a:cs typeface="IBM Plex Sans KR" pitchFamily="34" charset="-120"/>
              </a:rPr>
              <a:t>:</a:t>
            </a:r>
            <a:endParaRPr lang="en-US" sz="1050" dirty="0"/>
          </a:p>
          <a:p>
            <a:pPr algn="l" indent="0" marL="0">
              <a:lnSpc>
                <a:spcPts val="1523"/>
              </a:lnSpc>
              <a:buNone/>
            </a:pPr>
            <a:r>
              <a:rPr lang="en-US" sz="1050" dirty="0">
                <a:solidFill>
                  <a:srgbClr val="3E342D"/>
                </a:solidFill>
                <a:latin typeface="IBM Plex Sans KR" pitchFamily="34" charset="0"/>
                <a:ea typeface="IBM Plex Sans KR" pitchFamily="34" charset="-122"/>
                <a:cs typeface="IBM Plex Sans KR" pitchFamily="34" charset="-120"/>
              </a:rPr>
              <a:t>단위가 다른 피부색 숫자 9개의 크기를 맞출 때 사용</a:t>
            </a:r>
            <a:endParaRPr lang="en-US" sz="1050" dirty="0"/>
          </a:p>
        </p:txBody>
      </p:sp>
      <p:sp>
        <p:nvSpPr>
          <p:cNvPr id="8" name="Text 6"/>
          <p:cNvSpPr/>
          <p:nvPr/>
        </p:nvSpPr>
        <p:spPr>
          <a:xfrm>
            <a:off x="812800" y="4561384"/>
            <a:ext cx="3525330" cy="635000"/>
          </a:xfrm>
          <a:prstGeom prst="rect">
            <a:avLst/>
          </a:prstGeom>
          <a:noFill/>
          <a:ln/>
        </p:spPr>
        <p:txBody>
          <a:bodyPr wrap="square" lIns="0" tIns="0" rIns="0" bIns="0" rtlCol="0" anchor="t">
            <a:normAutofit/>
          </a:bodyPr>
          <a:lstStyle/>
          <a:p>
            <a:pPr algn="l" indent="0" marL="0">
              <a:lnSpc>
                <a:spcPts val="1523"/>
              </a:lnSpc>
              <a:buNone/>
            </a:pPr>
            <a:r>
              <a:rPr lang="en-US" sz="1050" b="1" dirty="0">
                <a:solidFill>
                  <a:srgbClr val="7A4A2A"/>
                </a:solidFill>
                <a:latin typeface="IBM Plex Sans KR" pitchFamily="34" charset="0"/>
                <a:ea typeface="IBM Plex Sans KR" pitchFamily="34" charset="-122"/>
                <a:cs typeface="IBM Plex Sans KR" pitchFamily="34" charset="-120"/>
              </a:rPr>
              <a:t>LogisticRegression()</a:t>
            </a:r>
            <a:r>
              <a:rPr lang="en-US" sz="1050" dirty="0">
                <a:solidFill>
                  <a:srgbClr val="3E342D"/>
                </a:solidFill>
                <a:latin typeface="IBM Plex Sans KR" pitchFamily="34" charset="0"/>
                <a:ea typeface="IBM Plex Sans KR" pitchFamily="34" charset="-122"/>
                <a:cs typeface="IBM Plex Sans KR" pitchFamily="34" charset="-120"/>
              </a:rPr>
              <a:t>:</a:t>
            </a:r>
            <a:endParaRPr lang="en-US" sz="1050" dirty="0"/>
          </a:p>
          <a:p>
            <a:pPr algn="l" indent="0" marL="0">
              <a:lnSpc>
                <a:spcPts val="1523"/>
              </a:lnSpc>
              <a:buNone/>
            </a:pPr>
            <a:r>
              <a:rPr lang="en-US" sz="1050" dirty="0">
                <a:solidFill>
                  <a:srgbClr val="3E342D"/>
                </a:solidFill>
                <a:latin typeface="IBM Plex Sans KR" pitchFamily="34" charset="0"/>
                <a:ea typeface="IBM Plex Sans KR" pitchFamily="34" charset="-122"/>
                <a:cs typeface="IBM Plex Sans KR" pitchFamily="34" charset="-120"/>
              </a:rPr>
              <a:t>숫자 9개를 보고 웜·쿨로 나누는 모델. 데이터가 적어도 잘 작동</a:t>
            </a:r>
            <a:endParaRPr lang="en-US" sz="1050" dirty="0"/>
          </a:p>
        </p:txBody>
      </p:sp>
      <p:sp>
        <p:nvSpPr>
          <p:cNvPr id="9" name="Text 7"/>
          <p:cNvSpPr/>
          <p:nvPr/>
        </p:nvSpPr>
        <p:spPr>
          <a:xfrm>
            <a:off x="812800" y="5234484"/>
            <a:ext cx="3525330" cy="635000"/>
          </a:xfrm>
          <a:prstGeom prst="rect">
            <a:avLst/>
          </a:prstGeom>
          <a:noFill/>
          <a:ln/>
        </p:spPr>
        <p:txBody>
          <a:bodyPr wrap="square" lIns="0" tIns="0" rIns="0" bIns="0" rtlCol="0" anchor="t">
            <a:normAutofit/>
          </a:bodyPr>
          <a:lstStyle/>
          <a:p>
            <a:pPr algn="l" indent="0" marL="0">
              <a:lnSpc>
                <a:spcPts val="1523"/>
              </a:lnSpc>
              <a:buNone/>
            </a:pPr>
            <a:r>
              <a:rPr lang="en-US" sz="1050" b="1" dirty="0">
                <a:solidFill>
                  <a:srgbClr val="7A4A2A"/>
                </a:solidFill>
                <a:latin typeface="IBM Plex Sans KR" pitchFamily="34" charset="0"/>
                <a:ea typeface="IBM Plex Sans KR" pitchFamily="34" charset="-122"/>
                <a:cs typeface="IBM Plex Sans KR" pitchFamily="34" charset="-120"/>
              </a:rPr>
              <a:t>predict_proba</a:t>
            </a:r>
            <a:r>
              <a:rPr lang="en-US" sz="1050" dirty="0">
                <a:solidFill>
                  <a:srgbClr val="3E342D"/>
                </a:solidFill>
                <a:latin typeface="IBM Plex Sans KR" pitchFamily="34" charset="0"/>
                <a:ea typeface="IBM Plex Sans KR" pitchFamily="34" charset="-122"/>
                <a:cs typeface="IBM Plex Sans KR" pitchFamily="34" charset="-120"/>
              </a:rPr>
              <a:t>:</a:t>
            </a:r>
            <a:endParaRPr lang="en-US" sz="1050" dirty="0"/>
          </a:p>
          <a:p>
            <a:pPr algn="l" indent="0" marL="0">
              <a:lnSpc>
                <a:spcPts val="1523"/>
              </a:lnSpc>
              <a:buNone/>
            </a:pPr>
            <a:r>
              <a:rPr lang="en-US" sz="1050" dirty="0">
                <a:solidFill>
                  <a:srgbClr val="3E342D"/>
                </a:solidFill>
                <a:latin typeface="IBM Plex Sans KR" pitchFamily="34" charset="0"/>
                <a:ea typeface="IBM Plex Sans KR" pitchFamily="34" charset="-122"/>
                <a:cs typeface="IBM Plex Sans KR" pitchFamily="34" charset="-120"/>
              </a:rPr>
              <a:t>새 셀카가 오면 웜·쿨 확률을 계산 → "웜 89%"</a:t>
            </a:r>
            <a:endParaRPr lang="en-US" sz="1050" dirty="0"/>
          </a:p>
        </p:txBody>
      </p:sp>
      <p:sp>
        <p:nvSpPr>
          <p:cNvPr id="10" name="Text 8"/>
          <p:cNvSpPr/>
          <p:nvPr/>
        </p:nvSpPr>
        <p:spPr>
          <a:xfrm>
            <a:off x="4387850" y="1818184"/>
            <a:ext cx="933093"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9C6440"/>
                </a:solidFill>
                <a:latin typeface="IBM Plex Sans KR" pitchFamily="34" charset="0"/>
                <a:ea typeface="IBM Plex Sans KR" pitchFamily="34" charset="-122"/>
                <a:cs typeface="IBM Plex Sans KR" pitchFamily="34" charset="-120"/>
              </a:rPr>
              <a:t>② 골격 AI</a:t>
            </a:r>
            <a:endParaRPr lang="en-US" sz="1400" dirty="0"/>
          </a:p>
        </p:txBody>
      </p:sp>
      <p:sp>
        <p:nvSpPr>
          <p:cNvPr id="11" name="Text 9"/>
          <p:cNvSpPr/>
          <p:nvPr/>
        </p:nvSpPr>
        <p:spPr>
          <a:xfrm>
            <a:off x="7330083" y="1862634"/>
            <a:ext cx="480417" cy="203200"/>
          </a:xfrm>
          <a:prstGeom prst="rect">
            <a:avLst/>
          </a:prstGeom>
          <a:noFill/>
          <a:ln/>
        </p:spPr>
        <p:txBody>
          <a:bodyPr wrap="square" lIns="0" tIns="0" rIns="0" bIns="0" rtlCol="0" anchor="t">
            <a:normAutofit/>
          </a:bodyPr>
          <a:lstStyle/>
          <a:p>
            <a:pPr algn="r" indent="0" marL="0">
              <a:lnSpc>
                <a:spcPts val="1400"/>
              </a:lnSpc>
              <a:buNone/>
            </a:pPr>
            <a:r>
              <a:rPr lang="en-US" sz="1000" dirty="0">
                <a:solidFill>
                  <a:srgbClr val="8A7B6E"/>
                </a:solidFill>
                <a:latin typeface="IBM Plex Sans KR" pitchFamily="34" charset="0"/>
                <a:ea typeface="IBM Plex Sans KR" pitchFamily="34" charset="-122"/>
                <a:cs typeface="IBM Plex Sans KR" pitchFamily="34" charset="-120"/>
              </a:rPr>
              <a:t>Python</a:t>
            </a:r>
            <a:endParaRPr lang="en-US" sz="1000" dirty="0"/>
          </a:p>
        </p:txBody>
      </p:sp>
      <p:sp>
        <p:nvSpPr>
          <p:cNvPr id="12" name="Text 10"/>
          <p:cNvSpPr/>
          <p:nvPr/>
        </p:nvSpPr>
        <p:spPr>
          <a:xfrm>
            <a:off x="4387850" y="2173784"/>
            <a:ext cx="3422650" cy="1625600"/>
          </a:xfrm>
          <a:prstGeom prst="roundRect">
            <a:avLst>
              <a:gd name="adj" fmla="val 6250"/>
            </a:avLst>
          </a:prstGeom>
          <a:solidFill>
            <a:srgbClr val="3A2F28"/>
          </a:solidFill>
          <a:ln/>
        </p:spPr>
        <p:txBody>
          <a:bodyPr wrap="none" lIns="109942" tIns="97242" rIns="15645" bIns="71842" rtlCol="0" anchor="t">
            <a:normAutofit/>
          </a:bodyPr>
          <a:lstStyle/>
          <a:p>
            <a:pPr algn="l" indent="0" marL="0">
              <a:lnSpc>
                <a:spcPts val="1760"/>
              </a:lnSpc>
              <a:buNone/>
            </a:pPr>
            <a:r>
              <a:rPr lang="en-US" sz="1100" dirty="0">
                <a:solidFill>
                  <a:srgbClr val="F6F1EA"/>
                </a:solidFill>
                <a:latin typeface="JetBrains Mono" pitchFamily="49" charset="0"/>
                <a:ea typeface="JetBrains Mono" pitchFamily="49" charset="-122"/>
                <a:cs typeface="JetBrains Mono" pitchFamily="49" charset="-120"/>
              </a:rPr>
              <a:t>for size in (1300, 1500, 1700):</a:t>
            </a:r>
            <a:endParaRPr lang="en-US" sz="1100" dirty="0"/>
          </a:p>
          <a:p>
            <a:pPr algn="l" indent="0" marL="0">
              <a:lnSpc>
                <a:spcPts val="1760"/>
              </a:lnSpc>
              <a:buNone/>
            </a:pPr>
            <a:r>
              <a:rPr lang="en-US" sz="1100" dirty="0">
                <a:solidFill>
                  <a:srgbClr val="F6F1EA"/>
                </a:solidFill>
                <a:latin typeface="JetBrains Mono" pitchFamily="49" charset="0"/>
                <a:ea typeface="JetBrains Mono" pitchFamily="49" charset="-122"/>
                <a:cs typeface="JetBrains Mono" pitchFamily="49" charset="-120"/>
              </a:rPr>
              <a:t>  for </a:t>
            </a:r>
            <a:r>
              <a:rPr lang="en-US" sz="1100" b="1" dirty="0">
                <a:solidFill>
                  <a:srgbClr val="F2D3AE"/>
                </a:solidFill>
                <a:latin typeface="JetBrains Mono" pitchFamily="49" charset="0"/>
                <a:ea typeface="JetBrains Mono" pitchFamily="49" charset="-122"/>
                <a:cs typeface="JetBrains Mono" pitchFamily="49" charset="-120"/>
              </a:rPr>
              <a:t>flip</a:t>
            </a:r>
            <a:r>
              <a:rPr lang="en-US" sz="1100" dirty="0">
                <a:solidFill>
                  <a:srgbClr val="F6F1EA"/>
                </a:solidFill>
                <a:latin typeface="JetBrains Mono" pitchFamily="49" charset="0"/>
                <a:ea typeface="JetBrains Mono" pitchFamily="49" charset="-122"/>
                <a:cs typeface="JetBrains Mono" pitchFamily="49" charset="-120"/>
              </a:rPr>
              <a:t> in (False, True):</a:t>
            </a:r>
            <a:endParaRPr lang="en-US" sz="1100" dirty="0"/>
          </a:p>
          <a:p>
            <a:pPr algn="l" indent="0" marL="0">
              <a:lnSpc>
                <a:spcPts val="1760"/>
              </a:lnSpc>
              <a:buNone/>
            </a:pPr>
            <a:r>
              <a:rPr lang="en-US" sz="1100" dirty="0">
                <a:solidFill>
                  <a:srgbClr val="F6F1EA"/>
                </a:solidFill>
                <a:latin typeface="JetBrains Mono" pitchFamily="49" charset="0"/>
                <a:ea typeface="JetBrains Mono" pitchFamily="49" charset="-122"/>
                <a:cs typeface="JetBrains Mono" pitchFamily="49" charset="-120"/>
              </a:rPr>
              <a:t>    feats.append(measure(img))</a:t>
            </a:r>
            <a:endParaRPr lang="en-US" sz="1100" dirty="0"/>
          </a:p>
          <a:p>
            <a:pPr algn="l" indent="0" marL="0">
              <a:lnSpc>
                <a:spcPts val="1760"/>
              </a:lnSpc>
              <a:buNone/>
            </a:pPr>
            <a:r>
              <a:rPr lang="en-US" sz="1100" dirty="0">
                <a:solidFill>
                  <a:srgbClr val="F6F1EA"/>
                </a:solidFill>
                <a:latin typeface="JetBrains Mono" pitchFamily="49" charset="0"/>
                <a:ea typeface="JetBrains Mono" pitchFamily="49" charset="-122"/>
                <a:cs typeface="JetBrains Mono" pitchFamily="49" charset="-120"/>
              </a:rPr>
              <a:t>f = </a:t>
            </a:r>
            <a:r>
              <a:rPr lang="en-US" sz="1100" b="1" dirty="0">
                <a:solidFill>
                  <a:srgbClr val="F2D3AE"/>
                </a:solidFill>
                <a:latin typeface="JetBrains Mono" pitchFamily="49" charset="0"/>
                <a:ea typeface="JetBrains Mono" pitchFamily="49" charset="-122"/>
                <a:cs typeface="JetBrains Mono" pitchFamily="49" charset="-120"/>
              </a:rPr>
              <a:t>mean(feats)</a:t>
            </a:r>
            <a:endParaRPr lang="en-US" sz="1100" dirty="0"/>
          </a:p>
          <a:p>
            <a:pPr algn="l" indent="0" marL="0">
              <a:lnSpc>
                <a:spcPts val="1760"/>
              </a:lnSpc>
              <a:buNone/>
            </a:pPr>
            <a:r>
              <a:rPr lang="en-US" sz="1100" dirty="0">
                <a:solidFill>
                  <a:srgbClr val="F6F1EA"/>
                </a:solidFill>
                <a:latin typeface="JetBrains Mono" pitchFamily="49" charset="0"/>
                <a:ea typeface="JetBrains Mono" pitchFamily="49" charset="-122"/>
                <a:cs typeface="JetBrains Mono" pitchFamily="49" charset="-120"/>
              </a:rPr>
              <a:t>z = </a:t>
            </a:r>
            <a:r>
              <a:rPr lang="en-US" sz="1100" b="1" dirty="0">
                <a:solidFill>
                  <a:srgbClr val="F2D3AE"/>
                </a:solidFill>
                <a:latin typeface="JetBrains Mono" pitchFamily="49" charset="0"/>
                <a:ea typeface="JetBrains Mono" pitchFamily="49" charset="-122"/>
                <a:cs typeface="JetBrains Mono" pitchFamily="49" charset="-120"/>
              </a:rPr>
              <a:t>clip((f - m) / sd, -1, 1)</a:t>
            </a:r>
            <a:endParaRPr lang="en-US" sz="1100" dirty="0"/>
          </a:p>
          <a:p>
            <a:pPr algn="l" indent="0" marL="0">
              <a:lnSpc>
                <a:spcPts val="1760"/>
              </a:lnSpc>
              <a:buNone/>
            </a:pPr>
            <a:r>
              <a:rPr lang="en-US" sz="1100" dirty="0">
                <a:solidFill>
                  <a:srgbClr val="F6F1EA"/>
                </a:solidFill>
                <a:latin typeface="JetBrains Mono" pitchFamily="49" charset="0"/>
                <a:ea typeface="JetBrains Mono" pitchFamily="49" charset="-122"/>
                <a:cs typeface="JetBrains Mono" pitchFamily="49" charset="-120"/>
              </a:rPr>
              <a:t>p1 = </a:t>
            </a:r>
            <a:r>
              <a:rPr lang="en-US" sz="1100" b="1" dirty="0">
                <a:solidFill>
                  <a:srgbClr val="F2D3AE"/>
                </a:solidFill>
                <a:latin typeface="JetBrains Mono" pitchFamily="49" charset="0"/>
                <a:ea typeface="JetBrains Mono" pitchFamily="49" charset="-122"/>
                <a:cs typeface="JetBrains Mono" pitchFamily="49" charset="-120"/>
              </a:rPr>
              <a:t>20*어깨 + 20*허리 + 10*프레임</a:t>
            </a:r>
            <a:endParaRPr lang="en-US" sz="1100" dirty="0"/>
          </a:p>
        </p:txBody>
      </p:sp>
      <p:sp>
        <p:nvSpPr>
          <p:cNvPr id="13" name="Text 11"/>
          <p:cNvSpPr/>
          <p:nvPr/>
        </p:nvSpPr>
        <p:spPr>
          <a:xfrm>
            <a:off x="4387850" y="3888284"/>
            <a:ext cx="3525330" cy="635000"/>
          </a:xfrm>
          <a:prstGeom prst="rect">
            <a:avLst/>
          </a:prstGeom>
          <a:noFill/>
          <a:ln/>
        </p:spPr>
        <p:txBody>
          <a:bodyPr wrap="square" lIns="0" tIns="0" rIns="0" bIns="0" rtlCol="0" anchor="t">
            <a:normAutofit/>
          </a:bodyPr>
          <a:lstStyle/>
          <a:p>
            <a:pPr algn="l" indent="0" marL="0">
              <a:lnSpc>
                <a:spcPts val="1523"/>
              </a:lnSpc>
              <a:buNone/>
            </a:pPr>
            <a:r>
              <a:rPr lang="en-US" sz="1050" b="1" dirty="0">
                <a:solidFill>
                  <a:srgbClr val="7A4A2A"/>
                </a:solidFill>
                <a:latin typeface="IBM Plex Sans KR" pitchFamily="34" charset="0"/>
                <a:ea typeface="IBM Plex Sans KR" pitchFamily="34" charset="-122"/>
                <a:cs typeface="IBM Plex Sans KR" pitchFamily="34" charset="-120"/>
              </a:rPr>
              <a:t>flip · mean</a:t>
            </a:r>
            <a:r>
              <a:rPr lang="en-US" sz="1050" dirty="0">
                <a:solidFill>
                  <a:srgbClr val="3E342D"/>
                </a:solidFill>
                <a:latin typeface="IBM Plex Sans KR" pitchFamily="34" charset="0"/>
                <a:ea typeface="IBM Plex Sans KR" pitchFamily="34" charset="-122"/>
                <a:cs typeface="IBM Plex Sans KR" pitchFamily="34" charset="-120"/>
              </a:rPr>
              <a:t>:</a:t>
            </a:r>
            <a:endParaRPr lang="en-US" sz="1050" dirty="0"/>
          </a:p>
          <a:p>
            <a:pPr algn="l" indent="0" marL="0">
              <a:lnSpc>
                <a:spcPts val="1523"/>
              </a:lnSpc>
              <a:buNone/>
            </a:pPr>
            <a:r>
              <a:rPr lang="en-US" sz="1050" dirty="0">
                <a:solidFill>
                  <a:srgbClr val="3E342D"/>
                </a:solidFill>
                <a:latin typeface="IBM Plex Sans KR" pitchFamily="34" charset="0"/>
                <a:ea typeface="IBM Plex Sans KR" pitchFamily="34" charset="-122"/>
                <a:cs typeface="IBM Plex Sans KR" pitchFamily="34" charset="-120"/>
              </a:rPr>
              <a:t>한 번만 재면 값이 흔들려서, 같은 사진을 6번 재서 평균낼 때 사용</a:t>
            </a:r>
            <a:endParaRPr lang="en-US" sz="1050" dirty="0"/>
          </a:p>
        </p:txBody>
      </p:sp>
      <p:sp>
        <p:nvSpPr>
          <p:cNvPr id="14" name="Text 12"/>
          <p:cNvSpPr/>
          <p:nvPr/>
        </p:nvSpPr>
        <p:spPr>
          <a:xfrm>
            <a:off x="4387850" y="4561384"/>
            <a:ext cx="3525330" cy="635000"/>
          </a:xfrm>
          <a:prstGeom prst="rect">
            <a:avLst/>
          </a:prstGeom>
          <a:noFill/>
          <a:ln/>
        </p:spPr>
        <p:txBody>
          <a:bodyPr wrap="square" lIns="0" tIns="0" rIns="0" bIns="0" rtlCol="0" anchor="t">
            <a:normAutofit/>
          </a:bodyPr>
          <a:lstStyle/>
          <a:p>
            <a:pPr algn="l" indent="0" marL="0">
              <a:lnSpc>
                <a:spcPts val="1523"/>
              </a:lnSpc>
              <a:buNone/>
            </a:pPr>
            <a:r>
              <a:rPr lang="en-US" sz="1050" b="1" dirty="0">
                <a:solidFill>
                  <a:srgbClr val="7A4A2A"/>
                </a:solidFill>
                <a:latin typeface="IBM Plex Sans KR" pitchFamily="34" charset="0"/>
                <a:ea typeface="IBM Plex Sans KR" pitchFamily="34" charset="-122"/>
                <a:cs typeface="IBM Plex Sans KR" pitchFamily="34" charset="-120"/>
              </a:rPr>
              <a:t>clip(...)</a:t>
            </a:r>
            <a:r>
              <a:rPr lang="en-US" sz="1050" dirty="0">
                <a:solidFill>
                  <a:srgbClr val="3E342D"/>
                </a:solidFill>
                <a:latin typeface="IBM Plex Sans KR" pitchFamily="34" charset="0"/>
                <a:ea typeface="IBM Plex Sans KR" pitchFamily="34" charset="-122"/>
                <a:cs typeface="IBM Plex Sans KR" pitchFamily="34" charset="-120"/>
              </a:rPr>
              <a:t>:</a:t>
            </a:r>
            <a:endParaRPr lang="en-US" sz="1050" dirty="0"/>
          </a:p>
          <a:p>
            <a:pPr algn="l" indent="0" marL="0">
              <a:lnSpc>
                <a:spcPts val="1523"/>
              </a:lnSpc>
              <a:buNone/>
            </a:pPr>
            <a:r>
              <a:rPr lang="en-US" sz="1050" dirty="0">
                <a:solidFill>
                  <a:srgbClr val="3E342D"/>
                </a:solidFill>
                <a:latin typeface="IBM Plex Sans KR" pitchFamily="34" charset="0"/>
                <a:ea typeface="IBM Plex Sans KR" pitchFamily="34" charset="-122"/>
                <a:cs typeface="IBM Plex Sans KR" pitchFamily="34" charset="-120"/>
              </a:rPr>
              <a:t>내 비율이 평균보다 얼마나 큰지 점수로 바꿀 때 사용 (±1 제한)</a:t>
            </a:r>
            <a:endParaRPr lang="en-US" sz="1050" dirty="0"/>
          </a:p>
        </p:txBody>
      </p:sp>
      <p:sp>
        <p:nvSpPr>
          <p:cNvPr id="15" name="Text 13"/>
          <p:cNvSpPr/>
          <p:nvPr/>
        </p:nvSpPr>
        <p:spPr>
          <a:xfrm>
            <a:off x="4387850" y="5234484"/>
            <a:ext cx="3525330" cy="635000"/>
          </a:xfrm>
          <a:prstGeom prst="rect">
            <a:avLst/>
          </a:prstGeom>
          <a:noFill/>
          <a:ln/>
        </p:spPr>
        <p:txBody>
          <a:bodyPr wrap="square" lIns="0" tIns="0" rIns="0" bIns="0" rtlCol="0" anchor="t">
            <a:normAutofit/>
          </a:bodyPr>
          <a:lstStyle/>
          <a:p>
            <a:pPr algn="l" indent="0" marL="0">
              <a:lnSpc>
                <a:spcPts val="1523"/>
              </a:lnSpc>
              <a:buNone/>
            </a:pPr>
            <a:r>
              <a:rPr lang="en-US" sz="1050" b="1" dirty="0">
                <a:solidFill>
                  <a:srgbClr val="7A4A2A"/>
                </a:solidFill>
                <a:latin typeface="IBM Plex Sans KR" pitchFamily="34" charset="0"/>
                <a:ea typeface="IBM Plex Sans KR" pitchFamily="34" charset="-122"/>
                <a:cs typeface="IBM Plex Sans KR" pitchFamily="34" charset="-120"/>
              </a:rPr>
              <a:t>20 · 20 · 10</a:t>
            </a:r>
            <a:r>
              <a:rPr lang="en-US" sz="1050" dirty="0">
                <a:solidFill>
                  <a:srgbClr val="3E342D"/>
                </a:solidFill>
                <a:latin typeface="IBM Plex Sans KR" pitchFamily="34" charset="0"/>
                <a:ea typeface="IBM Plex Sans KR" pitchFamily="34" charset="-122"/>
                <a:cs typeface="IBM Plex Sans KR" pitchFamily="34" charset="-120"/>
              </a:rPr>
              <a:t>:</a:t>
            </a:r>
            <a:endParaRPr lang="en-US" sz="1050" dirty="0"/>
          </a:p>
          <a:p>
            <a:pPr algn="l" indent="0" marL="0">
              <a:lnSpc>
                <a:spcPts val="1523"/>
              </a:lnSpc>
              <a:buNone/>
            </a:pPr>
            <a:r>
              <a:rPr lang="en-US" sz="1050" dirty="0">
                <a:solidFill>
                  <a:srgbClr val="3E342D"/>
                </a:solidFill>
                <a:latin typeface="IBM Plex Sans KR" pitchFamily="34" charset="0"/>
                <a:ea typeface="IBM Plex Sans KR" pitchFamily="34" charset="-122"/>
                <a:cs typeface="IBM Plex Sans KR" pitchFamily="34" charset="-120"/>
              </a:rPr>
              <a:t>어깨·허리·프레임을 비중대로 합쳐 체형 점수를 낼 때 사용</a:t>
            </a:r>
            <a:endParaRPr lang="en-US" sz="1050" dirty="0"/>
          </a:p>
        </p:txBody>
      </p:sp>
      <p:sp>
        <p:nvSpPr>
          <p:cNvPr id="16" name="Text 14"/>
          <p:cNvSpPr/>
          <p:nvPr/>
        </p:nvSpPr>
        <p:spPr>
          <a:xfrm>
            <a:off x="7962900" y="1818184"/>
            <a:ext cx="1075373"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9C6440"/>
                </a:solidFill>
                <a:latin typeface="IBM Plex Sans KR" pitchFamily="34" charset="0"/>
                <a:ea typeface="IBM Plex Sans KR" pitchFamily="34" charset="-122"/>
                <a:cs typeface="IBM Plex Sans KR" pitchFamily="34" charset="-120"/>
              </a:rPr>
              <a:t>③ 추천 엔진</a:t>
            </a:r>
            <a:endParaRPr lang="en-US" sz="1400" dirty="0"/>
          </a:p>
        </p:txBody>
      </p:sp>
      <p:sp>
        <p:nvSpPr>
          <p:cNvPr id="17" name="Text 15"/>
          <p:cNvSpPr/>
          <p:nvPr/>
        </p:nvSpPr>
        <p:spPr>
          <a:xfrm>
            <a:off x="10657602" y="1862634"/>
            <a:ext cx="727948" cy="203200"/>
          </a:xfrm>
          <a:prstGeom prst="rect">
            <a:avLst/>
          </a:prstGeom>
          <a:noFill/>
          <a:ln/>
        </p:spPr>
        <p:txBody>
          <a:bodyPr wrap="square" lIns="0" tIns="0" rIns="0" bIns="0" rtlCol="0" anchor="t">
            <a:normAutofit/>
          </a:bodyPr>
          <a:lstStyle/>
          <a:p>
            <a:pPr algn="r" indent="0" marL="0">
              <a:lnSpc>
                <a:spcPts val="1400"/>
              </a:lnSpc>
              <a:buNone/>
            </a:pPr>
            <a:r>
              <a:rPr lang="en-US" sz="1000" dirty="0">
                <a:solidFill>
                  <a:srgbClr val="8A7B6E"/>
                </a:solidFill>
                <a:latin typeface="IBM Plex Sans KR" pitchFamily="34" charset="0"/>
                <a:ea typeface="IBM Plex Sans KR" pitchFamily="34" charset="-122"/>
                <a:cs typeface="IBM Plex Sans KR" pitchFamily="34" charset="-120"/>
              </a:rPr>
              <a:t>TypeScript</a:t>
            </a:r>
            <a:endParaRPr lang="en-US" sz="1000" dirty="0"/>
          </a:p>
        </p:txBody>
      </p:sp>
      <p:sp>
        <p:nvSpPr>
          <p:cNvPr id="18" name="Text 16"/>
          <p:cNvSpPr/>
          <p:nvPr/>
        </p:nvSpPr>
        <p:spPr>
          <a:xfrm>
            <a:off x="7962900" y="2173784"/>
            <a:ext cx="3422650" cy="1625600"/>
          </a:xfrm>
          <a:prstGeom prst="roundRect">
            <a:avLst>
              <a:gd name="adj" fmla="val 6250"/>
            </a:avLst>
          </a:prstGeom>
          <a:solidFill>
            <a:srgbClr val="3A2F28"/>
          </a:solidFill>
          <a:ln/>
        </p:spPr>
        <p:txBody>
          <a:bodyPr wrap="none" lIns="109942" tIns="97242" rIns="15645" bIns="71842" rtlCol="0" anchor="t">
            <a:normAutofit/>
          </a:bodyPr>
          <a:lstStyle/>
          <a:p>
            <a:pPr algn="l" indent="0" marL="0">
              <a:lnSpc>
                <a:spcPts val="1760"/>
              </a:lnSpc>
              <a:buNone/>
            </a:pPr>
            <a:r>
              <a:rPr lang="en-US" sz="1100" dirty="0">
                <a:solidFill>
                  <a:srgbClr val="F6F1EA"/>
                </a:solidFill>
                <a:latin typeface="JetBrains Mono" pitchFamily="49" charset="0"/>
                <a:ea typeface="JetBrains Mono" pitchFamily="49" charset="-122"/>
                <a:cs typeface="JetBrains Mono" pitchFamily="49" charset="-120"/>
              </a:rPr>
              <a:t>if (tempGap &gt; 2) </a:t>
            </a:r>
            <a:r>
              <a:rPr lang="en-US" sz="1100" b="1" dirty="0">
                <a:solidFill>
                  <a:srgbClr val="F2D3AE"/>
                </a:solidFill>
                <a:latin typeface="JetBrains Mono" pitchFamily="49" charset="0"/>
                <a:ea typeface="JetBrains Mono" pitchFamily="49" charset="-122"/>
                <a:cs typeface="JetBrains Mono" pitchFamily="49" charset="-120"/>
              </a:rPr>
              <a:t>exclude()</a:t>
            </a:r>
            <a:r>
              <a:rPr lang="en-US" sz="1100" dirty="0">
                <a:solidFill>
                  <a:srgbClr val="F6F1EA"/>
                </a:solidFill>
                <a:latin typeface="JetBrains Mono" pitchFamily="49" charset="0"/>
                <a:ea typeface="JetBrains Mono" pitchFamily="49" charset="-122"/>
                <a:cs typeface="JetBrains Mono" pitchFamily="49" charset="-120"/>
              </a:rPr>
              <a:t>;</a:t>
            </a:r>
            <a:endParaRPr lang="en-US" sz="1100" dirty="0"/>
          </a:p>
          <a:p>
            <a:pPr algn="l" indent="0" marL="0">
              <a:lnSpc>
                <a:spcPts val="1760"/>
              </a:lnSpc>
              <a:buNone/>
            </a:pPr>
            <a:r>
              <a:rPr lang="en-US" sz="1100" dirty="0">
                <a:solidFill>
                  <a:srgbClr val="F6F1EA"/>
                </a:solidFill>
                <a:latin typeface="JetBrains Mono" pitchFamily="49" charset="0"/>
                <a:ea typeface="JetBrains Mono" pitchFamily="49" charset="-122"/>
                <a:cs typeface="JetBrains Mono" pitchFamily="49" charset="-120"/>
              </a:rPr>
              <a:t>if (rain &gt;= 2) </a:t>
            </a:r>
            <a:r>
              <a:rPr lang="en-US" sz="1100" b="1" dirty="0">
                <a:solidFill>
                  <a:srgbClr val="F2D3AE"/>
                </a:solidFill>
                <a:latin typeface="JetBrains Mono" pitchFamily="49" charset="0"/>
                <a:ea typeface="JetBrains Mono" pitchFamily="49" charset="-122"/>
                <a:cs typeface="JetBrains Mono" pitchFamily="49" charset="-120"/>
              </a:rPr>
              <a:t>exclude()</a:t>
            </a:r>
            <a:r>
              <a:rPr lang="en-US" sz="1100" dirty="0">
                <a:solidFill>
                  <a:srgbClr val="F6F1EA"/>
                </a:solidFill>
                <a:latin typeface="JetBrains Mono" pitchFamily="49" charset="0"/>
                <a:ea typeface="JetBrains Mono" pitchFamily="49" charset="-122"/>
                <a:cs typeface="JetBrains Mono" pitchFamily="49" charset="-120"/>
              </a:rPr>
              <a:t>;</a:t>
            </a:r>
            <a:endParaRPr lang="en-US" sz="1100" dirty="0"/>
          </a:p>
          <a:p>
            <a:pPr algn="l" indent="0" marL="0">
              <a:lnSpc>
                <a:spcPts val="1760"/>
              </a:lnSpc>
              <a:buNone/>
            </a:pPr>
            <a:r>
              <a:rPr lang="en-US" sz="1100" dirty="0">
                <a:solidFill>
                  <a:srgbClr val="F6F1EA"/>
                </a:solidFill>
                <a:latin typeface="JetBrains Mono" pitchFamily="49" charset="0"/>
                <a:ea typeface="JetBrains Mono" pitchFamily="49" charset="-122"/>
                <a:cs typeface="JetBrains Mono" pitchFamily="49" charset="-120"/>
              </a:rPr>
              <a:t>if (outer &amp;&amp; temp &gt;= 24)</a:t>
            </a:r>
            <a:endParaRPr lang="en-US" sz="1100" dirty="0"/>
          </a:p>
          <a:p>
            <a:pPr algn="l" indent="0" marL="0">
              <a:lnSpc>
                <a:spcPts val="1760"/>
              </a:lnSpc>
              <a:buNone/>
            </a:pPr>
            <a:r>
              <a:rPr lang="en-US" sz="1100" dirty="0">
                <a:solidFill>
                  <a:srgbClr val="F6F1EA"/>
                </a:solidFill>
                <a:latin typeface="JetBrains Mono" pitchFamily="49" charset="0"/>
                <a:ea typeface="JetBrains Mono" pitchFamily="49" charset="-122"/>
                <a:cs typeface="JetBrains Mono" pitchFamily="49" charset="-120"/>
              </a:rPr>
              <a:t>  </a:t>
            </a:r>
            <a:r>
              <a:rPr lang="en-US" sz="1100" b="1" dirty="0">
                <a:solidFill>
                  <a:srgbClr val="F2D3AE"/>
                </a:solidFill>
                <a:latin typeface="JetBrains Mono" pitchFamily="49" charset="0"/>
                <a:ea typeface="JetBrains Mono" pitchFamily="49" charset="-122"/>
                <a:cs typeface="JetBrains Mono" pitchFamily="49" charset="-120"/>
              </a:rPr>
              <a:t>exclude()</a:t>
            </a:r>
            <a:r>
              <a:rPr lang="en-US" sz="1100" dirty="0">
                <a:solidFill>
                  <a:srgbClr val="F6F1EA"/>
                </a:solidFill>
                <a:latin typeface="JetBrains Mono" pitchFamily="49" charset="0"/>
                <a:ea typeface="JetBrains Mono" pitchFamily="49" charset="-122"/>
                <a:cs typeface="JetBrains Mono" pitchFamily="49" charset="-120"/>
              </a:rPr>
              <a:t>;</a:t>
            </a:r>
            <a:endParaRPr lang="en-US" sz="1100" dirty="0"/>
          </a:p>
          <a:p>
            <a:pPr algn="l" indent="0" marL="0">
              <a:lnSpc>
                <a:spcPts val="1760"/>
              </a:lnSpc>
              <a:buNone/>
            </a:pPr>
            <a:r>
              <a:rPr lang="en-US" sz="1100" b="1" dirty="0">
                <a:solidFill>
                  <a:srgbClr val="F2D3AE"/>
                </a:solidFill>
                <a:latin typeface="JetBrains Mono" pitchFamily="49" charset="0"/>
                <a:ea typeface="JetBrains Mono" pitchFamily="49" charset="-122"/>
                <a:cs typeface="JetBrains Mono" pitchFamily="49" charset="-120"/>
              </a:rPr>
              <a:t>score</a:t>
            </a:r>
            <a:r>
              <a:rPr lang="en-US" sz="1100" dirty="0">
                <a:solidFill>
                  <a:srgbClr val="F6F1EA"/>
                </a:solidFill>
                <a:latin typeface="JetBrains Mono" pitchFamily="49" charset="0"/>
                <a:ea typeface="JetBrains Mono" pitchFamily="49" charset="-122"/>
                <a:cs typeface="JetBrains Mono" pitchFamily="49" charset="-120"/>
              </a:rPr>
              <a:t> = weather + color + ...;</a:t>
            </a:r>
            <a:endParaRPr lang="en-US" sz="1100" dirty="0"/>
          </a:p>
          <a:p>
            <a:pPr algn="l" indent="0" marL="0">
              <a:lnSpc>
                <a:spcPts val="1760"/>
              </a:lnSpc>
              <a:buNone/>
            </a:pPr>
            <a:r>
              <a:rPr lang="en-US" sz="1100" dirty="0">
                <a:solidFill>
                  <a:srgbClr val="F6F1EA"/>
                </a:solidFill>
                <a:latin typeface="JetBrains Mono" pitchFamily="49" charset="0"/>
                <a:ea typeface="JetBrains Mono" pitchFamily="49" charset="-122"/>
                <a:cs typeface="JetBrains Mono" pitchFamily="49" charset="-120"/>
              </a:rPr>
              <a:t>top3 = sortBy(score).</a:t>
            </a:r>
            <a:r>
              <a:rPr lang="en-US" sz="1100" b="1" dirty="0">
                <a:solidFill>
                  <a:srgbClr val="F2D3AE"/>
                </a:solidFill>
                <a:latin typeface="JetBrains Mono" pitchFamily="49" charset="0"/>
                <a:ea typeface="JetBrains Mono" pitchFamily="49" charset="-122"/>
                <a:cs typeface="JetBrains Mono" pitchFamily="49" charset="-120"/>
              </a:rPr>
              <a:t>slice(0, 3)</a:t>
            </a:r>
            <a:r>
              <a:rPr lang="en-US" sz="1100" dirty="0">
                <a:solidFill>
                  <a:srgbClr val="F6F1EA"/>
                </a:solidFill>
                <a:latin typeface="JetBrains Mono" pitchFamily="49" charset="0"/>
                <a:ea typeface="JetBrains Mono" pitchFamily="49" charset="-122"/>
                <a:cs typeface="JetBrains Mono" pitchFamily="49" charset="-120"/>
              </a:rPr>
              <a:t>;</a:t>
            </a:r>
            <a:endParaRPr lang="en-US" sz="1100" dirty="0"/>
          </a:p>
        </p:txBody>
      </p:sp>
      <p:sp>
        <p:nvSpPr>
          <p:cNvPr id="19" name="Text 17"/>
          <p:cNvSpPr/>
          <p:nvPr/>
        </p:nvSpPr>
        <p:spPr>
          <a:xfrm>
            <a:off x="7962900" y="3888284"/>
            <a:ext cx="3525330" cy="635000"/>
          </a:xfrm>
          <a:prstGeom prst="rect">
            <a:avLst/>
          </a:prstGeom>
          <a:noFill/>
          <a:ln/>
        </p:spPr>
        <p:txBody>
          <a:bodyPr wrap="square" lIns="0" tIns="0" rIns="0" bIns="0" rtlCol="0" anchor="t">
            <a:normAutofit/>
          </a:bodyPr>
          <a:lstStyle/>
          <a:p>
            <a:pPr algn="l" indent="0" marL="0">
              <a:lnSpc>
                <a:spcPts val="1523"/>
              </a:lnSpc>
              <a:buNone/>
            </a:pPr>
            <a:r>
              <a:rPr lang="en-US" sz="1050" b="1" dirty="0">
                <a:solidFill>
                  <a:srgbClr val="7A4A2A"/>
                </a:solidFill>
                <a:latin typeface="IBM Plex Sans KR" pitchFamily="34" charset="0"/>
                <a:ea typeface="IBM Plex Sans KR" pitchFamily="34" charset="-122"/>
                <a:cs typeface="IBM Plex Sans KR" pitchFamily="34" charset="-120"/>
              </a:rPr>
              <a:t>exclude()</a:t>
            </a:r>
            <a:r>
              <a:rPr lang="en-US" sz="1050" dirty="0">
                <a:solidFill>
                  <a:srgbClr val="3E342D"/>
                </a:solidFill>
                <a:latin typeface="IBM Plex Sans KR" pitchFamily="34" charset="0"/>
                <a:ea typeface="IBM Plex Sans KR" pitchFamily="34" charset="-122"/>
                <a:cs typeface="IBM Plex Sans KR" pitchFamily="34" charset="-120"/>
              </a:rPr>
              <a:t>:</a:t>
            </a:r>
            <a:endParaRPr lang="en-US" sz="1050" dirty="0"/>
          </a:p>
          <a:p>
            <a:pPr algn="l" indent="0" marL="0">
              <a:lnSpc>
                <a:spcPts val="1523"/>
              </a:lnSpc>
              <a:buNone/>
            </a:pPr>
            <a:r>
              <a:rPr lang="en-US" sz="1050" dirty="0">
                <a:solidFill>
                  <a:srgbClr val="3E342D"/>
                </a:solidFill>
                <a:latin typeface="IBM Plex Sans KR" pitchFamily="34" charset="0"/>
                <a:ea typeface="IBM Plex Sans KR" pitchFamily="34" charset="-122"/>
                <a:cs typeface="IBM Plex Sans KR" pitchFamily="34" charset="-120"/>
              </a:rPr>
              <a:t>날씨에 안 맞는 옷을 점수 계산 전에 아예 뺄 때 사용</a:t>
            </a:r>
            <a:endParaRPr lang="en-US" sz="1050" dirty="0"/>
          </a:p>
        </p:txBody>
      </p:sp>
      <p:sp>
        <p:nvSpPr>
          <p:cNvPr id="20" name="Text 18"/>
          <p:cNvSpPr/>
          <p:nvPr/>
        </p:nvSpPr>
        <p:spPr>
          <a:xfrm>
            <a:off x="7962900" y="4561384"/>
            <a:ext cx="3525330" cy="635000"/>
          </a:xfrm>
          <a:prstGeom prst="rect">
            <a:avLst/>
          </a:prstGeom>
          <a:noFill/>
          <a:ln/>
        </p:spPr>
        <p:txBody>
          <a:bodyPr wrap="square" lIns="0" tIns="0" rIns="0" bIns="0" rtlCol="0" anchor="t">
            <a:normAutofit/>
          </a:bodyPr>
          <a:lstStyle/>
          <a:p>
            <a:pPr algn="l" indent="0" marL="0">
              <a:lnSpc>
                <a:spcPts val="1523"/>
              </a:lnSpc>
              <a:buNone/>
            </a:pPr>
            <a:r>
              <a:rPr lang="en-US" sz="1050" b="1" dirty="0">
                <a:solidFill>
                  <a:srgbClr val="7A4A2A"/>
                </a:solidFill>
                <a:latin typeface="IBM Plex Sans KR" pitchFamily="34" charset="0"/>
                <a:ea typeface="IBM Plex Sans KR" pitchFamily="34" charset="-122"/>
                <a:cs typeface="IBM Plex Sans KR" pitchFamily="34" charset="-120"/>
              </a:rPr>
              <a:t>score</a:t>
            </a:r>
            <a:r>
              <a:rPr lang="en-US" sz="1050" dirty="0">
                <a:solidFill>
                  <a:srgbClr val="3E342D"/>
                </a:solidFill>
                <a:latin typeface="IBM Plex Sans KR" pitchFamily="34" charset="0"/>
                <a:ea typeface="IBM Plex Sans KR" pitchFamily="34" charset="-122"/>
                <a:cs typeface="IBM Plex Sans KR" pitchFamily="34" charset="-120"/>
              </a:rPr>
              <a:t>:</a:t>
            </a:r>
            <a:endParaRPr lang="en-US" sz="1050" dirty="0"/>
          </a:p>
          <a:p>
            <a:pPr algn="l" indent="0" marL="0">
              <a:lnSpc>
                <a:spcPts val="1523"/>
              </a:lnSpc>
              <a:buNone/>
            </a:pPr>
            <a:r>
              <a:rPr lang="en-US" sz="1050" dirty="0">
                <a:solidFill>
                  <a:srgbClr val="3E342D"/>
                </a:solidFill>
                <a:latin typeface="IBM Plex Sans KR" pitchFamily="34" charset="0"/>
                <a:ea typeface="IBM Plex Sans KR" pitchFamily="34" charset="-122"/>
                <a:cs typeface="IBM Plex Sans KR" pitchFamily="34" charset="-120"/>
              </a:rPr>
              <a:t>남은 옷마다 날씨·피부톤·상황·체형 점수를 더해 순위를 매길 때 사용</a:t>
            </a:r>
            <a:endParaRPr lang="en-US" sz="1050" dirty="0"/>
          </a:p>
        </p:txBody>
      </p:sp>
      <p:sp>
        <p:nvSpPr>
          <p:cNvPr id="21" name="Text 19"/>
          <p:cNvSpPr/>
          <p:nvPr/>
        </p:nvSpPr>
        <p:spPr>
          <a:xfrm>
            <a:off x="7962900" y="5234484"/>
            <a:ext cx="3525330" cy="635000"/>
          </a:xfrm>
          <a:prstGeom prst="rect">
            <a:avLst/>
          </a:prstGeom>
          <a:noFill/>
          <a:ln/>
        </p:spPr>
        <p:txBody>
          <a:bodyPr wrap="square" lIns="0" tIns="0" rIns="0" bIns="0" rtlCol="0" anchor="t">
            <a:normAutofit/>
          </a:bodyPr>
          <a:lstStyle/>
          <a:p>
            <a:pPr algn="l" indent="0" marL="0">
              <a:lnSpc>
                <a:spcPts val="1523"/>
              </a:lnSpc>
              <a:buNone/>
            </a:pPr>
            <a:r>
              <a:rPr lang="en-US" sz="1050" b="1" dirty="0">
                <a:solidFill>
                  <a:srgbClr val="7A4A2A"/>
                </a:solidFill>
                <a:latin typeface="IBM Plex Sans KR" pitchFamily="34" charset="0"/>
                <a:ea typeface="IBM Plex Sans KR" pitchFamily="34" charset="-122"/>
                <a:cs typeface="IBM Plex Sans KR" pitchFamily="34" charset="-120"/>
              </a:rPr>
              <a:t>slice(0, 3)</a:t>
            </a:r>
            <a:r>
              <a:rPr lang="en-US" sz="1050" dirty="0">
                <a:solidFill>
                  <a:srgbClr val="3E342D"/>
                </a:solidFill>
                <a:latin typeface="IBM Plex Sans KR" pitchFamily="34" charset="0"/>
                <a:ea typeface="IBM Plex Sans KR" pitchFamily="34" charset="-122"/>
                <a:cs typeface="IBM Plex Sans KR" pitchFamily="34" charset="-120"/>
              </a:rPr>
              <a:t>:</a:t>
            </a:r>
            <a:endParaRPr lang="en-US" sz="1050" dirty="0"/>
          </a:p>
          <a:p>
            <a:pPr algn="l" indent="0" marL="0">
              <a:lnSpc>
                <a:spcPts val="1523"/>
              </a:lnSpc>
              <a:buNone/>
            </a:pPr>
            <a:r>
              <a:rPr lang="en-US" sz="1050" dirty="0">
                <a:solidFill>
                  <a:srgbClr val="3E342D"/>
                </a:solidFill>
                <a:latin typeface="IBM Plex Sans KR" pitchFamily="34" charset="0"/>
                <a:ea typeface="IBM Plex Sans KR" pitchFamily="34" charset="-122"/>
                <a:cs typeface="IBM Plex Sans KR" pitchFamily="34" charset="-120"/>
              </a:rPr>
              <a:t>점수 높은 순으로 종류별 3개만 골라 보여 줄 때 사용</a:t>
            </a:r>
            <a:endParaRPr lang="en-US" sz="1050" dirty="0"/>
          </a:p>
        </p:txBody>
      </p:sp>
      <p:sp>
        <p:nvSpPr>
          <p:cNvPr id="22" name="Text 20"/>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B6E"/>
                </a:solidFill>
                <a:latin typeface="IBM Plex Sans KR" pitchFamily="34" charset="0"/>
                <a:ea typeface="IBM Plex Sans KR" pitchFamily="34" charset="-122"/>
                <a:cs typeface="IBM Plex Sans KR" pitchFamily="34" charset="-120"/>
              </a:rPr>
              <a:t>실제 코드에서 핵심만 간추림 · 색칠한 부분 = 아래 설명</a:t>
            </a:r>
            <a:endParaRPr lang="en-US" sz="1200" dirty="0"/>
          </a:p>
        </p:txBody>
      </p:sp>
      <p:sp>
        <p:nvSpPr>
          <p:cNvPr id="23" name="Text 2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7B6E"/>
                </a:solidFill>
                <a:latin typeface="IBM Plex Sans KR" pitchFamily="34" charset="0"/>
                <a:ea typeface="IBM Plex Sans KR" pitchFamily="34" charset="-122"/>
                <a:cs typeface="IBM Plex Sans KR"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C6440"/>
                </a:solidFill>
                <a:latin typeface="IBM Plex Sans KR" pitchFamily="34" charset="0"/>
                <a:ea typeface="IBM Plex Sans KR" pitchFamily="34" charset="-122"/>
                <a:cs typeface="IBM Plex Sans KR" pitchFamily="34" charset="-120"/>
              </a:rPr>
              <a:t>검증 결과</a:t>
            </a:r>
            <a:endParaRPr lang="en-US" sz="1200" dirty="0"/>
          </a:p>
        </p:txBody>
      </p:sp>
      <p:sp>
        <p:nvSpPr>
          <p:cNvPr id="3" name="Text 1"/>
          <p:cNvSpPr/>
          <p:nvPr/>
        </p:nvSpPr>
        <p:spPr>
          <a:xfrm>
            <a:off x="812800" y="1102320"/>
            <a:ext cx="10883392" cy="513060"/>
          </a:xfrm>
          <a:prstGeom prst="rect">
            <a:avLst/>
          </a:prstGeom>
          <a:noFill/>
          <a:ln/>
        </p:spPr>
        <p:txBody>
          <a:bodyPr wrap="square" lIns="0" tIns="0" rIns="0" bIns="0" rtlCol="0" anchor="t">
            <a:normAutofit/>
          </a:bodyPr>
          <a:lstStyle/>
          <a:p>
            <a:pPr algn="l" indent="0" marL="0">
              <a:lnSpc>
                <a:spcPts val="3840"/>
              </a:lnSpc>
              <a:buNone/>
            </a:pPr>
            <a:r>
              <a:rPr lang="en-US" sz="3200" b="1" dirty="0">
                <a:solidFill>
                  <a:srgbClr val="2B231E"/>
                </a:solidFill>
                <a:latin typeface="Noto Serif KR" pitchFamily="18" charset="0"/>
                <a:ea typeface="Noto Serif KR" pitchFamily="18" charset="-122"/>
                <a:cs typeface="Noto Serif KR" pitchFamily="18" charset="-120"/>
              </a:rPr>
              <a:t>직접 테스트해 숫자로 검증했습니다</a:t>
            </a:r>
            <a:endParaRPr lang="en-US" sz="3200" dirty="0"/>
          </a:p>
        </p:txBody>
      </p:sp>
      <p:sp>
        <p:nvSpPr>
          <p:cNvPr id="4" name="Shape 2"/>
          <p:cNvSpPr/>
          <p:nvPr/>
        </p:nvSpPr>
        <p:spPr>
          <a:xfrm>
            <a:off x="819150" y="1951930"/>
            <a:ext cx="2520950" cy="1727696"/>
          </a:xfrm>
          <a:prstGeom prst="roundRect">
            <a:avLst>
              <a:gd name="adj" fmla="val 8453"/>
            </a:avLst>
          </a:prstGeom>
          <a:solidFill>
            <a:srgbClr val="FFFCF7"/>
          </a:solidFill>
          <a:ln w="12700">
            <a:solidFill>
              <a:srgbClr val="E3D8CA"/>
            </a:solidFill>
            <a:prstDash val="solid"/>
          </a:ln>
        </p:spPr>
      </p:sp>
      <p:sp>
        <p:nvSpPr>
          <p:cNvPr id="5" name="Text 3"/>
          <p:cNvSpPr/>
          <p:nvPr/>
        </p:nvSpPr>
        <p:spPr>
          <a:xfrm>
            <a:off x="1079500" y="2212280"/>
            <a:ext cx="2060257"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C6440"/>
                </a:solidFill>
                <a:latin typeface="IBM Plex Sans KR" pitchFamily="34" charset="0"/>
                <a:ea typeface="IBM Plex Sans KR" pitchFamily="34" charset="-122"/>
                <a:cs typeface="IBM Plex Sans KR" pitchFamily="34" charset="-120"/>
              </a:rPr>
              <a:t>퍼스널컬러 정확도</a:t>
            </a:r>
            <a:endParaRPr lang="en-US" sz="1300" dirty="0"/>
          </a:p>
        </p:txBody>
      </p:sp>
      <p:sp>
        <p:nvSpPr>
          <p:cNvPr id="6" name="Text 4"/>
          <p:cNvSpPr/>
          <p:nvPr/>
        </p:nvSpPr>
        <p:spPr>
          <a:xfrm>
            <a:off x="1079500" y="2532261"/>
            <a:ext cx="2060257"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2B231E"/>
                </a:solidFill>
                <a:latin typeface="Noto Serif KR" pitchFamily="18" charset="0"/>
                <a:ea typeface="Noto Serif KR" pitchFamily="18" charset="-122"/>
                <a:cs typeface="Noto Serif KR" pitchFamily="18" charset="-120"/>
              </a:rPr>
              <a:t>95.1%</a:t>
            </a:r>
            <a:endParaRPr lang="en-US" sz="4400" dirty="0"/>
          </a:p>
        </p:txBody>
      </p:sp>
      <p:sp>
        <p:nvSpPr>
          <p:cNvPr id="7" name="Text 5"/>
          <p:cNvSpPr/>
          <p:nvPr/>
        </p:nvSpPr>
        <p:spPr>
          <a:xfrm>
            <a:off x="1079500" y="3179961"/>
            <a:ext cx="2060257"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B4E44"/>
                </a:solidFill>
                <a:latin typeface="IBM Plex Sans KR" pitchFamily="34" charset="0"/>
                <a:ea typeface="IBM Plex Sans KR" pitchFamily="34" charset="-122"/>
                <a:cs typeface="IBM Plex Sans KR" pitchFamily="34" charset="-120"/>
              </a:rPr>
              <a:t>테스트 41장 중 39장</a:t>
            </a:r>
            <a:endParaRPr lang="en-US" sz="1300" dirty="0"/>
          </a:p>
        </p:txBody>
      </p:sp>
      <p:sp>
        <p:nvSpPr>
          <p:cNvPr id="8" name="Shape 6"/>
          <p:cNvSpPr/>
          <p:nvPr/>
        </p:nvSpPr>
        <p:spPr>
          <a:xfrm>
            <a:off x="3505200" y="1951930"/>
            <a:ext cx="2520950" cy="1727696"/>
          </a:xfrm>
          <a:prstGeom prst="roundRect">
            <a:avLst>
              <a:gd name="adj" fmla="val 8453"/>
            </a:avLst>
          </a:prstGeom>
          <a:solidFill>
            <a:srgbClr val="FFFCF7"/>
          </a:solidFill>
          <a:ln w="12700">
            <a:solidFill>
              <a:srgbClr val="E3D8CA"/>
            </a:solidFill>
            <a:prstDash val="solid"/>
          </a:ln>
        </p:spPr>
      </p:sp>
      <p:sp>
        <p:nvSpPr>
          <p:cNvPr id="9" name="Text 7"/>
          <p:cNvSpPr/>
          <p:nvPr/>
        </p:nvSpPr>
        <p:spPr>
          <a:xfrm>
            <a:off x="3765550" y="2212280"/>
            <a:ext cx="2060257"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C6440"/>
                </a:solidFill>
                <a:latin typeface="IBM Plex Sans KR" pitchFamily="34" charset="0"/>
                <a:ea typeface="IBM Plex Sans KR" pitchFamily="34" charset="-122"/>
                <a:cs typeface="IBM Plex Sans KR" pitchFamily="34" charset="-120"/>
              </a:rPr>
              <a:t>골격 정확도 (사진만)</a:t>
            </a:r>
            <a:endParaRPr lang="en-US" sz="1300" dirty="0"/>
          </a:p>
        </p:txBody>
      </p:sp>
      <p:sp>
        <p:nvSpPr>
          <p:cNvPr id="10" name="Text 8"/>
          <p:cNvSpPr/>
          <p:nvPr/>
        </p:nvSpPr>
        <p:spPr>
          <a:xfrm>
            <a:off x="3765550" y="2532261"/>
            <a:ext cx="2060257"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2B231E"/>
                </a:solidFill>
                <a:latin typeface="Noto Serif KR" pitchFamily="18" charset="0"/>
                <a:ea typeface="Noto Serif KR" pitchFamily="18" charset="-122"/>
                <a:cs typeface="Noto Serif KR" pitchFamily="18" charset="-120"/>
              </a:rPr>
              <a:t>79.7%</a:t>
            </a:r>
            <a:endParaRPr lang="en-US" sz="4400" dirty="0"/>
          </a:p>
        </p:txBody>
      </p:sp>
      <p:sp>
        <p:nvSpPr>
          <p:cNvPr id="11" name="Text 9"/>
          <p:cNvSpPr/>
          <p:nvPr/>
        </p:nvSpPr>
        <p:spPr>
          <a:xfrm>
            <a:off x="3765550" y="3179961"/>
            <a:ext cx="2060257"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B4E44"/>
                </a:solidFill>
                <a:latin typeface="IBM Plex Sans KR" pitchFamily="34" charset="0"/>
                <a:ea typeface="IBM Plex Sans KR" pitchFamily="34" charset="-122"/>
                <a:cs typeface="IBM Plex Sans KR" pitchFamily="34" charset="-120"/>
              </a:rPr>
              <a:t>69명 중 55명</a:t>
            </a:r>
            <a:endParaRPr lang="en-US" sz="1300" dirty="0"/>
          </a:p>
        </p:txBody>
      </p:sp>
      <p:sp>
        <p:nvSpPr>
          <p:cNvPr id="12" name="Shape 10"/>
          <p:cNvSpPr/>
          <p:nvPr/>
        </p:nvSpPr>
        <p:spPr>
          <a:xfrm>
            <a:off x="6191250" y="1951930"/>
            <a:ext cx="2520950" cy="1727696"/>
          </a:xfrm>
          <a:prstGeom prst="roundRect">
            <a:avLst>
              <a:gd name="adj" fmla="val 8453"/>
            </a:avLst>
          </a:prstGeom>
          <a:solidFill>
            <a:srgbClr val="FFFCF7"/>
          </a:solidFill>
          <a:ln w="12700">
            <a:solidFill>
              <a:srgbClr val="E3D8CA"/>
            </a:solidFill>
            <a:prstDash val="solid"/>
          </a:ln>
        </p:spPr>
      </p:sp>
      <p:sp>
        <p:nvSpPr>
          <p:cNvPr id="13" name="Text 11"/>
          <p:cNvSpPr/>
          <p:nvPr/>
        </p:nvSpPr>
        <p:spPr>
          <a:xfrm>
            <a:off x="6451600" y="2212280"/>
            <a:ext cx="2060257"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C6440"/>
                </a:solidFill>
                <a:latin typeface="IBM Plex Sans KR" pitchFamily="34" charset="0"/>
                <a:ea typeface="IBM Plex Sans KR" pitchFamily="34" charset="-122"/>
                <a:cs typeface="IBM Plex Sans KR" pitchFamily="34" charset="-120"/>
              </a:rPr>
              <a:t>추천 대상 상품</a:t>
            </a:r>
            <a:endParaRPr lang="en-US" sz="1300" dirty="0"/>
          </a:p>
        </p:txBody>
      </p:sp>
      <p:sp>
        <p:nvSpPr>
          <p:cNvPr id="14" name="Text 12"/>
          <p:cNvSpPr/>
          <p:nvPr/>
        </p:nvSpPr>
        <p:spPr>
          <a:xfrm>
            <a:off x="6451600" y="2532261"/>
            <a:ext cx="2060257"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2B231E"/>
                </a:solidFill>
                <a:latin typeface="Noto Serif KR" pitchFamily="18" charset="0"/>
                <a:ea typeface="Noto Serif KR" pitchFamily="18" charset="-122"/>
                <a:cs typeface="Noto Serif KR" pitchFamily="18" charset="-120"/>
              </a:rPr>
              <a:t>1,590</a:t>
            </a:r>
            <a:endParaRPr lang="en-US" sz="4400" dirty="0"/>
          </a:p>
        </p:txBody>
      </p:sp>
      <p:sp>
        <p:nvSpPr>
          <p:cNvPr id="15" name="Text 13"/>
          <p:cNvSpPr/>
          <p:nvPr/>
        </p:nvSpPr>
        <p:spPr>
          <a:xfrm>
            <a:off x="6451600" y="3179961"/>
            <a:ext cx="2060257"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B4E44"/>
                </a:solidFill>
                <a:latin typeface="IBM Plex Sans KR" pitchFamily="34" charset="0"/>
                <a:ea typeface="IBM Plex Sans KR" pitchFamily="34" charset="-122"/>
                <a:cs typeface="IBM Plex Sans KR" pitchFamily="34" charset="-120"/>
              </a:rPr>
              <a:t>날씨·체형 태그 완료</a:t>
            </a:r>
            <a:endParaRPr lang="en-US" sz="1300" dirty="0"/>
          </a:p>
        </p:txBody>
      </p:sp>
      <p:sp>
        <p:nvSpPr>
          <p:cNvPr id="16" name="Shape 14"/>
          <p:cNvSpPr/>
          <p:nvPr/>
        </p:nvSpPr>
        <p:spPr>
          <a:xfrm>
            <a:off x="8870950" y="1945580"/>
            <a:ext cx="2508250" cy="1740396"/>
          </a:xfrm>
          <a:prstGeom prst="roundRect">
            <a:avLst>
              <a:gd name="adj" fmla="val 8757"/>
            </a:avLst>
          </a:prstGeom>
          <a:solidFill>
            <a:srgbClr val="2B231E"/>
          </a:solidFill>
          <a:ln/>
        </p:spPr>
      </p:sp>
      <p:sp>
        <p:nvSpPr>
          <p:cNvPr id="17" name="Text 15"/>
          <p:cNvSpPr/>
          <p:nvPr/>
        </p:nvSpPr>
        <p:spPr>
          <a:xfrm>
            <a:off x="9124950" y="2199580"/>
            <a:ext cx="2060257"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D9B48F"/>
                </a:solidFill>
                <a:latin typeface="IBM Plex Sans KR" pitchFamily="34" charset="0"/>
                <a:ea typeface="IBM Plex Sans KR" pitchFamily="34" charset="-122"/>
                <a:cs typeface="IBM Plex Sans KR" pitchFamily="34" charset="-120"/>
              </a:rPr>
              <a:t>AI 피팅 조합</a:t>
            </a:r>
            <a:endParaRPr lang="en-US" sz="1300" dirty="0"/>
          </a:p>
        </p:txBody>
      </p:sp>
      <p:sp>
        <p:nvSpPr>
          <p:cNvPr id="18" name="Text 16"/>
          <p:cNvSpPr/>
          <p:nvPr/>
        </p:nvSpPr>
        <p:spPr>
          <a:xfrm>
            <a:off x="9124950" y="2519561"/>
            <a:ext cx="2060257"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F6F1EA"/>
                </a:solidFill>
                <a:latin typeface="Noto Serif KR" pitchFamily="18" charset="0"/>
                <a:ea typeface="Noto Serif KR" pitchFamily="18" charset="-122"/>
                <a:cs typeface="Noto Serif KR" pitchFamily="18" charset="-120"/>
              </a:rPr>
              <a:t>9,540</a:t>
            </a:r>
            <a:endParaRPr lang="en-US" sz="4400" dirty="0"/>
          </a:p>
        </p:txBody>
      </p:sp>
      <p:sp>
        <p:nvSpPr>
          <p:cNvPr id="19" name="Text 17"/>
          <p:cNvSpPr/>
          <p:nvPr/>
        </p:nvSpPr>
        <p:spPr>
          <a:xfrm>
            <a:off x="9124950" y="3167261"/>
            <a:ext cx="2060257"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E3D6C7"/>
                </a:solidFill>
                <a:latin typeface="IBM Plex Sans KR" pitchFamily="34" charset="0"/>
                <a:ea typeface="IBM Plex Sans KR" pitchFamily="34" charset="-122"/>
                <a:cs typeface="IBM Plex Sans KR" pitchFamily="34" charset="-120"/>
              </a:rPr>
              <a:t>설계 완료 · 시연용 54장 생성</a:t>
            </a:r>
            <a:endParaRPr lang="en-US" sz="1300" dirty="0"/>
          </a:p>
        </p:txBody>
      </p:sp>
      <p:sp>
        <p:nvSpPr>
          <p:cNvPr id="20" name="Text 18"/>
          <p:cNvSpPr/>
          <p:nvPr/>
        </p:nvSpPr>
        <p:spPr>
          <a:xfrm>
            <a:off x="812800" y="4041577"/>
            <a:ext cx="10566400" cy="571500"/>
          </a:xfrm>
          <a:prstGeom prst="roundRect">
            <a:avLst>
              <a:gd name="adj" fmla="val 17778"/>
            </a:avLst>
          </a:prstGeom>
          <a:solidFill>
            <a:srgbClr val="EDE4D8"/>
          </a:solidFill>
          <a:ln/>
        </p:spPr>
        <p:txBody>
          <a:bodyPr wrap="square" lIns="173442" tIns="122642" rIns="0" bIns="97242" rtlCol="0" anchor="t">
            <a:normAutofit/>
          </a:bodyPr>
          <a:lstStyle/>
          <a:p>
            <a:pPr algn="l" indent="0" marL="0">
              <a:lnSpc>
                <a:spcPts val="2100"/>
              </a:lnSpc>
              <a:buNone/>
            </a:pPr>
            <a:r>
              <a:rPr lang="en-US" sz="1400" b="1" dirty="0">
                <a:solidFill>
                  <a:srgbClr val="5B4E44"/>
                </a:solidFill>
                <a:latin typeface="IBM Plex Sans KR" pitchFamily="34" charset="0"/>
                <a:ea typeface="IBM Plex Sans KR" pitchFamily="34" charset="-122"/>
                <a:cs typeface="IBM Plex Sans KR" pitchFamily="34" charset="-120"/>
              </a:rPr>
              <a:t>다음 목표</a:t>
            </a:r>
            <a:r>
              <a:rPr lang="en-US" sz="1400" dirty="0">
                <a:solidFill>
                  <a:srgbClr val="5B4E44"/>
                </a:solidFill>
                <a:latin typeface="IBM Plex Sans KR" pitchFamily="34" charset="0"/>
                <a:ea typeface="IBM Plex Sans KR" pitchFamily="34" charset="-122"/>
                <a:cs typeface="IBM Plex Sans KR" pitchFamily="34" charset="-120"/>
              </a:rPr>
              <a:t> 생성 이미지 기준 → 실제 사진으로 재검증</a:t>
            </a:r>
            <a:endParaRPr lang="en-US" sz="1400" dirty="0"/>
          </a:p>
        </p:txBody>
      </p:sp>
      <p:sp>
        <p:nvSpPr>
          <p:cNvPr id="21"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7B6E"/>
                </a:solidFill>
                <a:latin typeface="IBM Plex Sans KR" pitchFamily="34" charset="0"/>
                <a:ea typeface="IBM Plex Sans KR" pitchFamily="34" charset="-122"/>
                <a:cs typeface="IBM Plex Sans KR"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B231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D9B48F"/>
                </a:solidFill>
                <a:latin typeface="IBM Plex Sans KR" pitchFamily="34" charset="0"/>
                <a:ea typeface="IBM Plex Sans KR" pitchFamily="34" charset="-122"/>
                <a:cs typeface="IBM Plex Sans KR" pitchFamily="34" charset="-120"/>
              </a:rPr>
              <a:t>시연</a:t>
            </a:r>
            <a:endParaRPr lang="en-US" sz="1200" dirty="0"/>
          </a:p>
        </p:txBody>
      </p:sp>
      <p:sp>
        <p:nvSpPr>
          <p:cNvPr id="3" name="Text 1"/>
          <p:cNvSpPr/>
          <p:nvPr/>
        </p:nvSpPr>
        <p:spPr>
          <a:xfrm>
            <a:off x="812800" y="1102320"/>
            <a:ext cx="10883392" cy="513060"/>
          </a:xfrm>
          <a:prstGeom prst="rect">
            <a:avLst/>
          </a:prstGeom>
          <a:noFill/>
          <a:ln/>
        </p:spPr>
        <p:txBody>
          <a:bodyPr wrap="square" lIns="0" tIns="0" rIns="0" bIns="0" rtlCol="0" anchor="t">
            <a:normAutofit/>
          </a:bodyPr>
          <a:lstStyle/>
          <a:p>
            <a:pPr algn="l" indent="0" marL="0">
              <a:lnSpc>
                <a:spcPts val="3840"/>
              </a:lnSpc>
              <a:buNone/>
            </a:pPr>
            <a:r>
              <a:rPr lang="en-US" sz="3200" b="1" dirty="0">
                <a:solidFill>
                  <a:srgbClr val="F6F1EA"/>
                </a:solidFill>
                <a:latin typeface="Noto Serif KR" pitchFamily="18" charset="0"/>
                <a:ea typeface="Noto Serif KR" pitchFamily="18" charset="-122"/>
                <a:cs typeface="Noto Serif KR" pitchFamily="18" charset="-120"/>
              </a:rPr>
              <a:t>퍼스널컬러와 체형에 맞는 옷 추천</a:t>
            </a:r>
            <a:endParaRPr lang="en-US" sz="3200" dirty="0"/>
          </a:p>
        </p:txBody>
      </p:sp>
      <p:pic>
        <p:nvPicPr>
          <p:cNvPr id="4" name="Image 0" descr="셀카와 전신 사진을 넣으면 취향 캐주얼, 웜 89%, 웨이브 83%로 진단되는 화면">    </p:cNvPr>
          <p:cNvPicPr>
            <a:picLocks noChangeAspect="1"/>
          </p:cNvPicPr>
          <p:nvPr/>
        </p:nvPicPr>
        <p:blipFill>
          <a:blip r:embed="rId1"/>
          <a:srcRect l="0" r="0" t="0" b="0"/>
          <a:stretch/>
        </p:blipFill>
        <p:spPr>
          <a:xfrm>
            <a:off x="812800" y="1869380"/>
            <a:ext cx="3416300" cy="3416300"/>
          </a:xfrm>
          <a:prstGeom prst="roundRect">
            <a:avLst>
              <a:gd name="adj" fmla="val 2974"/>
            </a:avLst>
          </a:prstGeom>
        </p:spPr>
      </p:pic>
      <p:sp>
        <p:nvSpPr>
          <p:cNvPr id="5" name="Text 2"/>
          <p:cNvSpPr/>
          <p:nvPr/>
        </p:nvSpPr>
        <p:spPr>
          <a:xfrm>
            <a:off x="812800" y="5374580"/>
            <a:ext cx="351878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1EA"/>
                </a:solidFill>
                <a:latin typeface="IBM Plex Sans KR" pitchFamily="34" charset="0"/>
                <a:ea typeface="IBM Plex Sans KR" pitchFamily="34" charset="-122"/>
                <a:cs typeface="IBM Plex Sans KR" pitchFamily="34" charset="-120"/>
              </a:rPr>
              <a:t>① 진단 결과</a:t>
            </a:r>
            <a:endParaRPr lang="en-US" sz="1400" dirty="0"/>
          </a:p>
        </p:txBody>
      </p:sp>
      <p:pic>
        <p:nvPicPr>
          <p:cNvPr id="6" name="Image 1" descr="홈 화면: 부산 14도 날씨와 데일리 추천 TOP 3">    </p:cNvPr>
          <p:cNvPicPr>
            <a:picLocks noChangeAspect="1"/>
          </p:cNvPicPr>
          <p:nvPr/>
        </p:nvPicPr>
        <p:blipFill>
          <a:blip r:embed="rId2"/>
          <a:srcRect l="114" r="114" t="0" b="0"/>
          <a:stretch/>
        </p:blipFill>
        <p:spPr>
          <a:xfrm>
            <a:off x="4387850" y="1869380"/>
            <a:ext cx="3416300" cy="3416300"/>
          </a:xfrm>
          <a:prstGeom prst="roundRect">
            <a:avLst>
              <a:gd name="adj" fmla="val 2974"/>
            </a:avLst>
          </a:prstGeom>
        </p:spPr>
      </p:pic>
      <p:sp>
        <p:nvSpPr>
          <p:cNvPr id="7" name="Text 3"/>
          <p:cNvSpPr/>
          <p:nvPr/>
        </p:nvSpPr>
        <p:spPr>
          <a:xfrm>
            <a:off x="4387850" y="5374580"/>
            <a:ext cx="351878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1EA"/>
                </a:solidFill>
                <a:latin typeface="IBM Plex Sans KR" pitchFamily="34" charset="0"/>
                <a:ea typeface="IBM Plex Sans KR" pitchFamily="34" charset="-122"/>
                <a:cs typeface="IBM Plex Sans KR" pitchFamily="34" charset="-120"/>
              </a:rPr>
              <a:t>② 오늘 날씨·무드 추천</a:t>
            </a:r>
            <a:endParaRPr lang="en-US" sz="1400" dirty="0"/>
          </a:p>
        </p:txBody>
      </p:sp>
      <p:pic>
        <p:nvPicPr>
          <p:cNvPr id="8" name="Image 2" descr="가상 피팅 화면: 아바타가 추천 코트를 입은 모습">    </p:cNvPr>
          <p:cNvPicPr>
            <a:picLocks noChangeAspect="1"/>
          </p:cNvPicPr>
          <p:nvPr/>
        </p:nvPicPr>
        <p:blipFill>
          <a:blip r:embed="rId3"/>
          <a:srcRect l="0" r="0" t="3496" b="3496"/>
          <a:stretch/>
        </p:blipFill>
        <p:spPr>
          <a:xfrm>
            <a:off x="7962900" y="1869380"/>
            <a:ext cx="3416300" cy="3416300"/>
          </a:xfrm>
          <a:prstGeom prst="roundRect">
            <a:avLst>
              <a:gd name="adj" fmla="val 2974"/>
            </a:avLst>
          </a:prstGeom>
        </p:spPr>
      </p:pic>
      <p:sp>
        <p:nvSpPr>
          <p:cNvPr id="9" name="Text 4"/>
          <p:cNvSpPr/>
          <p:nvPr/>
        </p:nvSpPr>
        <p:spPr>
          <a:xfrm>
            <a:off x="7962900" y="5374580"/>
            <a:ext cx="351878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1EA"/>
                </a:solidFill>
                <a:latin typeface="IBM Plex Sans KR" pitchFamily="34" charset="0"/>
                <a:ea typeface="IBM Plex Sans KR" pitchFamily="34" charset="-122"/>
                <a:cs typeface="IBM Plex Sans KR" pitchFamily="34" charset="-120"/>
              </a:rPr>
              <a:t>③ AI 피팅</a:t>
            </a:r>
            <a:endParaRPr lang="en-US" sz="1400" dirty="0"/>
          </a:p>
        </p:txBody>
      </p:sp>
      <p:sp>
        <p:nvSpPr>
          <p:cNvPr id="10" name="Text 5"/>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3D6C7"/>
                </a:solidFill>
                <a:latin typeface="IBM Plex Sans KR" pitchFamily="34" charset="0"/>
                <a:ea typeface="IBM Plex Sans KR" pitchFamily="34" charset="-122"/>
                <a:cs typeface="IBM Plex Sans KR" pitchFamily="34" charset="-120"/>
              </a:rPr>
              <a:t>ondo-daily-style.vercel.app</a:t>
            </a:r>
            <a:endParaRPr lang="en-US" sz="1200" dirty="0"/>
          </a:p>
        </p:txBody>
      </p:sp>
      <p:sp>
        <p:nvSpPr>
          <p:cNvPr id="11" name="Text 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7B6E"/>
                </a:solidFill>
                <a:latin typeface="IBM Plex Sans KR" pitchFamily="34" charset="0"/>
                <a:ea typeface="IBM Plex Sans KR" pitchFamily="34" charset="-122"/>
                <a:cs typeface="IBM Plex Sans KR"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1EA"/>
        </a:solidFill>
      </p:bgPr>
    </p:bg>
    <p:spTree>
      <p:nvGrpSpPr>
        <p:cNvPr id="1" name=""/>
        <p:cNvGrpSpPr/>
        <p:nvPr/>
      </p:nvGrpSpPr>
      <p:grpSpPr>
        <a:xfrm>
          <a:off x="0" y="0"/>
          <a:ext cx="0" cy="0"/>
          <a:chOff x="0" y="0"/>
          <a:chExt cx="0" cy="0"/>
        </a:xfrm>
      </p:grpSpPr>
      <p:sp>
        <p:nvSpPr>
          <p:cNvPr id="2" name="Text 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7B6E"/>
                </a:solidFill>
                <a:latin typeface="IBM Plex Sans KR" pitchFamily="34" charset="0"/>
                <a:ea typeface="IBM Plex Sans KR" pitchFamily="34" charset="-122"/>
                <a:cs typeface="IBM Plex Sans KR" pitchFamily="34" charset="-120"/>
              </a:rPr>
              <a:t>11</a:t>
            </a:r>
            <a:endParaRPr lang="en-US" sz="1200" dirty="0"/>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C6440"/>
                </a:solidFill>
                <a:latin typeface="IBM Plex Sans KR" pitchFamily="34" charset="0"/>
                <a:ea typeface="IBM Plex Sans KR" pitchFamily="34" charset="-122"/>
                <a:cs typeface="IBM Plex Sans KR" pitchFamily="34" charset="-120"/>
              </a:rPr>
              <a:t>정확도를 높인 방법</a:t>
            </a:r>
            <a:endParaRPr lang="en-US" sz="1200" dirty="0"/>
          </a:p>
        </p:txBody>
      </p:sp>
      <p:sp>
        <p:nvSpPr>
          <p:cNvPr id="4" name="Text 2"/>
          <p:cNvSpPr/>
          <p:nvPr/>
        </p:nvSpPr>
        <p:spPr>
          <a:xfrm>
            <a:off x="812800" y="1127720"/>
            <a:ext cx="10883392" cy="513060"/>
          </a:xfrm>
          <a:prstGeom prst="rect">
            <a:avLst/>
          </a:prstGeom>
          <a:noFill/>
          <a:ln/>
        </p:spPr>
        <p:txBody>
          <a:bodyPr wrap="square" lIns="0" tIns="0" rIns="0" bIns="0" rtlCol="0" anchor="t">
            <a:normAutofit/>
          </a:bodyPr>
          <a:lstStyle/>
          <a:p>
            <a:pPr algn="l" indent="0" marL="0">
              <a:lnSpc>
                <a:spcPts val="3840"/>
              </a:lnSpc>
              <a:buNone/>
            </a:pPr>
            <a:r>
              <a:rPr lang="en-US" sz="3200" b="1" dirty="0">
                <a:solidFill>
                  <a:srgbClr val="2B231E"/>
                </a:solidFill>
                <a:latin typeface="Noto Serif KR" pitchFamily="18" charset="0"/>
                <a:ea typeface="Noto Serif KR" pitchFamily="18" charset="-122"/>
                <a:cs typeface="Noto Serif KR" pitchFamily="18" charset="-120"/>
              </a:rPr>
              <a:t>온라인 진단의 한계에 도전해 정확도를 끌어올렸습니다</a:t>
            </a:r>
            <a:endParaRPr lang="en-US" sz="3200" dirty="0"/>
          </a:p>
        </p:txBody>
      </p:sp>
      <p:sp>
        <p:nvSpPr>
          <p:cNvPr id="5" name="Text 3"/>
          <p:cNvSpPr/>
          <p:nvPr/>
        </p:nvSpPr>
        <p:spPr>
          <a:xfrm>
            <a:off x="812800" y="1866900"/>
            <a:ext cx="10566400" cy="520700"/>
          </a:xfrm>
          <a:prstGeom prst="roundRect">
            <a:avLst>
              <a:gd name="adj" fmla="val 19512"/>
            </a:avLst>
          </a:prstGeom>
          <a:solidFill>
            <a:srgbClr val="2B231E"/>
          </a:solidFill>
          <a:ln/>
        </p:spPr>
        <p:txBody>
          <a:bodyPr wrap="square" lIns="173442" tIns="97242" rIns="0" bIns="71842" rtlCol="0" anchor="t">
            <a:normAutofit/>
          </a:bodyPr>
          <a:lstStyle/>
          <a:p>
            <a:pPr algn="l" indent="0" marL="0">
              <a:lnSpc>
                <a:spcPts val="2100"/>
              </a:lnSpc>
              <a:buNone/>
            </a:pPr>
            <a:r>
              <a:rPr lang="en-US" sz="1400" dirty="0">
                <a:solidFill>
                  <a:srgbClr val="F6F1EA"/>
                </a:solidFill>
                <a:latin typeface="IBM Plex Sans KR" pitchFamily="34" charset="0"/>
                <a:ea typeface="IBM Plex Sans KR" pitchFamily="34" charset="-122"/>
                <a:cs typeface="IBM Plex Sans KR" pitchFamily="34" charset="-120"/>
              </a:rPr>
              <a:t>대면 진단 없이 사진만으로 판단 → </a:t>
            </a:r>
            <a:r>
              <a:rPr lang="en-US" sz="1400" b="1" dirty="0">
                <a:solidFill>
                  <a:srgbClr val="D9B48F"/>
                </a:solidFill>
                <a:latin typeface="IBM Plex Sans KR" pitchFamily="34" charset="0"/>
                <a:ea typeface="IBM Plex Sans KR" pitchFamily="34" charset="-122"/>
                <a:cs typeface="IBM Plex Sans KR" pitchFamily="34" charset="-120"/>
              </a:rPr>
              <a:t>사진만으로 정확하게 판정하는 것이 핵심</a:t>
            </a:r>
            <a:endParaRPr lang="en-US" sz="1400" dirty="0"/>
          </a:p>
        </p:txBody>
      </p:sp>
      <p:sp>
        <p:nvSpPr>
          <p:cNvPr id="6" name="Shape 4"/>
          <p:cNvSpPr/>
          <p:nvPr/>
        </p:nvSpPr>
        <p:spPr>
          <a:xfrm>
            <a:off x="812800" y="2647454"/>
            <a:ext cx="10566400" cy="1942505"/>
          </a:xfrm>
          <a:prstGeom prst="rect">
            <a:avLst/>
          </a:prstGeom>
          <a:solidFill>
            <a:srgbClr val="FFFCF7"/>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2660154"/>
          <a:ext cx="10553700" cy="1929805"/>
        </p:xfrm>
        <a:graphic>
          <a:graphicData uri="http://schemas.openxmlformats.org/drawingml/2006/table">
            <a:tbl>
              <a:tblPr/>
              <a:tblGrid>
                <a:gridCol w="3166110"/>
                <a:gridCol w="4221480"/>
                <a:gridCol w="3166110"/>
              </a:tblGrid>
              <a:tr h="385961">
                <a:tc>
                  <a:txBody>
                    <a:bodyPr/>
                    <a:lstStyle/>
                    <a:p>
                      <a:pPr indent="0" marL="0">
                        <a:lnSpc>
                          <a:spcPts val="1960"/>
                        </a:lnSpc>
                        <a:buNone/>
                      </a:pPr>
                      <a:r>
                        <a:rPr lang="en-US" sz="1400" b="1" dirty="0">
                          <a:solidFill>
                            <a:srgbClr val="2B231E"/>
                          </a:solidFill>
                          <a:latin typeface="IBM Plex Sans KR" pitchFamily="34" charset="0"/>
                          <a:ea typeface="IBM Plex Sans KR" pitchFamily="34" charset="-122"/>
                          <a:cs typeface="IBM Plex Sans KR" pitchFamily="34" charset="-120"/>
                        </a:rPr>
                        <a:t>온라인 진단의 약점</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BC9C5"/>
                      </a:solidFill>
                      <a:prstDash val="solid"/>
                      <a:round/>
                      <a:headEnd type="none" w="med" len="med"/>
                      <a:tailEnd type="none" w="med" len="med"/>
                    </a:lnL>
                    <a:lnR w="12700" cap="flat" cmpd="sng" algn="ctr">
                      <a:solidFill>
                        <a:srgbClr val="BCBAB7"/>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BCBAB7"/>
                      </a:solidFill>
                      <a:prstDash val="solid"/>
                      <a:round/>
                      <a:headEnd type="none" w="med" len="med"/>
                      <a:tailEnd type="none" w="med" len="med"/>
                    </a:lnB>
                    <a:solidFill>
                      <a:srgbClr val="ECE9E5"/>
                    </a:solidFill>
                  </a:tcPr>
                </a:tc>
                <a:tc>
                  <a:txBody>
                    <a:bodyPr/>
                    <a:lstStyle/>
                    <a:p>
                      <a:pPr indent="0" marL="0">
                        <a:lnSpc>
                          <a:spcPts val="1960"/>
                        </a:lnSpc>
                        <a:buNone/>
                      </a:pPr>
                      <a:r>
                        <a:rPr lang="en-US" sz="1400" b="1" dirty="0">
                          <a:solidFill>
                            <a:srgbClr val="2B231E"/>
                          </a:solidFill>
                          <a:latin typeface="IBM Plex Sans KR" pitchFamily="34" charset="0"/>
                          <a:ea typeface="IBM Plex Sans KR" pitchFamily="34" charset="-122"/>
                          <a:cs typeface="IBM Plex Sans KR" pitchFamily="34" charset="-120"/>
                        </a:rPr>
                        <a:t>우리가 보완한 방법</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CBAB7"/>
                      </a:solidFill>
                      <a:prstDash val="solid"/>
                      <a:round/>
                      <a:headEnd type="none" w="med" len="med"/>
                      <a:tailEnd type="none" w="med" len="med"/>
                    </a:lnL>
                    <a:lnR w="12700" cap="flat" cmpd="sng" algn="ctr">
                      <a:solidFill>
                        <a:srgbClr val="BCBAB7"/>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BCBAB7"/>
                      </a:solidFill>
                      <a:prstDash val="solid"/>
                      <a:round/>
                      <a:headEnd type="none" w="med" len="med"/>
                      <a:tailEnd type="none" w="med" len="med"/>
                    </a:lnB>
                    <a:solidFill>
                      <a:srgbClr val="ECE9E5"/>
                    </a:solidFill>
                  </a:tcPr>
                </a:tc>
                <a:tc>
                  <a:txBody>
                    <a:bodyPr/>
                    <a:lstStyle/>
                    <a:p>
                      <a:pPr indent="0" marL="0">
                        <a:lnSpc>
                          <a:spcPts val="1960"/>
                        </a:lnSpc>
                        <a:buNone/>
                      </a:pPr>
                      <a:r>
                        <a:rPr lang="en-US" sz="1400" b="1" dirty="0">
                          <a:solidFill>
                            <a:srgbClr val="2B231E"/>
                          </a:solidFill>
                          <a:latin typeface="IBM Plex Sans KR" pitchFamily="34" charset="0"/>
                          <a:ea typeface="IBM Plex Sans KR" pitchFamily="34" charset="-122"/>
                          <a:cs typeface="IBM Plex Sans KR" pitchFamily="34" charset="-120"/>
                        </a:rPr>
                        <a:t>결과</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CBAB7"/>
                      </a:solidFill>
                      <a:prstDash val="solid"/>
                      <a:round/>
                      <a:headEnd type="none" w="med" len="med"/>
                      <a:tailEnd type="none" w="med" len="med"/>
                    </a:lnL>
                    <a:lnR w="12700" cap="flat" cmpd="sng" algn="ctr">
                      <a:solidFill>
                        <a:srgbClr val="BCBAB7"/>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BCBAB7"/>
                      </a:solidFill>
                      <a:prstDash val="solid"/>
                      <a:round/>
                      <a:headEnd type="none" w="med" len="med"/>
                      <a:tailEnd type="none" w="med" len="med"/>
                    </a:lnB>
                    <a:solidFill>
                      <a:srgbClr val="ECE9E5"/>
                    </a:solidFill>
                  </a:tcPr>
                </a:tc>
              </a:tr>
              <a:tr h="385961">
                <a:tc>
                  <a:txBody>
                    <a:bodyPr/>
                    <a:lstStyle/>
                    <a:p>
                      <a:pPr indent="0" marL="0">
                        <a:lnSpc>
                          <a:spcPts val="1960"/>
                        </a:lnSpc>
                        <a:buNone/>
                      </a:pPr>
                      <a:r>
                        <a:rPr lang="en-US" sz="1400" dirty="0">
                          <a:solidFill>
                            <a:srgbClr val="2B231E"/>
                          </a:solidFill>
                          <a:latin typeface="IBM Plex Sans KR" pitchFamily="34" charset="0"/>
                          <a:ea typeface="IBM Plex Sans KR" pitchFamily="34" charset="-122"/>
                          <a:cs typeface="IBM Plex Sans KR" pitchFamily="34" charset="-120"/>
                        </a:rPr>
                        <a:t>전문가의 눈 없이 사진만으로 톤 판단</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BCBAB7"/>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c>
                  <a:txBody>
                    <a:bodyPr/>
                    <a:lstStyle/>
                    <a:p>
                      <a:pPr indent="0" marL="0">
                        <a:lnSpc>
                          <a:spcPts val="1960"/>
                        </a:lnSpc>
                        <a:buNone/>
                      </a:pPr>
                      <a:r>
                        <a:rPr lang="en-US" sz="1400" dirty="0">
                          <a:solidFill>
                            <a:srgbClr val="2B231E"/>
                          </a:solidFill>
                          <a:latin typeface="IBM Plex Sans KR" pitchFamily="34" charset="0"/>
                          <a:ea typeface="IBM Plex Sans KR" pitchFamily="34" charset="-122"/>
                          <a:cs typeface="IBM Plex Sans KR" pitchFamily="34" charset="-120"/>
                        </a:rPr>
                        <a:t>피부색을 수치 9개로 바꿔 AI가 판정</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BCBAB7"/>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c>
                  <a:txBody>
                    <a:bodyPr/>
                    <a:lstStyle/>
                    <a:p>
                      <a:pPr indent="0" marL="0">
                        <a:lnSpc>
                          <a:spcPts val="1960"/>
                        </a:lnSpc>
                        <a:buNone/>
                      </a:pPr>
                      <a:r>
                        <a:rPr lang="en-US" sz="1400" dirty="0">
                          <a:solidFill>
                            <a:srgbClr val="2B231E"/>
                          </a:solidFill>
                          <a:latin typeface="IBM Plex Sans KR" pitchFamily="34" charset="0"/>
                          <a:ea typeface="IBM Plex Sans KR" pitchFamily="34" charset="-122"/>
                          <a:cs typeface="IBM Plex Sans KR" pitchFamily="34" charset="-120"/>
                        </a:rPr>
                        <a:t>웜·쿨 95.1%</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BCBAB7"/>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r>
              <a:tr h="385961">
                <a:tc>
                  <a:txBody>
                    <a:bodyPr/>
                    <a:lstStyle/>
                    <a:p>
                      <a:pPr indent="0" marL="0">
                        <a:lnSpc>
                          <a:spcPts val="1960"/>
                        </a:lnSpc>
                        <a:buNone/>
                      </a:pPr>
                      <a:r>
                        <a:rPr lang="en-US" sz="1400" dirty="0">
                          <a:solidFill>
                            <a:srgbClr val="2B231E"/>
                          </a:solidFill>
                          <a:latin typeface="IBM Plex Sans KR" pitchFamily="34" charset="0"/>
                          <a:ea typeface="IBM Plex Sans KR" pitchFamily="34" charset="-122"/>
                          <a:cs typeface="IBM Plex Sans KR" pitchFamily="34" charset="-120"/>
                        </a:rPr>
                        <a:t>한 장 측정값이 흔들림</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c>
                  <a:txBody>
                    <a:bodyPr/>
                    <a:lstStyle/>
                    <a:p>
                      <a:pPr indent="0" marL="0">
                        <a:lnSpc>
                          <a:spcPts val="1960"/>
                        </a:lnSpc>
                        <a:buNone/>
                      </a:pPr>
                      <a:r>
                        <a:rPr lang="en-US" sz="1400" dirty="0">
                          <a:solidFill>
                            <a:srgbClr val="2B231E"/>
                          </a:solidFill>
                          <a:latin typeface="IBM Plex Sans KR" pitchFamily="34" charset="0"/>
                          <a:ea typeface="IBM Plex Sans KR" pitchFamily="34" charset="-122"/>
                          <a:cs typeface="IBM Plex Sans KR" pitchFamily="34" charset="-120"/>
                        </a:rPr>
                        <a:t>팔 제거 + 6번 재서 평균</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c>
                  <a:txBody>
                    <a:bodyPr/>
                    <a:lstStyle/>
                    <a:p>
                      <a:pPr indent="0" marL="0">
                        <a:lnSpc>
                          <a:spcPts val="1960"/>
                        </a:lnSpc>
                        <a:buNone/>
                      </a:pPr>
                      <a:r>
                        <a:rPr lang="en-US" sz="1400" dirty="0">
                          <a:solidFill>
                            <a:srgbClr val="2B231E"/>
                          </a:solidFill>
                          <a:latin typeface="IBM Plex Sans KR" pitchFamily="34" charset="0"/>
                          <a:ea typeface="IBM Plex Sans KR" pitchFamily="34" charset="-122"/>
                          <a:cs typeface="IBM Plex Sans KR" pitchFamily="34" charset="-120"/>
                        </a:rPr>
                        <a:t>측정 안정화</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r>
              <a:tr h="385961">
                <a:tc>
                  <a:txBody>
                    <a:bodyPr/>
                    <a:lstStyle/>
                    <a:p>
                      <a:pPr indent="0" marL="0">
                        <a:lnSpc>
                          <a:spcPts val="1960"/>
                        </a:lnSpc>
                        <a:buNone/>
                      </a:pPr>
                      <a:r>
                        <a:rPr lang="en-US" sz="1400" dirty="0">
                          <a:solidFill>
                            <a:srgbClr val="2B231E"/>
                          </a:solidFill>
                          <a:latin typeface="IBM Plex Sans KR" pitchFamily="34" charset="0"/>
                          <a:ea typeface="IBM Plex Sans KR" pitchFamily="34" charset="-122"/>
                          <a:cs typeface="IBM Plex Sans KR" pitchFamily="34" charset="-120"/>
                        </a:rPr>
                        <a:t>정면 사진으론 뼈·살 판단이 어려움</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c>
                  <a:txBody>
                    <a:bodyPr/>
                    <a:lstStyle/>
                    <a:p>
                      <a:pPr indent="0" marL="0">
                        <a:lnSpc>
                          <a:spcPts val="1960"/>
                        </a:lnSpc>
                        <a:buNone/>
                      </a:pPr>
                      <a:r>
                        <a:rPr lang="en-US" sz="1400" dirty="0">
                          <a:solidFill>
                            <a:srgbClr val="2B231E"/>
                          </a:solidFill>
                          <a:latin typeface="IBM Plex Sans KR" pitchFamily="34" charset="0"/>
                          <a:ea typeface="IBM Plex Sans KR" pitchFamily="34" charset="-122"/>
                          <a:cs typeface="IBM Plex Sans KR" pitchFamily="34" charset="-120"/>
                        </a:rPr>
                        <a:t>설문 11문항 직접 설계해 사진과 결합</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c>
                  <a:txBody>
                    <a:bodyPr/>
                    <a:lstStyle/>
                    <a:p>
                      <a:pPr indent="0" marL="0">
                        <a:lnSpc>
                          <a:spcPts val="1960"/>
                        </a:lnSpc>
                        <a:buNone/>
                      </a:pPr>
                      <a:r>
                        <a:rPr lang="en-US" sz="1400" dirty="0">
                          <a:solidFill>
                            <a:srgbClr val="2B231E"/>
                          </a:solidFill>
                          <a:latin typeface="IBM Plex Sans KR" pitchFamily="34" charset="0"/>
                          <a:ea typeface="IBM Plex Sans KR" pitchFamily="34" charset="-122"/>
                          <a:cs typeface="IBM Plex Sans KR" pitchFamily="34" charset="-120"/>
                        </a:rPr>
                        <a:t>스트레이트·내추럴까지 3유형 판정</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r>
              <a:tr h="385961">
                <a:tc>
                  <a:txBody>
                    <a:bodyPr/>
                    <a:lstStyle/>
                    <a:p>
                      <a:pPr indent="0" marL="0">
                        <a:lnSpc>
                          <a:spcPts val="1960"/>
                        </a:lnSpc>
                        <a:buNone/>
                      </a:pPr>
                      <a:r>
                        <a:rPr lang="en-US" sz="1400" dirty="0">
                          <a:solidFill>
                            <a:srgbClr val="2B231E"/>
                          </a:solidFill>
                          <a:latin typeface="IBM Plex Sans KR" pitchFamily="34" charset="0"/>
                          <a:ea typeface="IBM Plex Sans KR" pitchFamily="34" charset="-122"/>
                          <a:cs typeface="IBM Plex Sans KR" pitchFamily="34" charset="-120"/>
                        </a:rPr>
                        <a:t>실제 사진 수집 어려움</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c>
                  <a:txBody>
                    <a:bodyPr/>
                    <a:lstStyle/>
                    <a:p>
                      <a:pPr indent="0" marL="0">
                        <a:lnSpc>
                          <a:spcPts val="1960"/>
                        </a:lnSpc>
                        <a:buNone/>
                      </a:pPr>
                      <a:r>
                        <a:rPr lang="en-US" sz="1400" dirty="0">
                          <a:solidFill>
                            <a:srgbClr val="2B231E"/>
                          </a:solidFill>
                          <a:latin typeface="IBM Plex Sans KR" pitchFamily="34" charset="0"/>
                          <a:ea typeface="IBM Plex Sans KR" pitchFamily="34" charset="-122"/>
                          <a:cs typeface="IBM Plex Sans KR" pitchFamily="34" charset="-120"/>
                        </a:rPr>
                        <a:t>생성형 AI로 데이터셋 직접 구축</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c>
                  <a:txBody>
                    <a:bodyPr/>
                    <a:lstStyle/>
                    <a:p>
                      <a:pPr indent="0" marL="0">
                        <a:lnSpc>
                          <a:spcPts val="1960"/>
                        </a:lnSpc>
                        <a:buNone/>
                      </a:pPr>
                      <a:r>
                        <a:rPr lang="en-US" sz="1400" dirty="0">
                          <a:solidFill>
                            <a:srgbClr val="2B231E"/>
                          </a:solidFill>
                          <a:latin typeface="IBM Plex Sans KR" pitchFamily="34" charset="0"/>
                          <a:ea typeface="IBM Plex Sans KR" pitchFamily="34" charset="-122"/>
                          <a:cs typeface="IBM Plex Sans KR" pitchFamily="34" charset="-120"/>
                        </a:rPr>
                        <a:t>얼굴 205장 · 전신 69장</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DE4D8"/>
        </a:solidFill>
      </p:bgPr>
    </p:bg>
    <p:spTree>
      <p:nvGrpSpPr>
        <p:cNvPr id="1" name=""/>
        <p:cNvGrpSpPr/>
        <p:nvPr/>
      </p:nvGrpSpPr>
      <p:grpSpPr>
        <a:xfrm>
          <a:off x="0" y="0"/>
          <a:ext cx="0" cy="0"/>
          <a:chOff x="0" y="0"/>
          <a:chExt cx="0" cy="0"/>
        </a:xfrm>
      </p:grpSpPr>
      <p:sp>
        <p:nvSpPr>
          <p:cNvPr id="2" name="Text 0"/>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B6E"/>
                </a:solidFill>
                <a:latin typeface="IBM Plex Sans KR" pitchFamily="34" charset="0"/>
                <a:ea typeface="IBM Plex Sans KR" pitchFamily="34" charset="-122"/>
                <a:cs typeface="IBM Plex Sans KR" pitchFamily="34" charset="-120"/>
              </a:rPr>
              <a:t>개선의 핵심: 실제 사람 데이터 · 다양한 촬영 조건 · 세분화된 학습</a:t>
            </a:r>
            <a:endParaRPr lang="en-US" sz="1200" dirty="0"/>
          </a:p>
        </p:txBody>
      </p:sp>
      <p:sp>
        <p:nvSpPr>
          <p:cNvPr id="3" name="Text 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7B6E"/>
                </a:solidFill>
                <a:latin typeface="IBM Plex Sans KR" pitchFamily="34" charset="0"/>
                <a:ea typeface="IBM Plex Sans KR" pitchFamily="34" charset="-122"/>
                <a:cs typeface="IBM Plex Sans KR" pitchFamily="34" charset="-120"/>
              </a:rPr>
              <a:t>12</a:t>
            </a:r>
            <a:endParaRPr lang="en-US" sz="1200" dirty="0"/>
          </a:p>
        </p:txBody>
      </p:sp>
      <p:sp>
        <p:nvSpPr>
          <p:cNvPr id="4" name="Text 2"/>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C6440"/>
                </a:solidFill>
                <a:latin typeface="IBM Plex Sans KR" pitchFamily="34" charset="0"/>
                <a:ea typeface="IBM Plex Sans KR" pitchFamily="34" charset="-122"/>
                <a:cs typeface="IBM Plex Sans KR" pitchFamily="34" charset="-120"/>
              </a:rPr>
              <a:t>개선 방향</a:t>
            </a:r>
            <a:endParaRPr lang="en-US" sz="1200" dirty="0"/>
          </a:p>
        </p:txBody>
      </p:sp>
      <p:sp>
        <p:nvSpPr>
          <p:cNvPr id="5" name="Text 3"/>
          <p:cNvSpPr/>
          <p:nvPr/>
        </p:nvSpPr>
        <p:spPr>
          <a:xfrm>
            <a:off x="812800" y="1127720"/>
            <a:ext cx="10883392" cy="513060"/>
          </a:xfrm>
          <a:prstGeom prst="rect">
            <a:avLst/>
          </a:prstGeom>
          <a:noFill/>
          <a:ln/>
        </p:spPr>
        <p:txBody>
          <a:bodyPr wrap="square" lIns="0" tIns="0" rIns="0" bIns="0" rtlCol="0" anchor="t">
            <a:normAutofit/>
          </a:bodyPr>
          <a:lstStyle/>
          <a:p>
            <a:pPr algn="l" indent="0" marL="0">
              <a:lnSpc>
                <a:spcPts val="3840"/>
              </a:lnSpc>
              <a:buNone/>
            </a:pPr>
            <a:r>
              <a:rPr lang="en-US" sz="3200" b="1" dirty="0">
                <a:solidFill>
                  <a:srgbClr val="2B231E"/>
                </a:solidFill>
                <a:latin typeface="Noto Serif KR" pitchFamily="18" charset="0"/>
                <a:ea typeface="Noto Serif KR" pitchFamily="18" charset="-122"/>
                <a:cs typeface="Noto Serif KR" pitchFamily="18" charset="-120"/>
              </a:rPr>
              <a:t>앞으로의 계획</a:t>
            </a:r>
            <a:endParaRPr lang="en-US" sz="3200" dirty="0"/>
          </a:p>
        </p:txBody>
      </p:sp>
      <p:sp>
        <p:nvSpPr>
          <p:cNvPr id="6" name="Text 4"/>
          <p:cNvSpPr/>
          <p:nvPr/>
        </p:nvSpPr>
        <p:spPr>
          <a:xfrm>
            <a:off x="812800" y="1841500"/>
            <a:ext cx="10566400" cy="530225"/>
          </a:xfrm>
          <a:prstGeom prst="roundRect">
            <a:avLst>
              <a:gd name="adj" fmla="val 19162"/>
            </a:avLst>
          </a:prstGeom>
          <a:solidFill>
            <a:srgbClr val="2B231E"/>
          </a:solidFill>
          <a:ln/>
        </p:spPr>
        <p:txBody>
          <a:bodyPr wrap="square" lIns="173442" tIns="97242" rIns="0" bIns="71842" rtlCol="0" anchor="t">
            <a:normAutofit/>
          </a:bodyPr>
          <a:lstStyle/>
          <a:p>
            <a:pPr algn="l" indent="0" marL="0">
              <a:lnSpc>
                <a:spcPts val="2175"/>
              </a:lnSpc>
              <a:buNone/>
            </a:pPr>
            <a:r>
              <a:rPr lang="en-US" sz="1500" dirty="0">
                <a:solidFill>
                  <a:srgbClr val="F6F1EA"/>
                </a:solidFill>
                <a:latin typeface="IBM Plex Sans KR" pitchFamily="34" charset="0"/>
                <a:ea typeface="IBM Plex Sans KR" pitchFamily="34" charset="-122"/>
                <a:cs typeface="IBM Plex Sans KR" pitchFamily="34" charset="-120"/>
              </a:rPr>
              <a:t>목표: </a:t>
            </a:r>
            <a:r>
              <a:rPr lang="en-US" sz="1500" b="1" dirty="0">
                <a:solidFill>
                  <a:srgbClr val="D9B48F"/>
                </a:solidFill>
                <a:latin typeface="IBM Plex Sans KR" pitchFamily="34" charset="0"/>
                <a:ea typeface="IBM Plex Sans KR" pitchFamily="34" charset="-122"/>
                <a:cs typeface="IBM Plex Sans KR" pitchFamily="34" charset="-120"/>
              </a:rPr>
              <a:t>진단 정확도</a:t>
            </a:r>
            <a:r>
              <a:rPr lang="en-US" sz="1500" dirty="0">
                <a:solidFill>
                  <a:srgbClr val="F6F1EA"/>
                </a:solidFill>
                <a:latin typeface="IBM Plex Sans KR" pitchFamily="34" charset="0"/>
                <a:ea typeface="IBM Plex Sans KR" pitchFamily="34" charset="-122"/>
                <a:cs typeface="IBM Plex Sans KR" pitchFamily="34" charset="-120"/>
              </a:rPr>
              <a:t>와 </a:t>
            </a:r>
            <a:r>
              <a:rPr lang="en-US" sz="1500" b="1" dirty="0">
                <a:solidFill>
                  <a:srgbClr val="D9B48F"/>
                </a:solidFill>
                <a:latin typeface="IBM Plex Sans KR" pitchFamily="34" charset="0"/>
                <a:ea typeface="IBM Plex Sans KR" pitchFamily="34" charset="-122"/>
                <a:cs typeface="IBM Plex Sans KR" pitchFamily="34" charset="-120"/>
              </a:rPr>
              <a:t>피팅 품질</a:t>
            </a:r>
            <a:r>
              <a:rPr lang="en-US" sz="1500" dirty="0">
                <a:solidFill>
                  <a:srgbClr val="F6F1EA"/>
                </a:solidFill>
                <a:latin typeface="IBM Plex Sans KR" pitchFamily="34" charset="0"/>
                <a:ea typeface="IBM Plex Sans KR" pitchFamily="34" charset="-122"/>
                <a:cs typeface="IBM Plex Sans KR" pitchFamily="34" charset="-120"/>
              </a:rPr>
              <a:t> — 사진만으로도 대면 진단만큼 정확하게</a:t>
            </a:r>
            <a:endParaRPr lang="en-US" sz="1500" dirty="0"/>
          </a:p>
        </p:txBody>
      </p:sp>
      <p:sp>
        <p:nvSpPr>
          <p:cNvPr id="7" name="Shape 5"/>
          <p:cNvSpPr/>
          <p:nvPr/>
        </p:nvSpPr>
        <p:spPr>
          <a:xfrm>
            <a:off x="815975" y="2606675"/>
            <a:ext cx="5213350" cy="1416943"/>
          </a:xfrm>
          <a:prstGeom prst="roundRect">
            <a:avLst>
              <a:gd name="adj" fmla="val 8739"/>
            </a:avLst>
          </a:prstGeom>
          <a:solidFill>
            <a:srgbClr val="FFFCF7"/>
          </a:solidFill>
          <a:ln w="6350">
            <a:solidFill>
              <a:srgbClr val="E3D8CA"/>
            </a:solidFill>
            <a:prstDash val="solid"/>
          </a:ln>
        </p:spPr>
      </p:sp>
      <p:sp>
        <p:nvSpPr>
          <p:cNvPr id="8" name="Text 6"/>
          <p:cNvSpPr/>
          <p:nvPr/>
        </p:nvSpPr>
        <p:spPr>
          <a:xfrm>
            <a:off x="1022350" y="2787650"/>
            <a:ext cx="4944618" cy="274042"/>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9C6440"/>
                </a:solidFill>
                <a:latin typeface="IBM Plex Sans KR" pitchFamily="34" charset="0"/>
                <a:ea typeface="IBM Plex Sans KR" pitchFamily="34" charset="-122"/>
                <a:cs typeface="IBM Plex Sans KR" pitchFamily="34" charset="-120"/>
              </a:rPr>
              <a:t>① 체형 진단</a:t>
            </a:r>
            <a:endParaRPr lang="en-US" sz="1400" dirty="0"/>
          </a:p>
        </p:txBody>
      </p:sp>
      <p:sp>
        <p:nvSpPr>
          <p:cNvPr id="9" name="Text 7"/>
          <p:cNvSpPr/>
          <p:nvPr/>
        </p:nvSpPr>
        <p:spPr>
          <a:xfrm>
            <a:off x="1022350" y="3194348"/>
            <a:ext cx="1587500" cy="579041"/>
          </a:xfrm>
          <a:prstGeom prst="roundRect">
            <a:avLst>
              <a:gd name="adj" fmla="val 13160"/>
            </a:avLst>
          </a:prstGeom>
          <a:solidFill>
            <a:srgbClr val="EDE4D8"/>
          </a:solidFill>
          <a:ln/>
        </p:spPr>
        <p:txBody>
          <a:bodyPr wrap="square" lIns="79282" tIns="53882" rIns="28482" bIns="28482" rtlCol="0" anchor="t">
            <a:normAutofit/>
          </a:bodyPr>
          <a:lstStyle/>
          <a:p>
            <a:pPr algn="l" indent="0" marL="0">
              <a:lnSpc>
                <a:spcPts val="1680"/>
              </a:lnSpc>
              <a:buNone/>
            </a:pPr>
            <a:r>
              <a:rPr lang="en-US" sz="1200" dirty="0">
                <a:solidFill>
                  <a:srgbClr val="8A7B6E"/>
                </a:solidFill>
                <a:latin typeface="IBM Plex Sans KR" pitchFamily="34" charset="0"/>
                <a:ea typeface="IBM Plex Sans KR" pitchFamily="34" charset="-122"/>
                <a:cs typeface="IBM Plex Sans KR" pitchFamily="34" charset="-120"/>
              </a:rPr>
              <a:t>지금</a:t>
            </a:r>
            <a:endParaRPr lang="en-US" sz="1200" dirty="0"/>
          </a:p>
          <a:p>
            <a:pPr algn="l" indent="0" marL="0">
              <a:lnSpc>
                <a:spcPts val="1680"/>
              </a:lnSpc>
              <a:buNone/>
            </a:pPr>
            <a:r>
              <a:rPr lang="en-US" sz="1200" dirty="0">
                <a:solidFill>
                  <a:srgbClr val="8A7B6E"/>
                </a:solidFill>
                <a:latin typeface="IBM Plex Sans KR" pitchFamily="34" charset="0"/>
                <a:ea typeface="IBM Plex Sans KR" pitchFamily="34" charset="-122"/>
                <a:cs typeface="IBM Plex Sans KR" pitchFamily="34" charset="-120"/>
              </a:rPr>
              <a:t>생성 이미지 · 정면만</a:t>
            </a:r>
            <a:endParaRPr lang="en-US" sz="1200" dirty="0"/>
          </a:p>
        </p:txBody>
      </p:sp>
      <p:pic>
        <p:nvPicPr>
          <p:cNvPr id="10" name="Image 0" descr="arrow-right">    </p:cNvPr>
          <p:cNvPicPr>
            <a:picLocks noChangeAspect="1"/>
          </p:cNvPicPr>
          <p:nvPr/>
        </p:nvPicPr>
        <p:blipFill>
          <a:blip r:embed="rId1"/>
          <a:srcRect l="0" r="0" t="0" b="0"/>
          <a:stretch/>
        </p:blipFill>
        <p:spPr>
          <a:xfrm>
            <a:off x="2711450" y="3414018"/>
            <a:ext cx="254000" cy="139700"/>
          </a:xfrm>
          <a:prstGeom prst="rect">
            <a:avLst/>
          </a:prstGeom>
        </p:spPr>
      </p:pic>
      <p:sp>
        <p:nvSpPr>
          <p:cNvPr id="11" name="Text 8"/>
          <p:cNvSpPr/>
          <p:nvPr/>
        </p:nvSpPr>
        <p:spPr>
          <a:xfrm>
            <a:off x="3067050" y="3124994"/>
            <a:ext cx="2838577" cy="743347"/>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2B231E"/>
                </a:solidFill>
                <a:latin typeface="IBM Plex Sans KR" pitchFamily="34" charset="0"/>
                <a:ea typeface="IBM Plex Sans KR" pitchFamily="34" charset="-122"/>
                <a:cs typeface="IBM Plex Sans KR" pitchFamily="34" charset="-120"/>
              </a:rPr>
              <a:t>실제 사람의 </a:t>
            </a:r>
            <a:r>
              <a:rPr lang="en-US" sz="1300" b="1" dirty="0">
                <a:solidFill>
                  <a:srgbClr val="2B231E"/>
                </a:solidFill>
                <a:latin typeface="IBM Plex Sans KR" pitchFamily="34" charset="0"/>
                <a:ea typeface="IBM Plex Sans KR" pitchFamily="34" charset="-122"/>
                <a:cs typeface="IBM Plex Sans KR" pitchFamily="34" charset="-120"/>
              </a:rPr>
              <a:t>정면 + 측면</a:t>
            </a:r>
            <a:r>
              <a:rPr lang="en-US" sz="1300" b="1" dirty="0">
                <a:solidFill>
                  <a:srgbClr val="2B231E"/>
                </a:solidFill>
                <a:latin typeface="IBM Plex Sans KR" pitchFamily="34" charset="0"/>
                <a:ea typeface="IBM Plex Sans KR" pitchFamily="34" charset="-122"/>
                <a:cs typeface="IBM Plex Sans KR" pitchFamily="34" charset="-120"/>
              </a:rPr>
              <a:t> 사진 대량 학습 · 측면 사진도 업로드</a:t>
            </a:r>
            <a:endParaRPr lang="en-US" sz="1300" dirty="0"/>
          </a:p>
          <a:p>
            <a:pPr algn="l" indent="0" marL="0">
              <a:lnSpc>
                <a:spcPts val="1885"/>
              </a:lnSpc>
              <a:buNone/>
            </a:pPr>
            <a:r>
              <a:rPr lang="en-US" sz="1300" b="1" dirty="0">
                <a:solidFill>
                  <a:srgbClr val="2B231E"/>
                </a:solidFill>
                <a:latin typeface="IBM Plex Sans KR" pitchFamily="34" charset="0"/>
                <a:ea typeface="IBM Plex Sans KR" pitchFamily="34" charset="-122"/>
                <a:cs typeface="IBM Plex Sans KR" pitchFamily="34" charset="-120"/>
              </a:rPr>
              <a:t>→ 체형 판정 정확도 향상</a:t>
            </a:r>
            <a:endParaRPr lang="en-US" sz="1300" dirty="0"/>
          </a:p>
        </p:txBody>
      </p:sp>
      <p:sp>
        <p:nvSpPr>
          <p:cNvPr id="12" name="Shape 9"/>
          <p:cNvSpPr/>
          <p:nvPr/>
        </p:nvSpPr>
        <p:spPr>
          <a:xfrm>
            <a:off x="6162675" y="2606675"/>
            <a:ext cx="5213350" cy="1416943"/>
          </a:xfrm>
          <a:prstGeom prst="roundRect">
            <a:avLst>
              <a:gd name="adj" fmla="val 8739"/>
            </a:avLst>
          </a:prstGeom>
          <a:solidFill>
            <a:srgbClr val="FFFCF7"/>
          </a:solidFill>
          <a:ln w="6350">
            <a:solidFill>
              <a:srgbClr val="E3D8CA"/>
            </a:solidFill>
            <a:prstDash val="solid"/>
          </a:ln>
        </p:spPr>
      </p:sp>
      <p:sp>
        <p:nvSpPr>
          <p:cNvPr id="13" name="Text 10"/>
          <p:cNvSpPr/>
          <p:nvPr/>
        </p:nvSpPr>
        <p:spPr>
          <a:xfrm>
            <a:off x="6369050" y="2787650"/>
            <a:ext cx="4944618"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9C6440"/>
                </a:solidFill>
                <a:latin typeface="IBM Plex Sans KR" pitchFamily="34" charset="0"/>
                <a:ea typeface="IBM Plex Sans KR" pitchFamily="34" charset="-122"/>
                <a:cs typeface="IBM Plex Sans KR" pitchFamily="34" charset="-120"/>
              </a:rPr>
              <a:t>② 퍼스널컬러</a:t>
            </a:r>
            <a:endParaRPr lang="en-US" sz="1400" dirty="0"/>
          </a:p>
        </p:txBody>
      </p:sp>
      <p:sp>
        <p:nvSpPr>
          <p:cNvPr id="14" name="Text 11"/>
          <p:cNvSpPr/>
          <p:nvPr/>
        </p:nvSpPr>
        <p:spPr>
          <a:xfrm>
            <a:off x="6369050" y="3125391"/>
            <a:ext cx="1587500" cy="579041"/>
          </a:xfrm>
          <a:prstGeom prst="roundRect">
            <a:avLst>
              <a:gd name="adj" fmla="val 13160"/>
            </a:avLst>
          </a:prstGeom>
          <a:solidFill>
            <a:srgbClr val="EDE4D8"/>
          </a:solidFill>
          <a:ln/>
        </p:spPr>
        <p:txBody>
          <a:bodyPr wrap="square" lIns="79282" tIns="53882" rIns="28482" bIns="28482" rtlCol="0" anchor="t">
            <a:normAutofit/>
          </a:bodyPr>
          <a:lstStyle/>
          <a:p>
            <a:pPr algn="l" indent="0" marL="0">
              <a:lnSpc>
                <a:spcPts val="1680"/>
              </a:lnSpc>
              <a:buNone/>
            </a:pPr>
            <a:r>
              <a:rPr lang="en-US" sz="1200" dirty="0">
                <a:solidFill>
                  <a:srgbClr val="8A7B6E"/>
                </a:solidFill>
                <a:latin typeface="IBM Plex Sans KR" pitchFamily="34" charset="0"/>
                <a:ea typeface="IBM Plex Sans KR" pitchFamily="34" charset="-122"/>
                <a:cs typeface="IBM Plex Sans KR" pitchFamily="34" charset="-120"/>
              </a:rPr>
              <a:t>지금</a:t>
            </a:r>
            <a:endParaRPr lang="en-US" sz="1200" dirty="0"/>
          </a:p>
          <a:p>
            <a:pPr algn="l" indent="0" marL="0">
              <a:lnSpc>
                <a:spcPts val="1680"/>
              </a:lnSpc>
              <a:buNone/>
            </a:pPr>
            <a:r>
              <a:rPr lang="en-US" sz="1200" dirty="0">
                <a:solidFill>
                  <a:srgbClr val="8A7B6E"/>
                </a:solidFill>
                <a:latin typeface="IBM Plex Sans KR" pitchFamily="34" charset="0"/>
                <a:ea typeface="IBM Plex Sans KR" pitchFamily="34" charset="-122"/>
                <a:cs typeface="IBM Plex Sans KR" pitchFamily="34" charset="-120"/>
              </a:rPr>
              <a:t>생성 이미지 학습</a:t>
            </a:r>
            <a:endParaRPr lang="en-US" sz="1200" dirty="0"/>
          </a:p>
        </p:txBody>
      </p:sp>
      <p:pic>
        <p:nvPicPr>
          <p:cNvPr id="15" name="Image 1" descr="arrow-right">    </p:cNvPr>
          <p:cNvPicPr>
            <a:picLocks noChangeAspect="1"/>
          </p:cNvPicPr>
          <p:nvPr/>
        </p:nvPicPr>
        <p:blipFill>
          <a:blip r:embed="rId2"/>
          <a:srcRect l="0" r="0" t="0" b="0"/>
          <a:stretch/>
        </p:blipFill>
        <p:spPr>
          <a:xfrm>
            <a:off x="8058150" y="3345061"/>
            <a:ext cx="254000" cy="139700"/>
          </a:xfrm>
          <a:prstGeom prst="rect">
            <a:avLst/>
          </a:prstGeom>
        </p:spPr>
      </p:pic>
      <p:sp>
        <p:nvSpPr>
          <p:cNvPr id="16" name="Text 12"/>
          <p:cNvSpPr/>
          <p:nvPr/>
        </p:nvSpPr>
        <p:spPr>
          <a:xfrm>
            <a:off x="8413750" y="3175595"/>
            <a:ext cx="2838577" cy="504031"/>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2B231E"/>
                </a:solidFill>
                <a:latin typeface="IBM Plex Sans KR" pitchFamily="34" charset="0"/>
                <a:ea typeface="IBM Plex Sans KR" pitchFamily="34" charset="-122"/>
                <a:cs typeface="IBM Plex Sans KR" pitchFamily="34" charset="-120"/>
              </a:rPr>
              <a:t>실제 얼굴을 </a:t>
            </a:r>
            <a:r>
              <a:rPr lang="en-US" sz="1300" b="1" dirty="0">
                <a:solidFill>
                  <a:srgbClr val="2B231E"/>
                </a:solidFill>
                <a:latin typeface="IBM Plex Sans KR" pitchFamily="34" charset="0"/>
                <a:ea typeface="IBM Plex Sans KR" pitchFamily="34" charset="-122"/>
                <a:cs typeface="IBM Plex Sans KR" pitchFamily="34" charset="-120"/>
              </a:rPr>
              <a:t>화장 전·후, 조명별</a:t>
            </a:r>
            <a:r>
              <a:rPr lang="en-US" sz="1300" b="1" dirty="0">
                <a:solidFill>
                  <a:srgbClr val="2B231E"/>
                </a:solidFill>
                <a:latin typeface="IBM Plex Sans KR" pitchFamily="34" charset="0"/>
                <a:ea typeface="IBM Plex Sans KR" pitchFamily="34" charset="-122"/>
                <a:cs typeface="IBM Plex Sans KR" pitchFamily="34" charset="-120"/>
              </a:rPr>
              <a:t>로 학습</a:t>
            </a:r>
            <a:endParaRPr lang="en-US" sz="1300" dirty="0"/>
          </a:p>
          <a:p>
            <a:pPr algn="l" indent="0" marL="0">
              <a:lnSpc>
                <a:spcPts val="1885"/>
              </a:lnSpc>
              <a:buNone/>
            </a:pPr>
            <a:r>
              <a:rPr lang="en-US" sz="1300" b="1" dirty="0">
                <a:solidFill>
                  <a:srgbClr val="2B231E"/>
                </a:solidFill>
                <a:latin typeface="IBM Plex Sans KR" pitchFamily="34" charset="0"/>
                <a:ea typeface="IBM Plex Sans KR" pitchFamily="34" charset="-122"/>
                <a:cs typeface="IBM Plex Sans KR" pitchFamily="34" charset="-120"/>
              </a:rPr>
              <a:t>→ 어떤 사진이든 정확한 컬러 진단</a:t>
            </a:r>
            <a:endParaRPr lang="en-US" sz="1300" dirty="0"/>
          </a:p>
        </p:txBody>
      </p:sp>
      <p:sp>
        <p:nvSpPr>
          <p:cNvPr id="17" name="Shape 13"/>
          <p:cNvSpPr/>
          <p:nvPr/>
        </p:nvSpPr>
        <p:spPr>
          <a:xfrm>
            <a:off x="815975" y="4156968"/>
            <a:ext cx="5213350" cy="1491357"/>
          </a:xfrm>
          <a:prstGeom prst="roundRect">
            <a:avLst>
              <a:gd name="adj" fmla="val 8303"/>
            </a:avLst>
          </a:prstGeom>
          <a:solidFill>
            <a:srgbClr val="FFFCF7"/>
          </a:solidFill>
          <a:ln w="6350">
            <a:solidFill>
              <a:srgbClr val="E3D8CA"/>
            </a:solidFill>
            <a:prstDash val="solid"/>
          </a:ln>
        </p:spPr>
      </p:sp>
      <p:sp>
        <p:nvSpPr>
          <p:cNvPr id="18" name="Text 14"/>
          <p:cNvSpPr/>
          <p:nvPr/>
        </p:nvSpPr>
        <p:spPr>
          <a:xfrm>
            <a:off x="1022350" y="4337943"/>
            <a:ext cx="4944618" cy="274042"/>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9C6440"/>
                </a:solidFill>
                <a:latin typeface="IBM Plex Sans KR" pitchFamily="34" charset="0"/>
                <a:ea typeface="IBM Plex Sans KR" pitchFamily="34" charset="-122"/>
                <a:cs typeface="IBM Plex Sans KR" pitchFamily="34" charset="-120"/>
              </a:rPr>
              <a:t>③ 세분화 진단</a:t>
            </a:r>
            <a:endParaRPr lang="en-US" sz="1400" dirty="0"/>
          </a:p>
        </p:txBody>
      </p:sp>
      <p:sp>
        <p:nvSpPr>
          <p:cNvPr id="19" name="Text 15"/>
          <p:cNvSpPr/>
          <p:nvPr/>
        </p:nvSpPr>
        <p:spPr>
          <a:xfrm>
            <a:off x="1022350" y="4675287"/>
            <a:ext cx="1587500" cy="792361"/>
          </a:xfrm>
          <a:prstGeom prst="roundRect">
            <a:avLst>
              <a:gd name="adj" fmla="val 9617"/>
            </a:avLst>
          </a:prstGeom>
          <a:solidFill>
            <a:srgbClr val="EDE4D8"/>
          </a:solidFill>
          <a:ln/>
        </p:spPr>
        <p:txBody>
          <a:bodyPr wrap="square" lIns="79282" tIns="53882" rIns="28482" bIns="28482" rtlCol="0" anchor="t">
            <a:normAutofit/>
          </a:bodyPr>
          <a:lstStyle/>
          <a:p>
            <a:pPr algn="l" indent="0" marL="0">
              <a:lnSpc>
                <a:spcPts val="1680"/>
              </a:lnSpc>
              <a:buNone/>
            </a:pPr>
            <a:r>
              <a:rPr lang="en-US" sz="1200" dirty="0">
                <a:solidFill>
                  <a:srgbClr val="8A7B6E"/>
                </a:solidFill>
                <a:latin typeface="IBM Plex Sans KR" pitchFamily="34" charset="0"/>
                <a:ea typeface="IBM Plex Sans KR" pitchFamily="34" charset="-122"/>
                <a:cs typeface="IBM Plex Sans KR" pitchFamily="34" charset="-120"/>
              </a:rPr>
              <a:t>지금</a:t>
            </a:r>
            <a:endParaRPr lang="en-US" sz="1200" dirty="0"/>
          </a:p>
          <a:p>
            <a:pPr algn="l" indent="0" marL="0">
              <a:lnSpc>
                <a:spcPts val="1680"/>
              </a:lnSpc>
              <a:buNone/>
            </a:pPr>
            <a:r>
              <a:rPr lang="en-US" sz="1200" dirty="0">
                <a:solidFill>
                  <a:srgbClr val="8A7B6E"/>
                </a:solidFill>
                <a:latin typeface="IBM Plex Sans KR" pitchFamily="34" charset="0"/>
                <a:ea typeface="IBM Plex Sans KR" pitchFamily="34" charset="-122"/>
                <a:cs typeface="IBM Plex Sans KR" pitchFamily="34" charset="-120"/>
              </a:rPr>
              <a:t>웜·쿨 2분류 ·</a:t>
            </a:r>
            <a:endParaRPr lang="en-US" sz="1200" dirty="0"/>
          </a:p>
          <a:p>
            <a:pPr algn="l" indent="0" marL="0">
              <a:lnSpc>
                <a:spcPts val="1680"/>
              </a:lnSpc>
              <a:buNone/>
            </a:pPr>
            <a:r>
              <a:rPr lang="en-US" sz="1200" dirty="0">
                <a:solidFill>
                  <a:srgbClr val="8A7B6E"/>
                </a:solidFill>
                <a:latin typeface="IBM Plex Sans KR" pitchFamily="34" charset="0"/>
                <a:ea typeface="IBM Plex Sans KR" pitchFamily="34" charset="-122"/>
                <a:cs typeface="IBM Plex Sans KR" pitchFamily="34" charset="-120"/>
              </a:rPr>
              <a:t>골격 3유형</a:t>
            </a:r>
            <a:endParaRPr lang="en-US" sz="1200" dirty="0"/>
          </a:p>
        </p:txBody>
      </p:sp>
      <p:pic>
        <p:nvPicPr>
          <p:cNvPr id="20" name="Image 2" descr="arrow-right">    </p:cNvPr>
          <p:cNvPicPr>
            <a:picLocks noChangeAspect="1"/>
          </p:cNvPicPr>
          <p:nvPr/>
        </p:nvPicPr>
        <p:blipFill>
          <a:blip r:embed="rId3"/>
          <a:srcRect l="0" r="0" t="0" b="0"/>
          <a:stretch/>
        </p:blipFill>
        <p:spPr>
          <a:xfrm>
            <a:off x="2711450" y="5001518"/>
            <a:ext cx="254000" cy="139700"/>
          </a:xfrm>
          <a:prstGeom prst="rect">
            <a:avLst/>
          </a:prstGeom>
        </p:spPr>
      </p:pic>
      <p:sp>
        <p:nvSpPr>
          <p:cNvPr id="21" name="Text 16"/>
          <p:cNvSpPr/>
          <p:nvPr/>
        </p:nvSpPr>
        <p:spPr>
          <a:xfrm>
            <a:off x="3067050" y="4832052"/>
            <a:ext cx="2838577" cy="504031"/>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2B231E"/>
                </a:solidFill>
                <a:latin typeface="IBM Plex Sans KR" pitchFamily="34" charset="0"/>
                <a:ea typeface="IBM Plex Sans KR" pitchFamily="34" charset="-122"/>
                <a:cs typeface="IBM Plex Sans KR" pitchFamily="34" charset="-120"/>
              </a:rPr>
              <a:t>진단 결과를 </a:t>
            </a:r>
            <a:r>
              <a:rPr lang="en-US" sz="1300" b="1" dirty="0">
                <a:solidFill>
                  <a:srgbClr val="2B231E"/>
                </a:solidFill>
                <a:latin typeface="IBM Plex Sans KR" pitchFamily="34" charset="0"/>
                <a:ea typeface="IBM Plex Sans KR" pitchFamily="34" charset="-122"/>
                <a:cs typeface="IBM Plex Sans KR" pitchFamily="34" charset="-120"/>
              </a:rPr>
              <a:t>세부 유형</a:t>
            </a:r>
            <a:r>
              <a:rPr lang="en-US" sz="1300" b="1" dirty="0">
                <a:solidFill>
                  <a:srgbClr val="2B231E"/>
                </a:solidFill>
                <a:latin typeface="IBM Plex Sans KR" pitchFamily="34" charset="0"/>
                <a:ea typeface="IBM Plex Sans KR" pitchFamily="34" charset="-122"/>
                <a:cs typeface="IBM Plex Sans KR" pitchFamily="34" charset="-120"/>
              </a:rPr>
              <a:t>으로 나눠 학습</a:t>
            </a:r>
            <a:endParaRPr lang="en-US" sz="1300" dirty="0"/>
          </a:p>
          <a:p>
            <a:pPr algn="l" indent="0" marL="0">
              <a:lnSpc>
                <a:spcPts val="1885"/>
              </a:lnSpc>
              <a:buNone/>
            </a:pPr>
            <a:r>
              <a:rPr lang="en-US" sz="1300" b="1" dirty="0">
                <a:solidFill>
                  <a:srgbClr val="2B231E"/>
                </a:solidFill>
                <a:latin typeface="IBM Plex Sans KR" pitchFamily="34" charset="0"/>
                <a:ea typeface="IBM Plex Sans KR" pitchFamily="34" charset="-122"/>
                <a:cs typeface="IBM Plex Sans KR" pitchFamily="34" charset="-120"/>
              </a:rPr>
              <a:t>→ 더 정밀한 판정 및 추천 가능</a:t>
            </a:r>
            <a:endParaRPr lang="en-US" sz="1300" dirty="0"/>
          </a:p>
        </p:txBody>
      </p:sp>
      <p:sp>
        <p:nvSpPr>
          <p:cNvPr id="22" name="Shape 17"/>
          <p:cNvSpPr/>
          <p:nvPr/>
        </p:nvSpPr>
        <p:spPr>
          <a:xfrm>
            <a:off x="6162675" y="4156968"/>
            <a:ext cx="5213350" cy="1491357"/>
          </a:xfrm>
          <a:prstGeom prst="roundRect">
            <a:avLst>
              <a:gd name="adj" fmla="val 8303"/>
            </a:avLst>
          </a:prstGeom>
          <a:solidFill>
            <a:srgbClr val="FFFCF7"/>
          </a:solidFill>
          <a:ln w="6350">
            <a:solidFill>
              <a:srgbClr val="E3D8CA"/>
            </a:solidFill>
            <a:prstDash val="solid"/>
          </a:ln>
        </p:spPr>
      </p:sp>
      <p:sp>
        <p:nvSpPr>
          <p:cNvPr id="23" name="Text 18"/>
          <p:cNvSpPr/>
          <p:nvPr/>
        </p:nvSpPr>
        <p:spPr>
          <a:xfrm>
            <a:off x="6369050" y="4337943"/>
            <a:ext cx="4944618" cy="274042"/>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9C6440"/>
                </a:solidFill>
                <a:latin typeface="IBM Plex Sans KR" pitchFamily="34" charset="0"/>
                <a:ea typeface="IBM Plex Sans KR" pitchFamily="34" charset="-122"/>
                <a:cs typeface="IBM Plex Sans KR" pitchFamily="34" charset="-120"/>
              </a:rPr>
              <a:t>④ AI 피팅</a:t>
            </a:r>
            <a:endParaRPr lang="en-US" sz="1400" dirty="0"/>
          </a:p>
        </p:txBody>
      </p:sp>
      <p:sp>
        <p:nvSpPr>
          <p:cNvPr id="24" name="Text 19"/>
          <p:cNvSpPr/>
          <p:nvPr/>
        </p:nvSpPr>
        <p:spPr>
          <a:xfrm>
            <a:off x="6369050" y="4675287"/>
            <a:ext cx="1587500" cy="792361"/>
          </a:xfrm>
          <a:prstGeom prst="roundRect">
            <a:avLst>
              <a:gd name="adj" fmla="val 9617"/>
            </a:avLst>
          </a:prstGeom>
          <a:solidFill>
            <a:srgbClr val="EDE4D8"/>
          </a:solidFill>
          <a:ln/>
        </p:spPr>
        <p:txBody>
          <a:bodyPr wrap="square" lIns="79282" tIns="53882" rIns="28482" bIns="28482" rtlCol="0" anchor="t">
            <a:normAutofit/>
          </a:bodyPr>
          <a:lstStyle/>
          <a:p>
            <a:pPr algn="l" indent="0" marL="0">
              <a:lnSpc>
                <a:spcPts val="1680"/>
              </a:lnSpc>
              <a:buNone/>
            </a:pPr>
            <a:r>
              <a:rPr lang="en-US" sz="1200" dirty="0">
                <a:solidFill>
                  <a:srgbClr val="8A7B6E"/>
                </a:solidFill>
                <a:latin typeface="IBM Plex Sans KR" pitchFamily="34" charset="0"/>
                <a:ea typeface="IBM Plex Sans KR" pitchFamily="34" charset="-122"/>
                <a:cs typeface="IBM Plex Sans KR" pitchFamily="34" charset="-120"/>
              </a:rPr>
              <a:t>지금</a:t>
            </a:r>
            <a:endParaRPr lang="en-US" sz="1200" dirty="0"/>
          </a:p>
          <a:p>
            <a:pPr algn="l" indent="0" marL="0">
              <a:lnSpc>
                <a:spcPts val="1680"/>
              </a:lnSpc>
              <a:buNone/>
            </a:pPr>
            <a:r>
              <a:rPr lang="en-US" sz="1200" dirty="0">
                <a:solidFill>
                  <a:srgbClr val="8A7B6E"/>
                </a:solidFill>
                <a:latin typeface="IBM Plex Sans KR" pitchFamily="34" charset="0"/>
                <a:ea typeface="IBM Plex Sans KR" pitchFamily="34" charset="-122"/>
                <a:cs typeface="IBM Plex Sans KR" pitchFamily="34" charset="-120"/>
              </a:rPr>
              <a:t>착용 이미지 54장</a:t>
            </a:r>
            <a:endParaRPr lang="en-US" sz="1200" dirty="0"/>
          </a:p>
          <a:p>
            <a:pPr algn="l" indent="0" marL="0">
              <a:lnSpc>
                <a:spcPts val="1680"/>
              </a:lnSpc>
              <a:buNone/>
            </a:pPr>
            <a:r>
              <a:rPr lang="en-US" sz="1200" dirty="0">
                <a:solidFill>
                  <a:srgbClr val="8A7B6E"/>
                </a:solidFill>
                <a:latin typeface="IBM Plex Sans KR" pitchFamily="34" charset="0"/>
                <a:ea typeface="IBM Plex Sans KR" pitchFamily="34" charset="-122"/>
                <a:cs typeface="IBM Plex Sans KR" pitchFamily="34" charset="-120"/>
              </a:rPr>
              <a:t>미리 생성</a:t>
            </a:r>
            <a:endParaRPr lang="en-US" sz="1200" dirty="0"/>
          </a:p>
        </p:txBody>
      </p:sp>
      <p:pic>
        <p:nvPicPr>
          <p:cNvPr id="25" name="Image 3" descr="arrow-right">    </p:cNvPr>
          <p:cNvPicPr>
            <a:picLocks noChangeAspect="1"/>
          </p:cNvPicPr>
          <p:nvPr/>
        </p:nvPicPr>
        <p:blipFill>
          <a:blip r:embed="rId4"/>
          <a:srcRect l="0" r="0" t="0" b="0"/>
          <a:stretch/>
        </p:blipFill>
        <p:spPr>
          <a:xfrm>
            <a:off x="8058150" y="5001518"/>
            <a:ext cx="254000" cy="139700"/>
          </a:xfrm>
          <a:prstGeom prst="rect">
            <a:avLst/>
          </a:prstGeom>
        </p:spPr>
      </p:pic>
      <p:sp>
        <p:nvSpPr>
          <p:cNvPr id="26" name="Text 20"/>
          <p:cNvSpPr/>
          <p:nvPr/>
        </p:nvSpPr>
        <p:spPr>
          <a:xfrm>
            <a:off x="8413750" y="4712395"/>
            <a:ext cx="2838577" cy="743347"/>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2B231E"/>
                </a:solidFill>
                <a:latin typeface="IBM Plex Sans KR" pitchFamily="34" charset="0"/>
                <a:ea typeface="IBM Plex Sans KR" pitchFamily="34" charset="-122"/>
                <a:cs typeface="IBM Plex Sans KR" pitchFamily="34" charset="-120"/>
              </a:rPr>
              <a:t>피팅 모델 + 이미지 생성 모델</a:t>
            </a:r>
            <a:endParaRPr lang="en-US" sz="1300" dirty="0"/>
          </a:p>
          <a:p>
            <a:pPr algn="l" indent="0" marL="0">
              <a:lnSpc>
                <a:spcPts val="1885"/>
              </a:lnSpc>
              <a:buNone/>
            </a:pPr>
            <a:r>
              <a:rPr lang="en-US" sz="1300" b="1" dirty="0">
                <a:solidFill>
                  <a:srgbClr val="2B231E"/>
                </a:solidFill>
                <a:latin typeface="IBM Plex Sans KR" pitchFamily="34" charset="0"/>
                <a:ea typeface="IBM Plex Sans KR" pitchFamily="34" charset="-122"/>
                <a:cs typeface="IBM Plex Sans KR" pitchFamily="34" charset="-120"/>
              </a:rPr>
              <a:t>결합 · 자체 데이터로 추가 학습</a:t>
            </a:r>
            <a:endParaRPr lang="en-US" sz="1300" dirty="0"/>
          </a:p>
          <a:p>
            <a:pPr algn="l" indent="0" marL="0">
              <a:lnSpc>
                <a:spcPts val="1885"/>
              </a:lnSpc>
              <a:buNone/>
            </a:pPr>
            <a:r>
              <a:rPr lang="en-US" sz="1300" b="1" dirty="0">
                <a:solidFill>
                  <a:srgbClr val="2B231E"/>
                </a:solidFill>
                <a:latin typeface="IBM Plex Sans KR" pitchFamily="34" charset="0"/>
                <a:ea typeface="IBM Plex Sans KR" pitchFamily="34" charset="-122"/>
                <a:cs typeface="IBM Plex Sans KR" pitchFamily="34" charset="-120"/>
              </a:rPr>
              <a:t>→ 액세서리까지 즉시 착용샷</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C6440"/>
                </a:solidFill>
                <a:latin typeface="IBM Plex Sans KR" pitchFamily="34" charset="0"/>
                <a:ea typeface="IBM Plex Sans KR" pitchFamily="34" charset="-122"/>
                <a:cs typeface="IBM Plex Sans KR" pitchFamily="34" charset="-120"/>
              </a:rPr>
              <a:t>상세 일정</a:t>
            </a:r>
            <a:endParaRPr lang="en-US" sz="1200" dirty="0"/>
          </a:p>
        </p:txBody>
      </p:sp>
      <p:sp>
        <p:nvSpPr>
          <p:cNvPr id="3" name="Text 1"/>
          <p:cNvSpPr/>
          <p:nvPr/>
        </p:nvSpPr>
        <p:spPr>
          <a:xfrm>
            <a:off x="812800" y="1102320"/>
            <a:ext cx="10883392" cy="482600"/>
          </a:xfrm>
          <a:prstGeom prst="rect">
            <a:avLst/>
          </a:prstGeom>
          <a:noFill/>
          <a:ln/>
        </p:spPr>
        <p:txBody>
          <a:bodyPr wrap="square" lIns="0" tIns="0" rIns="0" bIns="0" rtlCol="0" anchor="t">
            <a:normAutofit/>
          </a:bodyPr>
          <a:lstStyle/>
          <a:p>
            <a:pPr algn="l" indent="0" marL="0">
              <a:lnSpc>
                <a:spcPts val="3600"/>
              </a:lnSpc>
              <a:buNone/>
            </a:pPr>
            <a:r>
              <a:rPr lang="en-US" sz="3000" b="1" dirty="0">
                <a:solidFill>
                  <a:srgbClr val="2B231E"/>
                </a:solidFill>
                <a:latin typeface="Noto Serif KR" pitchFamily="18" charset="0"/>
                <a:ea typeface="Noto Serif KR" pitchFamily="18" charset="-122"/>
                <a:cs typeface="Noto Serif KR" pitchFamily="18" charset="-120"/>
              </a:rPr>
              <a:t>선정 후 8주, 이렇게 진행합니다</a:t>
            </a:r>
            <a:endParaRPr lang="en-US" sz="3000" dirty="0"/>
          </a:p>
        </p:txBody>
      </p:sp>
      <p:sp>
        <p:nvSpPr>
          <p:cNvPr id="4" name="Text 2"/>
          <p:cNvSpPr/>
          <p:nvPr/>
        </p:nvSpPr>
        <p:spPr>
          <a:xfrm>
            <a:off x="4152900" y="1737320"/>
            <a:ext cx="685800"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8A7B6E"/>
                </a:solidFill>
                <a:latin typeface="IBM Plex Sans KR" pitchFamily="34" charset="0"/>
                <a:ea typeface="IBM Plex Sans KR" pitchFamily="34" charset="-122"/>
                <a:cs typeface="IBM Plex Sans KR" pitchFamily="34" charset="-120"/>
              </a:rPr>
              <a:t>10/12</a:t>
            </a:r>
            <a:endParaRPr lang="en-US" sz="1000" dirty="0"/>
          </a:p>
        </p:txBody>
      </p:sp>
      <p:sp>
        <p:nvSpPr>
          <p:cNvPr id="5" name="Text 3"/>
          <p:cNvSpPr/>
          <p:nvPr/>
        </p:nvSpPr>
        <p:spPr>
          <a:xfrm>
            <a:off x="4864100" y="1737320"/>
            <a:ext cx="685800"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8A7B6E"/>
                </a:solidFill>
                <a:latin typeface="IBM Plex Sans KR" pitchFamily="34" charset="0"/>
                <a:ea typeface="IBM Plex Sans KR" pitchFamily="34" charset="-122"/>
                <a:cs typeface="IBM Plex Sans KR" pitchFamily="34" charset="-120"/>
              </a:rPr>
              <a:t>10/19</a:t>
            </a:r>
            <a:endParaRPr lang="en-US" sz="1000" dirty="0"/>
          </a:p>
        </p:txBody>
      </p:sp>
      <p:sp>
        <p:nvSpPr>
          <p:cNvPr id="6" name="Text 4"/>
          <p:cNvSpPr/>
          <p:nvPr/>
        </p:nvSpPr>
        <p:spPr>
          <a:xfrm>
            <a:off x="5575300" y="1737320"/>
            <a:ext cx="685800"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8A7B6E"/>
                </a:solidFill>
                <a:latin typeface="IBM Plex Sans KR" pitchFamily="34" charset="0"/>
                <a:ea typeface="IBM Plex Sans KR" pitchFamily="34" charset="-122"/>
                <a:cs typeface="IBM Plex Sans KR" pitchFamily="34" charset="-120"/>
              </a:rPr>
              <a:t>10/26</a:t>
            </a:r>
            <a:endParaRPr lang="en-US" sz="1000" dirty="0"/>
          </a:p>
        </p:txBody>
      </p:sp>
      <p:sp>
        <p:nvSpPr>
          <p:cNvPr id="7" name="Text 5"/>
          <p:cNvSpPr/>
          <p:nvPr/>
        </p:nvSpPr>
        <p:spPr>
          <a:xfrm>
            <a:off x="6286500" y="1737320"/>
            <a:ext cx="685800"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8A7B6E"/>
                </a:solidFill>
                <a:latin typeface="IBM Plex Sans KR" pitchFamily="34" charset="0"/>
                <a:ea typeface="IBM Plex Sans KR" pitchFamily="34" charset="-122"/>
                <a:cs typeface="IBM Plex Sans KR" pitchFamily="34" charset="-120"/>
              </a:rPr>
              <a:t>11/2</a:t>
            </a:r>
            <a:endParaRPr lang="en-US" sz="1000" dirty="0"/>
          </a:p>
        </p:txBody>
      </p:sp>
      <p:sp>
        <p:nvSpPr>
          <p:cNvPr id="8" name="Text 6"/>
          <p:cNvSpPr/>
          <p:nvPr/>
        </p:nvSpPr>
        <p:spPr>
          <a:xfrm>
            <a:off x="6997700" y="1737320"/>
            <a:ext cx="685800"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8A7B6E"/>
                </a:solidFill>
                <a:latin typeface="IBM Plex Sans KR" pitchFamily="34" charset="0"/>
                <a:ea typeface="IBM Plex Sans KR" pitchFamily="34" charset="-122"/>
                <a:cs typeface="IBM Plex Sans KR" pitchFamily="34" charset="-120"/>
              </a:rPr>
              <a:t>11/9</a:t>
            </a:r>
            <a:endParaRPr lang="en-US" sz="1000" dirty="0"/>
          </a:p>
        </p:txBody>
      </p:sp>
      <p:sp>
        <p:nvSpPr>
          <p:cNvPr id="9" name="Text 7"/>
          <p:cNvSpPr/>
          <p:nvPr/>
        </p:nvSpPr>
        <p:spPr>
          <a:xfrm>
            <a:off x="7708900" y="1737320"/>
            <a:ext cx="685800"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8A7B6E"/>
                </a:solidFill>
                <a:latin typeface="IBM Plex Sans KR" pitchFamily="34" charset="0"/>
                <a:ea typeface="IBM Plex Sans KR" pitchFamily="34" charset="-122"/>
                <a:cs typeface="IBM Plex Sans KR" pitchFamily="34" charset="-120"/>
              </a:rPr>
              <a:t>11/16</a:t>
            </a:r>
            <a:endParaRPr lang="en-US" sz="1000" dirty="0"/>
          </a:p>
        </p:txBody>
      </p:sp>
      <p:sp>
        <p:nvSpPr>
          <p:cNvPr id="10" name="Text 8"/>
          <p:cNvSpPr/>
          <p:nvPr/>
        </p:nvSpPr>
        <p:spPr>
          <a:xfrm>
            <a:off x="8420100" y="1737320"/>
            <a:ext cx="685800"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8A7B6E"/>
                </a:solidFill>
                <a:latin typeface="IBM Plex Sans KR" pitchFamily="34" charset="0"/>
                <a:ea typeface="IBM Plex Sans KR" pitchFamily="34" charset="-122"/>
                <a:cs typeface="IBM Plex Sans KR" pitchFamily="34" charset="-120"/>
              </a:rPr>
              <a:t>11/23</a:t>
            </a:r>
            <a:endParaRPr lang="en-US" sz="1000" dirty="0"/>
          </a:p>
        </p:txBody>
      </p:sp>
      <p:sp>
        <p:nvSpPr>
          <p:cNvPr id="11" name="Text 9"/>
          <p:cNvSpPr/>
          <p:nvPr/>
        </p:nvSpPr>
        <p:spPr>
          <a:xfrm>
            <a:off x="9131300" y="1737320"/>
            <a:ext cx="685800"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8A7B6E"/>
                </a:solidFill>
                <a:latin typeface="IBM Plex Sans KR" pitchFamily="34" charset="0"/>
                <a:ea typeface="IBM Plex Sans KR" pitchFamily="34" charset="-122"/>
                <a:cs typeface="IBM Plex Sans KR" pitchFamily="34" charset="-120"/>
              </a:rPr>
              <a:t>11/30</a:t>
            </a:r>
            <a:endParaRPr lang="en-US" sz="1000" dirty="0"/>
          </a:p>
        </p:txBody>
      </p:sp>
      <p:sp>
        <p:nvSpPr>
          <p:cNvPr id="12" name="Text 10"/>
          <p:cNvSpPr/>
          <p:nvPr/>
        </p:nvSpPr>
        <p:spPr>
          <a:xfrm>
            <a:off x="9842500" y="1737320"/>
            <a:ext cx="685800"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8A7B6E"/>
                </a:solidFill>
                <a:latin typeface="IBM Plex Sans KR" pitchFamily="34" charset="0"/>
                <a:ea typeface="IBM Plex Sans KR" pitchFamily="34" charset="-122"/>
                <a:cs typeface="IBM Plex Sans KR" pitchFamily="34" charset="-120"/>
              </a:rPr>
              <a:t>12/7</a:t>
            </a:r>
            <a:endParaRPr lang="en-US" sz="1000" dirty="0"/>
          </a:p>
        </p:txBody>
      </p:sp>
      <p:sp>
        <p:nvSpPr>
          <p:cNvPr id="13" name="Text 11"/>
          <p:cNvSpPr/>
          <p:nvPr/>
        </p:nvSpPr>
        <p:spPr>
          <a:xfrm>
            <a:off x="10553700" y="1737320"/>
            <a:ext cx="685800"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8A7B6E"/>
                </a:solidFill>
                <a:latin typeface="IBM Plex Sans KR" pitchFamily="34" charset="0"/>
                <a:ea typeface="IBM Plex Sans KR" pitchFamily="34" charset="-122"/>
                <a:cs typeface="IBM Plex Sans KR" pitchFamily="34" charset="-120"/>
              </a:rPr>
              <a:t>12/14</a:t>
            </a:r>
            <a:endParaRPr lang="en-US" sz="1000" dirty="0"/>
          </a:p>
        </p:txBody>
      </p:sp>
      <p:sp>
        <p:nvSpPr>
          <p:cNvPr id="14" name="Text 12"/>
          <p:cNvSpPr/>
          <p:nvPr/>
        </p:nvSpPr>
        <p:spPr>
          <a:xfrm>
            <a:off x="812800" y="1961158"/>
            <a:ext cx="3401060"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2B231E"/>
                </a:solidFill>
                <a:latin typeface="IBM Plex Sans KR" pitchFamily="34" charset="0"/>
                <a:ea typeface="IBM Plex Sans KR" pitchFamily="34" charset="-122"/>
                <a:cs typeface="IBM Plex Sans KR" pitchFamily="34" charset="-120"/>
              </a:rPr>
              <a:t>0. 킥오프</a:t>
            </a:r>
            <a:endParaRPr lang="en-US" sz="1200" dirty="0"/>
          </a:p>
        </p:txBody>
      </p:sp>
      <p:sp>
        <p:nvSpPr>
          <p:cNvPr id="15" name="Text 13"/>
          <p:cNvSpPr/>
          <p:nvPr/>
        </p:nvSpPr>
        <p:spPr>
          <a:xfrm>
            <a:off x="812800" y="2144018"/>
            <a:ext cx="3401060" cy="182166"/>
          </a:xfrm>
          <a:prstGeom prst="rect">
            <a:avLst/>
          </a:prstGeom>
          <a:noFill/>
          <a:ln/>
        </p:spPr>
        <p:txBody>
          <a:bodyPr wrap="square" lIns="0" tIns="0" rIns="0" bIns="0" rtlCol="0" anchor="t">
            <a:normAutofit/>
          </a:bodyPr>
          <a:lstStyle/>
          <a:p>
            <a:pPr algn="l" indent="0" marL="0">
              <a:lnSpc>
                <a:spcPts val="1235"/>
              </a:lnSpc>
              <a:buNone/>
            </a:pPr>
            <a:r>
              <a:rPr lang="en-US" sz="950" dirty="0">
                <a:solidFill>
                  <a:srgbClr val="5B4E44"/>
                </a:solidFill>
                <a:latin typeface="IBM Plex Sans KR" pitchFamily="34" charset="0"/>
                <a:ea typeface="IBM Plex Sans KR" pitchFamily="34" charset="-122"/>
                <a:cs typeface="IBM Plex Sans KR" pitchFamily="34" charset="-120"/>
              </a:rPr>
              <a:t>선정·사업설명회·서버 유료 전환</a:t>
            </a:r>
            <a:endParaRPr lang="en-US" sz="950" dirty="0"/>
          </a:p>
        </p:txBody>
      </p:sp>
      <p:sp>
        <p:nvSpPr>
          <p:cNvPr id="16" name="Shape 14"/>
          <p:cNvSpPr/>
          <p:nvPr/>
        </p:nvSpPr>
        <p:spPr>
          <a:xfrm>
            <a:off x="4114800" y="1940520"/>
            <a:ext cx="7112000" cy="381000"/>
          </a:xfrm>
          <a:prstGeom prst="rect">
            <a:avLst/>
          </a:prstGeom>
          <a:gradFill rotWithShape="1">
            <a:gsLst>
              <a:gs pos="0">
                <a:srgbClr val="E3D8CA"/>
              </a:gs>
              <a:gs pos="893">
                <a:srgbClr val="E3D8CA"/>
              </a:gs>
              <a:gs pos="893">
                <a:srgbClr val="E3D8CA">
                  <a:alpha val="0"/>
                </a:srgbClr>
              </a:gs>
              <a:gs pos="100000">
                <a:srgbClr val="000000">
                  <a:alpha val="0"/>
                </a:srgbClr>
              </a:gs>
            </a:gsLst>
            <a:lin ang="0" scaled="0"/>
          </a:gradFill>
          <a:ln/>
        </p:spPr>
      </p:sp>
      <p:sp>
        <p:nvSpPr>
          <p:cNvPr id="17" name="Shape 15"/>
          <p:cNvSpPr/>
          <p:nvPr/>
        </p:nvSpPr>
        <p:spPr>
          <a:xfrm>
            <a:off x="4318000" y="2016720"/>
            <a:ext cx="508000" cy="228600"/>
          </a:xfrm>
          <a:prstGeom prst="roundRect">
            <a:avLst>
              <a:gd name="adj" fmla="val 22222"/>
            </a:avLst>
          </a:prstGeom>
          <a:solidFill>
            <a:srgbClr val="2B231E"/>
          </a:solidFill>
          <a:ln/>
        </p:spPr>
      </p:sp>
      <p:sp>
        <p:nvSpPr>
          <p:cNvPr id="18" name="Text 16"/>
          <p:cNvSpPr/>
          <p:nvPr/>
        </p:nvSpPr>
        <p:spPr>
          <a:xfrm>
            <a:off x="4470400" y="2029420"/>
            <a:ext cx="203200" cy="203200"/>
          </a:xfrm>
          <a:custGeom>
            <a:avLst/>
            <a:gdLst/>
            <a:ahLst/>
            <a:cxnLst/>
            <a:rect l="l" t="t" r="r" b="b"/>
            <a:pathLst>
              <a:path w="203200" h="203200">
                <a:moveTo>
                  <a:pt x="101600" y="0"/>
                </a:moveTo>
                <a:lnTo>
                  <a:pt x="101600" y="0"/>
                </a:lnTo>
                <a:arcTo hR="101600" wR="101600" stAng="16200000" swAng="5400000"/>
                <a:lnTo>
                  <a:pt x="203200" y="101600"/>
                </a:lnTo>
                <a:arcTo hR="101600" wR="101600" stAng="0" swAng="5400000"/>
                <a:lnTo>
                  <a:pt x="101600" y="203200"/>
                </a:lnTo>
                <a:arcTo hR="101600" wR="101600" stAng="5400000" swAng="5400000"/>
                <a:lnTo>
                  <a:pt x="0" y="101600"/>
                </a:lnTo>
                <a:arcTo hR="101600" wR="101600" stAng="10800000" swAng="5400000"/>
                <a:close/>
              </a:path>
            </a:pathLst>
          </a:custGeom>
          <a:solidFill>
            <a:srgbClr val="F6F1EA"/>
          </a:solidFill>
          <a:ln/>
        </p:spPr>
        <p:txBody>
          <a:bodyPr wrap="square" lIns="0" tIns="0" rIns="0" bIns="0" rtlCol="0" anchor="t">
            <a:normAutofit/>
          </a:bodyPr>
          <a:lstStyle/>
          <a:p>
            <a:pPr algn="ctr" indent="0" marL="0">
              <a:lnSpc>
                <a:spcPts val="1600"/>
              </a:lnSpc>
              <a:buNone/>
            </a:pPr>
            <a:r>
              <a:rPr lang="en-US" sz="1000" b="1" dirty="0">
                <a:solidFill>
                  <a:srgbClr val="9C6440"/>
                </a:solidFill>
                <a:latin typeface="IBM Plex Sans KR" pitchFamily="34" charset="0"/>
                <a:ea typeface="IBM Plex Sans KR" pitchFamily="34" charset="-122"/>
                <a:cs typeface="IBM Plex Sans KR" pitchFamily="34" charset="-120"/>
              </a:rPr>
              <a:t>①</a:t>
            </a:r>
            <a:endParaRPr lang="en-US" sz="1000" dirty="0"/>
          </a:p>
        </p:txBody>
      </p:sp>
      <p:sp>
        <p:nvSpPr>
          <p:cNvPr id="19" name="Text 17"/>
          <p:cNvSpPr/>
          <p:nvPr/>
        </p:nvSpPr>
        <p:spPr>
          <a:xfrm>
            <a:off x="812800" y="2342158"/>
            <a:ext cx="3401060"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2B231E"/>
                </a:solidFill>
                <a:latin typeface="IBM Plex Sans KR" pitchFamily="34" charset="0"/>
                <a:ea typeface="IBM Plex Sans KR" pitchFamily="34" charset="-122"/>
                <a:cs typeface="IBM Plex Sans KR" pitchFamily="34" charset="-120"/>
              </a:rPr>
              <a:t>1. 수집 설계</a:t>
            </a:r>
            <a:endParaRPr lang="en-US" sz="1200" dirty="0"/>
          </a:p>
        </p:txBody>
      </p:sp>
      <p:sp>
        <p:nvSpPr>
          <p:cNvPr id="20" name="Text 18"/>
          <p:cNvSpPr/>
          <p:nvPr/>
        </p:nvSpPr>
        <p:spPr>
          <a:xfrm>
            <a:off x="812800" y="2525018"/>
            <a:ext cx="3401060" cy="182166"/>
          </a:xfrm>
          <a:prstGeom prst="rect">
            <a:avLst/>
          </a:prstGeom>
          <a:noFill/>
          <a:ln/>
        </p:spPr>
        <p:txBody>
          <a:bodyPr wrap="square" lIns="0" tIns="0" rIns="0" bIns="0" rtlCol="0" anchor="t">
            <a:normAutofit/>
          </a:bodyPr>
          <a:lstStyle/>
          <a:p>
            <a:pPr algn="l" indent="0" marL="0">
              <a:lnSpc>
                <a:spcPts val="1235"/>
              </a:lnSpc>
              <a:buNone/>
            </a:pPr>
            <a:r>
              <a:rPr lang="en-US" sz="950" dirty="0">
                <a:solidFill>
                  <a:srgbClr val="5B4E44"/>
                </a:solidFill>
                <a:latin typeface="IBM Plex Sans KR" pitchFamily="34" charset="0"/>
                <a:ea typeface="IBM Plex Sans KR" pitchFamily="34" charset="-122"/>
                <a:cs typeface="IBM Plex Sans KR" pitchFamily="34" charset="-120"/>
              </a:rPr>
              <a:t>촬영 가이드·동의서·측면 업로드 화면</a:t>
            </a:r>
            <a:endParaRPr lang="en-US" sz="950" dirty="0"/>
          </a:p>
        </p:txBody>
      </p:sp>
      <p:sp>
        <p:nvSpPr>
          <p:cNvPr id="21" name="Shape 19"/>
          <p:cNvSpPr/>
          <p:nvPr/>
        </p:nvSpPr>
        <p:spPr>
          <a:xfrm>
            <a:off x="4114800" y="2321520"/>
            <a:ext cx="7112000" cy="381000"/>
          </a:xfrm>
          <a:prstGeom prst="rect">
            <a:avLst/>
          </a:prstGeom>
          <a:gradFill rotWithShape="1">
            <a:gsLst>
              <a:gs pos="0">
                <a:srgbClr val="E3D8CA"/>
              </a:gs>
              <a:gs pos="893">
                <a:srgbClr val="E3D8CA"/>
              </a:gs>
              <a:gs pos="893">
                <a:srgbClr val="E3D8CA">
                  <a:alpha val="0"/>
                </a:srgbClr>
              </a:gs>
              <a:gs pos="100000">
                <a:srgbClr val="000000">
                  <a:alpha val="0"/>
                </a:srgbClr>
              </a:gs>
            </a:gsLst>
            <a:lin ang="0" scaled="0"/>
          </a:gradFill>
          <a:ln/>
        </p:spPr>
      </p:sp>
      <p:sp>
        <p:nvSpPr>
          <p:cNvPr id="22" name="Shape 20"/>
          <p:cNvSpPr/>
          <p:nvPr/>
        </p:nvSpPr>
        <p:spPr>
          <a:xfrm>
            <a:off x="4826000" y="2397720"/>
            <a:ext cx="711200" cy="228600"/>
          </a:xfrm>
          <a:prstGeom prst="roundRect">
            <a:avLst>
              <a:gd name="adj" fmla="val 22222"/>
            </a:avLst>
          </a:prstGeom>
          <a:solidFill>
            <a:srgbClr val="C9A27F"/>
          </a:solidFill>
          <a:ln/>
        </p:spPr>
      </p:sp>
      <p:sp>
        <p:nvSpPr>
          <p:cNvPr id="23" name="Text 21"/>
          <p:cNvSpPr/>
          <p:nvPr/>
        </p:nvSpPr>
        <p:spPr>
          <a:xfrm>
            <a:off x="812800" y="2723158"/>
            <a:ext cx="3401060"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2B231E"/>
                </a:solidFill>
                <a:latin typeface="IBM Plex Sans KR" pitchFamily="34" charset="0"/>
                <a:ea typeface="IBM Plex Sans KR" pitchFamily="34" charset="-122"/>
                <a:cs typeface="IBM Plex Sans KR" pitchFamily="34" charset="-120"/>
              </a:rPr>
              <a:t>2. 실제 사진 수집</a:t>
            </a:r>
            <a:endParaRPr lang="en-US" sz="1200" dirty="0"/>
          </a:p>
        </p:txBody>
      </p:sp>
      <p:sp>
        <p:nvSpPr>
          <p:cNvPr id="24" name="Text 22"/>
          <p:cNvSpPr/>
          <p:nvPr/>
        </p:nvSpPr>
        <p:spPr>
          <a:xfrm>
            <a:off x="812800" y="2906018"/>
            <a:ext cx="3401060" cy="182166"/>
          </a:xfrm>
          <a:prstGeom prst="rect">
            <a:avLst/>
          </a:prstGeom>
          <a:noFill/>
          <a:ln/>
        </p:spPr>
        <p:txBody>
          <a:bodyPr wrap="square" lIns="0" tIns="0" rIns="0" bIns="0" rtlCol="0" anchor="t">
            <a:normAutofit/>
          </a:bodyPr>
          <a:lstStyle/>
          <a:p>
            <a:pPr algn="l" indent="0" marL="0">
              <a:lnSpc>
                <a:spcPts val="1235"/>
              </a:lnSpc>
              <a:buNone/>
            </a:pPr>
            <a:r>
              <a:rPr lang="en-US" sz="950" dirty="0">
                <a:solidFill>
                  <a:srgbClr val="5B4E44"/>
                </a:solidFill>
                <a:latin typeface="IBM Plex Sans KR" pitchFamily="34" charset="0"/>
                <a:ea typeface="IBM Plex Sans KR" pitchFamily="34" charset="-122"/>
                <a:cs typeface="IBM Plex Sans KR" pitchFamily="34" charset="-120"/>
              </a:rPr>
              <a:t>정면·측면 / 화장 전후 / 조명별 · 정답 라벨링</a:t>
            </a:r>
            <a:endParaRPr lang="en-US" sz="950" dirty="0"/>
          </a:p>
        </p:txBody>
      </p:sp>
      <p:sp>
        <p:nvSpPr>
          <p:cNvPr id="25" name="Shape 23"/>
          <p:cNvSpPr/>
          <p:nvPr/>
        </p:nvSpPr>
        <p:spPr>
          <a:xfrm>
            <a:off x="4114800" y="2702520"/>
            <a:ext cx="7112000" cy="381000"/>
          </a:xfrm>
          <a:prstGeom prst="rect">
            <a:avLst/>
          </a:prstGeom>
          <a:gradFill rotWithShape="1">
            <a:gsLst>
              <a:gs pos="0">
                <a:srgbClr val="E3D8CA"/>
              </a:gs>
              <a:gs pos="893">
                <a:srgbClr val="E3D8CA"/>
              </a:gs>
              <a:gs pos="893">
                <a:srgbClr val="E3D8CA">
                  <a:alpha val="0"/>
                </a:srgbClr>
              </a:gs>
              <a:gs pos="100000">
                <a:srgbClr val="000000">
                  <a:alpha val="0"/>
                </a:srgbClr>
              </a:gs>
            </a:gsLst>
            <a:lin ang="0" scaled="0"/>
          </a:gradFill>
          <a:ln/>
        </p:spPr>
      </p:sp>
      <p:sp>
        <p:nvSpPr>
          <p:cNvPr id="26" name="Shape 24"/>
          <p:cNvSpPr/>
          <p:nvPr/>
        </p:nvSpPr>
        <p:spPr>
          <a:xfrm>
            <a:off x="5537200" y="2778720"/>
            <a:ext cx="1422400" cy="228600"/>
          </a:xfrm>
          <a:prstGeom prst="roundRect">
            <a:avLst>
              <a:gd name="adj" fmla="val 22222"/>
            </a:avLst>
          </a:prstGeom>
          <a:solidFill>
            <a:srgbClr val="A8714B"/>
          </a:solidFill>
          <a:ln/>
        </p:spPr>
      </p:sp>
      <p:sp>
        <p:nvSpPr>
          <p:cNvPr id="27" name="Text 25"/>
          <p:cNvSpPr/>
          <p:nvPr/>
        </p:nvSpPr>
        <p:spPr>
          <a:xfrm>
            <a:off x="812800" y="3104158"/>
            <a:ext cx="3401060"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2B231E"/>
                </a:solidFill>
                <a:latin typeface="IBM Plex Sans KR" pitchFamily="34" charset="0"/>
                <a:ea typeface="IBM Plex Sans KR" pitchFamily="34" charset="-122"/>
                <a:cs typeface="IBM Plex Sans KR" pitchFamily="34" charset="-120"/>
              </a:rPr>
              <a:t>3. 진단 AI 재학습</a:t>
            </a:r>
            <a:endParaRPr lang="en-US" sz="1200" dirty="0"/>
          </a:p>
        </p:txBody>
      </p:sp>
      <p:sp>
        <p:nvSpPr>
          <p:cNvPr id="28" name="Text 26"/>
          <p:cNvSpPr/>
          <p:nvPr/>
        </p:nvSpPr>
        <p:spPr>
          <a:xfrm>
            <a:off x="812800" y="3287018"/>
            <a:ext cx="3401060" cy="182166"/>
          </a:xfrm>
          <a:prstGeom prst="rect">
            <a:avLst/>
          </a:prstGeom>
          <a:noFill/>
          <a:ln/>
        </p:spPr>
        <p:txBody>
          <a:bodyPr wrap="square" lIns="0" tIns="0" rIns="0" bIns="0" rtlCol="0" anchor="t">
            <a:normAutofit/>
          </a:bodyPr>
          <a:lstStyle/>
          <a:p>
            <a:pPr algn="l" indent="0" marL="0">
              <a:lnSpc>
                <a:spcPts val="1235"/>
              </a:lnSpc>
              <a:buNone/>
            </a:pPr>
            <a:r>
              <a:rPr lang="en-US" sz="950" dirty="0">
                <a:solidFill>
                  <a:srgbClr val="5B4E44"/>
                </a:solidFill>
                <a:latin typeface="IBM Plex Sans KR" pitchFamily="34" charset="0"/>
                <a:ea typeface="IBM Plex Sans KR" pitchFamily="34" charset="-122"/>
                <a:cs typeface="IBM Plex Sans KR" pitchFamily="34" charset="-120"/>
              </a:rPr>
              <a:t>퍼스널컬러 재학습·4계절 실험·측면 측정</a:t>
            </a:r>
            <a:endParaRPr lang="en-US" sz="950" dirty="0"/>
          </a:p>
        </p:txBody>
      </p:sp>
      <p:sp>
        <p:nvSpPr>
          <p:cNvPr id="29" name="Shape 27"/>
          <p:cNvSpPr/>
          <p:nvPr/>
        </p:nvSpPr>
        <p:spPr>
          <a:xfrm>
            <a:off x="4114800" y="3083520"/>
            <a:ext cx="7112000" cy="381000"/>
          </a:xfrm>
          <a:prstGeom prst="rect">
            <a:avLst/>
          </a:prstGeom>
          <a:gradFill rotWithShape="1">
            <a:gsLst>
              <a:gs pos="0">
                <a:srgbClr val="E3D8CA"/>
              </a:gs>
              <a:gs pos="893">
                <a:srgbClr val="E3D8CA"/>
              </a:gs>
              <a:gs pos="893">
                <a:srgbClr val="E3D8CA">
                  <a:alpha val="0"/>
                </a:srgbClr>
              </a:gs>
              <a:gs pos="100000">
                <a:srgbClr val="000000">
                  <a:alpha val="0"/>
                </a:srgbClr>
              </a:gs>
            </a:gsLst>
            <a:lin ang="0" scaled="0"/>
          </a:gradFill>
          <a:ln/>
        </p:spPr>
      </p:sp>
      <p:sp>
        <p:nvSpPr>
          <p:cNvPr id="30" name="Shape 28"/>
          <p:cNvSpPr/>
          <p:nvPr/>
        </p:nvSpPr>
        <p:spPr>
          <a:xfrm>
            <a:off x="6248400" y="3159720"/>
            <a:ext cx="1422400" cy="228600"/>
          </a:xfrm>
          <a:prstGeom prst="roundRect">
            <a:avLst>
              <a:gd name="adj" fmla="val 22222"/>
            </a:avLst>
          </a:prstGeom>
          <a:solidFill>
            <a:srgbClr val="A8714B"/>
          </a:solidFill>
          <a:ln/>
        </p:spPr>
      </p:sp>
      <p:sp>
        <p:nvSpPr>
          <p:cNvPr id="31" name="Text 29"/>
          <p:cNvSpPr/>
          <p:nvPr/>
        </p:nvSpPr>
        <p:spPr>
          <a:xfrm>
            <a:off x="7010400" y="3172420"/>
            <a:ext cx="203200" cy="203200"/>
          </a:xfrm>
          <a:custGeom>
            <a:avLst/>
            <a:gdLst/>
            <a:ahLst/>
            <a:cxnLst/>
            <a:rect l="l" t="t" r="r" b="b"/>
            <a:pathLst>
              <a:path w="203200" h="203200">
                <a:moveTo>
                  <a:pt x="101600" y="0"/>
                </a:moveTo>
                <a:lnTo>
                  <a:pt x="101600" y="0"/>
                </a:lnTo>
                <a:arcTo hR="101600" wR="101600" stAng="16200000" swAng="5400000"/>
                <a:lnTo>
                  <a:pt x="203200" y="101600"/>
                </a:lnTo>
                <a:arcTo hR="101600" wR="101600" stAng="0" swAng="5400000"/>
                <a:lnTo>
                  <a:pt x="101600" y="203200"/>
                </a:lnTo>
                <a:arcTo hR="101600" wR="101600" stAng="5400000" swAng="5400000"/>
                <a:lnTo>
                  <a:pt x="0" y="101600"/>
                </a:lnTo>
                <a:arcTo hR="101600" wR="101600" stAng="10800000" swAng="5400000"/>
                <a:close/>
              </a:path>
            </a:pathLst>
          </a:custGeom>
          <a:solidFill>
            <a:srgbClr val="F6F1EA"/>
          </a:solidFill>
          <a:ln/>
        </p:spPr>
        <p:txBody>
          <a:bodyPr wrap="square" lIns="0" tIns="0" rIns="0" bIns="0" rtlCol="0" anchor="t">
            <a:normAutofit/>
          </a:bodyPr>
          <a:lstStyle/>
          <a:p>
            <a:pPr algn="ctr" indent="0" marL="0">
              <a:lnSpc>
                <a:spcPts val="1600"/>
              </a:lnSpc>
              <a:buNone/>
            </a:pPr>
            <a:r>
              <a:rPr lang="en-US" sz="1000" b="1" dirty="0">
                <a:solidFill>
                  <a:srgbClr val="9C6440"/>
                </a:solidFill>
                <a:latin typeface="IBM Plex Sans KR" pitchFamily="34" charset="0"/>
                <a:ea typeface="IBM Plex Sans KR" pitchFamily="34" charset="-122"/>
                <a:cs typeface="IBM Plex Sans KR" pitchFamily="34" charset="-120"/>
              </a:rPr>
              <a:t>②</a:t>
            </a:r>
            <a:endParaRPr lang="en-US" sz="1000" dirty="0"/>
          </a:p>
        </p:txBody>
      </p:sp>
      <p:sp>
        <p:nvSpPr>
          <p:cNvPr id="32" name="Text 30"/>
          <p:cNvSpPr/>
          <p:nvPr/>
        </p:nvSpPr>
        <p:spPr>
          <a:xfrm>
            <a:off x="812800" y="3485158"/>
            <a:ext cx="3401060"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2B231E"/>
                </a:solidFill>
                <a:latin typeface="IBM Plex Sans KR" pitchFamily="34" charset="0"/>
                <a:ea typeface="IBM Plex Sans KR" pitchFamily="34" charset="-122"/>
                <a:cs typeface="IBM Plex Sans KR" pitchFamily="34" charset="-120"/>
              </a:rPr>
              <a:t>4. AI 피팅 고도화</a:t>
            </a:r>
            <a:endParaRPr lang="en-US" sz="1200" dirty="0"/>
          </a:p>
        </p:txBody>
      </p:sp>
      <p:sp>
        <p:nvSpPr>
          <p:cNvPr id="33" name="Text 31"/>
          <p:cNvSpPr/>
          <p:nvPr/>
        </p:nvSpPr>
        <p:spPr>
          <a:xfrm>
            <a:off x="812800" y="3668018"/>
            <a:ext cx="3401060" cy="182166"/>
          </a:xfrm>
          <a:prstGeom prst="rect">
            <a:avLst/>
          </a:prstGeom>
          <a:noFill/>
          <a:ln/>
        </p:spPr>
        <p:txBody>
          <a:bodyPr wrap="square" lIns="0" tIns="0" rIns="0" bIns="0" rtlCol="0" anchor="t">
            <a:normAutofit/>
          </a:bodyPr>
          <a:lstStyle/>
          <a:p>
            <a:pPr algn="l" indent="0" marL="0">
              <a:lnSpc>
                <a:spcPts val="1235"/>
              </a:lnSpc>
              <a:buNone/>
            </a:pPr>
            <a:r>
              <a:rPr lang="en-US" sz="950" dirty="0">
                <a:solidFill>
                  <a:srgbClr val="5B4E44"/>
                </a:solidFill>
                <a:latin typeface="IBM Plex Sans KR" pitchFamily="34" charset="0"/>
                <a:ea typeface="IBM Plex Sans KR" pitchFamily="34" charset="-122"/>
                <a:cs typeface="IBM Plex Sans KR" pitchFamily="34" charset="-120"/>
              </a:rPr>
              <a:t>피팅 + 이미지 생성 모델 결합 시제품</a:t>
            </a:r>
            <a:endParaRPr lang="en-US" sz="950" dirty="0"/>
          </a:p>
        </p:txBody>
      </p:sp>
      <p:sp>
        <p:nvSpPr>
          <p:cNvPr id="34" name="Shape 32"/>
          <p:cNvSpPr/>
          <p:nvPr/>
        </p:nvSpPr>
        <p:spPr>
          <a:xfrm>
            <a:off x="4114800" y="3464520"/>
            <a:ext cx="7112000" cy="381000"/>
          </a:xfrm>
          <a:prstGeom prst="rect">
            <a:avLst/>
          </a:prstGeom>
          <a:gradFill rotWithShape="1">
            <a:gsLst>
              <a:gs pos="0">
                <a:srgbClr val="E3D8CA"/>
              </a:gs>
              <a:gs pos="893">
                <a:srgbClr val="E3D8CA"/>
              </a:gs>
              <a:gs pos="893">
                <a:srgbClr val="E3D8CA">
                  <a:alpha val="0"/>
                </a:srgbClr>
              </a:gs>
              <a:gs pos="100000">
                <a:srgbClr val="000000">
                  <a:alpha val="0"/>
                </a:srgbClr>
              </a:gs>
            </a:gsLst>
            <a:lin ang="0" scaled="0"/>
          </a:gradFill>
          <a:ln/>
        </p:spPr>
      </p:sp>
      <p:sp>
        <p:nvSpPr>
          <p:cNvPr id="35" name="Shape 33"/>
          <p:cNvSpPr/>
          <p:nvPr/>
        </p:nvSpPr>
        <p:spPr>
          <a:xfrm>
            <a:off x="6959600" y="3540720"/>
            <a:ext cx="1422400" cy="228600"/>
          </a:xfrm>
          <a:prstGeom prst="roundRect">
            <a:avLst>
              <a:gd name="adj" fmla="val 22222"/>
            </a:avLst>
          </a:prstGeom>
          <a:solidFill>
            <a:srgbClr val="C9A27F"/>
          </a:solidFill>
          <a:ln/>
        </p:spPr>
      </p:sp>
      <p:sp>
        <p:nvSpPr>
          <p:cNvPr id="36" name="Text 34"/>
          <p:cNvSpPr/>
          <p:nvPr/>
        </p:nvSpPr>
        <p:spPr>
          <a:xfrm>
            <a:off x="812800" y="3866158"/>
            <a:ext cx="3401060"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2B231E"/>
                </a:solidFill>
                <a:latin typeface="IBM Plex Sans KR" pitchFamily="34" charset="0"/>
                <a:ea typeface="IBM Plex Sans KR" pitchFamily="34" charset="-122"/>
                <a:cs typeface="IBM Plex Sans KR" pitchFamily="34" charset="-120"/>
              </a:rPr>
              <a:t>5. 베타 테스트</a:t>
            </a:r>
            <a:endParaRPr lang="en-US" sz="1200" dirty="0"/>
          </a:p>
        </p:txBody>
      </p:sp>
      <p:sp>
        <p:nvSpPr>
          <p:cNvPr id="37" name="Text 35"/>
          <p:cNvSpPr/>
          <p:nvPr/>
        </p:nvSpPr>
        <p:spPr>
          <a:xfrm>
            <a:off x="812800" y="4049018"/>
            <a:ext cx="3401060" cy="182166"/>
          </a:xfrm>
          <a:prstGeom prst="rect">
            <a:avLst/>
          </a:prstGeom>
          <a:noFill/>
          <a:ln/>
        </p:spPr>
        <p:txBody>
          <a:bodyPr wrap="square" lIns="0" tIns="0" rIns="0" bIns="0" rtlCol="0" anchor="t">
            <a:normAutofit/>
          </a:bodyPr>
          <a:lstStyle/>
          <a:p>
            <a:pPr algn="l" indent="0" marL="0">
              <a:lnSpc>
                <a:spcPts val="1235"/>
              </a:lnSpc>
              <a:buNone/>
            </a:pPr>
            <a:r>
              <a:rPr lang="en-US" sz="950" dirty="0">
                <a:solidFill>
                  <a:srgbClr val="5B4E44"/>
                </a:solidFill>
                <a:latin typeface="IBM Plex Sans KR" pitchFamily="34" charset="0"/>
                <a:ea typeface="IBM Plex Sans KR" pitchFamily="34" charset="-122"/>
                <a:cs typeface="IBM Plex Sans KR" pitchFamily="34" charset="-120"/>
              </a:rPr>
              <a:t>실사용자로 실제 정확도 첫 측정</a:t>
            </a:r>
            <a:endParaRPr lang="en-US" sz="950" dirty="0"/>
          </a:p>
        </p:txBody>
      </p:sp>
      <p:sp>
        <p:nvSpPr>
          <p:cNvPr id="38" name="Shape 36"/>
          <p:cNvSpPr/>
          <p:nvPr/>
        </p:nvSpPr>
        <p:spPr>
          <a:xfrm>
            <a:off x="4114800" y="3845520"/>
            <a:ext cx="7112000" cy="381000"/>
          </a:xfrm>
          <a:prstGeom prst="rect">
            <a:avLst/>
          </a:prstGeom>
          <a:gradFill rotWithShape="1">
            <a:gsLst>
              <a:gs pos="0">
                <a:srgbClr val="E3D8CA"/>
              </a:gs>
              <a:gs pos="893">
                <a:srgbClr val="E3D8CA"/>
              </a:gs>
              <a:gs pos="893">
                <a:srgbClr val="E3D8CA">
                  <a:alpha val="0"/>
                </a:srgbClr>
              </a:gs>
              <a:gs pos="100000">
                <a:srgbClr val="000000">
                  <a:alpha val="0"/>
                </a:srgbClr>
              </a:gs>
            </a:gsLst>
            <a:lin ang="0" scaled="0"/>
          </a:gradFill>
          <a:ln/>
        </p:spPr>
      </p:sp>
      <p:sp>
        <p:nvSpPr>
          <p:cNvPr id="39" name="Shape 37"/>
          <p:cNvSpPr/>
          <p:nvPr/>
        </p:nvSpPr>
        <p:spPr>
          <a:xfrm>
            <a:off x="8382000" y="3921720"/>
            <a:ext cx="711200" cy="228600"/>
          </a:xfrm>
          <a:prstGeom prst="roundRect">
            <a:avLst>
              <a:gd name="adj" fmla="val 22222"/>
            </a:avLst>
          </a:prstGeom>
          <a:solidFill>
            <a:srgbClr val="2B231E"/>
          </a:solidFill>
          <a:ln/>
        </p:spPr>
      </p:sp>
      <p:sp>
        <p:nvSpPr>
          <p:cNvPr id="40" name="Text 38"/>
          <p:cNvSpPr/>
          <p:nvPr/>
        </p:nvSpPr>
        <p:spPr>
          <a:xfrm>
            <a:off x="8636000" y="3934420"/>
            <a:ext cx="203200" cy="203200"/>
          </a:xfrm>
          <a:custGeom>
            <a:avLst/>
            <a:gdLst/>
            <a:ahLst/>
            <a:cxnLst/>
            <a:rect l="l" t="t" r="r" b="b"/>
            <a:pathLst>
              <a:path w="203200" h="203200">
                <a:moveTo>
                  <a:pt x="101600" y="0"/>
                </a:moveTo>
                <a:lnTo>
                  <a:pt x="101600" y="0"/>
                </a:lnTo>
                <a:arcTo hR="101600" wR="101600" stAng="16200000" swAng="5400000"/>
                <a:lnTo>
                  <a:pt x="203200" y="101600"/>
                </a:lnTo>
                <a:arcTo hR="101600" wR="101600" stAng="0" swAng="5400000"/>
                <a:lnTo>
                  <a:pt x="101600" y="203200"/>
                </a:lnTo>
                <a:arcTo hR="101600" wR="101600" stAng="5400000" swAng="5400000"/>
                <a:lnTo>
                  <a:pt x="0" y="101600"/>
                </a:lnTo>
                <a:arcTo hR="101600" wR="101600" stAng="10800000" swAng="5400000"/>
                <a:close/>
              </a:path>
            </a:pathLst>
          </a:custGeom>
          <a:solidFill>
            <a:srgbClr val="F6F1EA"/>
          </a:solidFill>
          <a:ln/>
        </p:spPr>
        <p:txBody>
          <a:bodyPr wrap="square" lIns="0" tIns="0" rIns="0" bIns="0" rtlCol="0" anchor="t">
            <a:normAutofit/>
          </a:bodyPr>
          <a:lstStyle/>
          <a:p>
            <a:pPr algn="ctr" indent="0" marL="0">
              <a:lnSpc>
                <a:spcPts val="1600"/>
              </a:lnSpc>
              <a:buNone/>
            </a:pPr>
            <a:r>
              <a:rPr lang="en-US" sz="1000" b="1" dirty="0">
                <a:solidFill>
                  <a:srgbClr val="9C6440"/>
                </a:solidFill>
                <a:latin typeface="IBM Plex Sans KR" pitchFamily="34" charset="0"/>
                <a:ea typeface="IBM Plex Sans KR" pitchFamily="34" charset="-122"/>
                <a:cs typeface="IBM Plex Sans KR" pitchFamily="34" charset="-120"/>
              </a:rPr>
              <a:t>③</a:t>
            </a:r>
            <a:endParaRPr lang="en-US" sz="1000" dirty="0"/>
          </a:p>
        </p:txBody>
      </p:sp>
      <p:sp>
        <p:nvSpPr>
          <p:cNvPr id="41" name="Text 39"/>
          <p:cNvSpPr/>
          <p:nvPr/>
        </p:nvSpPr>
        <p:spPr>
          <a:xfrm>
            <a:off x="812800" y="4247158"/>
            <a:ext cx="3401060"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2B231E"/>
                </a:solidFill>
                <a:latin typeface="IBM Plex Sans KR" pitchFamily="34" charset="0"/>
                <a:ea typeface="IBM Plex Sans KR" pitchFamily="34" charset="-122"/>
                <a:cs typeface="IBM Plex Sans KR" pitchFamily="34" charset="-120"/>
              </a:rPr>
              <a:t>6. 개선</a:t>
            </a:r>
            <a:endParaRPr lang="en-US" sz="1200" dirty="0"/>
          </a:p>
        </p:txBody>
      </p:sp>
      <p:sp>
        <p:nvSpPr>
          <p:cNvPr id="42" name="Text 40"/>
          <p:cNvSpPr/>
          <p:nvPr/>
        </p:nvSpPr>
        <p:spPr>
          <a:xfrm>
            <a:off x="812800" y="4430018"/>
            <a:ext cx="3401060" cy="182166"/>
          </a:xfrm>
          <a:prstGeom prst="rect">
            <a:avLst/>
          </a:prstGeom>
          <a:noFill/>
          <a:ln/>
        </p:spPr>
        <p:txBody>
          <a:bodyPr wrap="square" lIns="0" tIns="0" rIns="0" bIns="0" rtlCol="0" anchor="t">
            <a:normAutofit/>
          </a:bodyPr>
          <a:lstStyle/>
          <a:p>
            <a:pPr algn="l" indent="0" marL="0">
              <a:lnSpc>
                <a:spcPts val="1235"/>
              </a:lnSpc>
              <a:buNone/>
            </a:pPr>
            <a:r>
              <a:rPr lang="en-US" sz="950" dirty="0">
                <a:solidFill>
                  <a:srgbClr val="5B4E44"/>
                </a:solidFill>
                <a:latin typeface="IBM Plex Sans KR" pitchFamily="34" charset="0"/>
                <a:ea typeface="IBM Plex Sans KR" pitchFamily="34" charset="-122"/>
                <a:cs typeface="IBM Plex Sans KR" pitchFamily="34" charset="-120"/>
              </a:rPr>
              <a:t>베타 결과 반영·추천 가중치 조정</a:t>
            </a:r>
            <a:endParaRPr lang="en-US" sz="950" dirty="0"/>
          </a:p>
        </p:txBody>
      </p:sp>
      <p:sp>
        <p:nvSpPr>
          <p:cNvPr id="43" name="Shape 41"/>
          <p:cNvSpPr/>
          <p:nvPr/>
        </p:nvSpPr>
        <p:spPr>
          <a:xfrm>
            <a:off x="4114800" y="4226520"/>
            <a:ext cx="7112000" cy="381000"/>
          </a:xfrm>
          <a:prstGeom prst="rect">
            <a:avLst/>
          </a:prstGeom>
          <a:gradFill rotWithShape="1">
            <a:gsLst>
              <a:gs pos="0">
                <a:srgbClr val="E3D8CA"/>
              </a:gs>
              <a:gs pos="893">
                <a:srgbClr val="E3D8CA"/>
              </a:gs>
              <a:gs pos="893">
                <a:srgbClr val="E3D8CA">
                  <a:alpha val="0"/>
                </a:srgbClr>
              </a:gs>
              <a:gs pos="100000">
                <a:srgbClr val="000000">
                  <a:alpha val="0"/>
                </a:srgbClr>
              </a:gs>
            </a:gsLst>
            <a:lin ang="0" scaled="0"/>
          </a:gradFill>
          <a:ln/>
        </p:spPr>
      </p:sp>
      <p:sp>
        <p:nvSpPr>
          <p:cNvPr id="44" name="Shape 42"/>
          <p:cNvSpPr/>
          <p:nvPr/>
        </p:nvSpPr>
        <p:spPr>
          <a:xfrm>
            <a:off x="9093200" y="4302720"/>
            <a:ext cx="711200" cy="228600"/>
          </a:xfrm>
          <a:prstGeom prst="roundRect">
            <a:avLst>
              <a:gd name="adj" fmla="val 22222"/>
            </a:avLst>
          </a:prstGeom>
          <a:solidFill>
            <a:srgbClr val="C9A27F"/>
          </a:solidFill>
          <a:ln/>
        </p:spPr>
      </p:sp>
      <p:sp>
        <p:nvSpPr>
          <p:cNvPr id="45" name="Text 43"/>
          <p:cNvSpPr/>
          <p:nvPr/>
        </p:nvSpPr>
        <p:spPr>
          <a:xfrm>
            <a:off x="812800" y="4628158"/>
            <a:ext cx="3401060"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2B231E"/>
                </a:solidFill>
                <a:latin typeface="IBM Plex Sans KR" pitchFamily="34" charset="0"/>
                <a:ea typeface="IBM Plex Sans KR" pitchFamily="34" charset="-122"/>
                <a:cs typeface="IBM Plex Sans KR" pitchFamily="34" charset="-120"/>
              </a:rPr>
              <a:t>7. 마무리</a:t>
            </a:r>
            <a:endParaRPr lang="en-US" sz="1200" dirty="0"/>
          </a:p>
        </p:txBody>
      </p:sp>
      <p:sp>
        <p:nvSpPr>
          <p:cNvPr id="46" name="Text 44"/>
          <p:cNvSpPr/>
          <p:nvPr/>
        </p:nvSpPr>
        <p:spPr>
          <a:xfrm>
            <a:off x="812800" y="4811018"/>
            <a:ext cx="3401060" cy="182166"/>
          </a:xfrm>
          <a:prstGeom prst="rect">
            <a:avLst/>
          </a:prstGeom>
          <a:noFill/>
          <a:ln/>
        </p:spPr>
        <p:txBody>
          <a:bodyPr wrap="square" lIns="0" tIns="0" rIns="0" bIns="0" rtlCol="0" anchor="t">
            <a:normAutofit/>
          </a:bodyPr>
          <a:lstStyle/>
          <a:p>
            <a:pPr algn="l" indent="0" marL="0">
              <a:lnSpc>
                <a:spcPts val="1235"/>
              </a:lnSpc>
              <a:buNone/>
            </a:pPr>
            <a:r>
              <a:rPr lang="en-US" sz="950" dirty="0">
                <a:solidFill>
                  <a:srgbClr val="5B4E44"/>
                </a:solidFill>
                <a:latin typeface="IBM Plex Sans KR" pitchFamily="34" charset="0"/>
                <a:ea typeface="IBM Plex Sans KR" pitchFamily="34" charset="-122"/>
                <a:cs typeface="IBM Plex Sans KR" pitchFamily="34" charset="-120"/>
              </a:rPr>
              <a:t>최종 정리·제출</a:t>
            </a:r>
            <a:endParaRPr lang="en-US" sz="950" dirty="0"/>
          </a:p>
        </p:txBody>
      </p:sp>
      <p:sp>
        <p:nvSpPr>
          <p:cNvPr id="47" name="Shape 45"/>
          <p:cNvSpPr/>
          <p:nvPr/>
        </p:nvSpPr>
        <p:spPr>
          <a:xfrm>
            <a:off x="4114800" y="4607520"/>
            <a:ext cx="7112000" cy="381000"/>
          </a:xfrm>
          <a:prstGeom prst="rect">
            <a:avLst/>
          </a:prstGeom>
          <a:gradFill rotWithShape="1">
            <a:gsLst>
              <a:gs pos="0">
                <a:srgbClr val="E3D8CA"/>
              </a:gs>
              <a:gs pos="893">
                <a:srgbClr val="E3D8CA"/>
              </a:gs>
              <a:gs pos="893">
                <a:srgbClr val="E3D8CA">
                  <a:alpha val="0"/>
                </a:srgbClr>
              </a:gs>
              <a:gs pos="100000">
                <a:srgbClr val="000000">
                  <a:alpha val="0"/>
                </a:srgbClr>
              </a:gs>
            </a:gsLst>
            <a:lin ang="0" scaled="0"/>
          </a:gradFill>
          <a:ln/>
        </p:spPr>
      </p:sp>
      <p:sp>
        <p:nvSpPr>
          <p:cNvPr id="48" name="Shape 46"/>
          <p:cNvSpPr/>
          <p:nvPr/>
        </p:nvSpPr>
        <p:spPr>
          <a:xfrm>
            <a:off x="9804400" y="4683720"/>
            <a:ext cx="508000" cy="228600"/>
          </a:xfrm>
          <a:prstGeom prst="roundRect">
            <a:avLst>
              <a:gd name="adj" fmla="val 22222"/>
            </a:avLst>
          </a:prstGeom>
          <a:solidFill>
            <a:srgbClr val="2B231E"/>
          </a:solidFill>
          <a:ln/>
        </p:spPr>
      </p:sp>
      <p:sp>
        <p:nvSpPr>
          <p:cNvPr id="49" name="Text 47"/>
          <p:cNvSpPr/>
          <p:nvPr/>
        </p:nvSpPr>
        <p:spPr>
          <a:xfrm>
            <a:off x="9956800" y="4696420"/>
            <a:ext cx="203200" cy="203200"/>
          </a:xfrm>
          <a:custGeom>
            <a:avLst/>
            <a:gdLst/>
            <a:ahLst/>
            <a:cxnLst/>
            <a:rect l="l" t="t" r="r" b="b"/>
            <a:pathLst>
              <a:path w="203200" h="203200">
                <a:moveTo>
                  <a:pt x="101600" y="0"/>
                </a:moveTo>
                <a:lnTo>
                  <a:pt x="101600" y="0"/>
                </a:lnTo>
                <a:arcTo hR="101600" wR="101600" stAng="16200000" swAng="5400000"/>
                <a:lnTo>
                  <a:pt x="203200" y="101600"/>
                </a:lnTo>
                <a:arcTo hR="101600" wR="101600" stAng="0" swAng="5400000"/>
                <a:lnTo>
                  <a:pt x="101600" y="203200"/>
                </a:lnTo>
                <a:arcTo hR="101600" wR="101600" stAng="5400000" swAng="5400000"/>
                <a:lnTo>
                  <a:pt x="0" y="101600"/>
                </a:lnTo>
                <a:arcTo hR="101600" wR="101600" stAng="10800000" swAng="5400000"/>
                <a:close/>
              </a:path>
            </a:pathLst>
          </a:custGeom>
          <a:solidFill>
            <a:srgbClr val="F6F1EA"/>
          </a:solidFill>
          <a:ln/>
        </p:spPr>
        <p:txBody>
          <a:bodyPr wrap="square" lIns="0" tIns="0" rIns="0" bIns="0" rtlCol="0" anchor="t">
            <a:normAutofit/>
          </a:bodyPr>
          <a:lstStyle/>
          <a:p>
            <a:pPr algn="ctr" indent="0" marL="0">
              <a:lnSpc>
                <a:spcPts val="1600"/>
              </a:lnSpc>
              <a:buNone/>
            </a:pPr>
            <a:r>
              <a:rPr lang="en-US" sz="1000" b="1" dirty="0">
                <a:solidFill>
                  <a:srgbClr val="9C6440"/>
                </a:solidFill>
                <a:latin typeface="IBM Plex Sans KR" pitchFamily="34" charset="0"/>
                <a:ea typeface="IBM Plex Sans KR" pitchFamily="34" charset="-122"/>
                <a:cs typeface="IBM Plex Sans KR" pitchFamily="34" charset="-120"/>
              </a:rPr>
              <a:t>④</a:t>
            </a:r>
            <a:endParaRPr lang="en-US" sz="1000" dirty="0"/>
          </a:p>
        </p:txBody>
      </p:sp>
      <p:sp>
        <p:nvSpPr>
          <p:cNvPr id="50" name="Text 48"/>
          <p:cNvSpPr/>
          <p:nvPr/>
        </p:nvSpPr>
        <p:spPr>
          <a:xfrm>
            <a:off x="812800" y="5009158"/>
            <a:ext cx="3401060"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2B231E"/>
                </a:solidFill>
                <a:latin typeface="IBM Plex Sans KR" pitchFamily="34" charset="0"/>
                <a:ea typeface="IBM Plex Sans KR" pitchFamily="34" charset="-122"/>
                <a:cs typeface="IBM Plex Sans KR" pitchFamily="34" charset="-120"/>
              </a:rPr>
              <a:t>성과공유회</a:t>
            </a:r>
            <a:endParaRPr lang="en-US" sz="1200" dirty="0"/>
          </a:p>
        </p:txBody>
      </p:sp>
      <p:sp>
        <p:nvSpPr>
          <p:cNvPr id="51" name="Text 49"/>
          <p:cNvSpPr/>
          <p:nvPr/>
        </p:nvSpPr>
        <p:spPr>
          <a:xfrm>
            <a:off x="812800" y="5192018"/>
            <a:ext cx="3401060" cy="182166"/>
          </a:xfrm>
          <a:prstGeom prst="rect">
            <a:avLst/>
          </a:prstGeom>
          <a:noFill/>
          <a:ln/>
        </p:spPr>
        <p:txBody>
          <a:bodyPr wrap="square" lIns="0" tIns="0" rIns="0" bIns="0" rtlCol="0" anchor="t">
            <a:normAutofit/>
          </a:bodyPr>
          <a:lstStyle/>
          <a:p>
            <a:pPr algn="l" indent="0" marL="0">
              <a:lnSpc>
                <a:spcPts val="1235"/>
              </a:lnSpc>
              <a:buNone/>
            </a:pPr>
            <a:r>
              <a:rPr lang="en-US" sz="950" dirty="0">
                <a:solidFill>
                  <a:srgbClr val="5B4E44"/>
                </a:solidFill>
                <a:latin typeface="IBM Plex Sans KR" pitchFamily="34" charset="0"/>
                <a:ea typeface="IBM Plex Sans KR" pitchFamily="34" charset="-122"/>
                <a:cs typeface="IBM Plex Sans KR" pitchFamily="34" charset="-120"/>
              </a:rPr>
              <a:t>우수 프로젝트 발표·시연 (12월 중순)</a:t>
            </a:r>
            <a:endParaRPr lang="en-US" sz="950" dirty="0"/>
          </a:p>
        </p:txBody>
      </p:sp>
      <p:sp>
        <p:nvSpPr>
          <p:cNvPr id="52" name="Shape 50"/>
          <p:cNvSpPr/>
          <p:nvPr/>
        </p:nvSpPr>
        <p:spPr>
          <a:xfrm>
            <a:off x="4114800" y="4988520"/>
            <a:ext cx="7112000" cy="381000"/>
          </a:xfrm>
          <a:prstGeom prst="rect">
            <a:avLst/>
          </a:prstGeom>
          <a:gradFill rotWithShape="1">
            <a:gsLst>
              <a:gs pos="0">
                <a:srgbClr val="E3D8CA"/>
              </a:gs>
              <a:gs pos="893">
                <a:srgbClr val="E3D8CA"/>
              </a:gs>
              <a:gs pos="893">
                <a:srgbClr val="E3D8CA">
                  <a:alpha val="0"/>
                </a:srgbClr>
              </a:gs>
              <a:gs pos="100000">
                <a:srgbClr val="000000">
                  <a:alpha val="0"/>
                </a:srgbClr>
              </a:gs>
            </a:gsLst>
            <a:lin ang="0" scaled="0"/>
          </a:gradFill>
          <a:ln/>
        </p:spPr>
      </p:sp>
      <p:sp>
        <p:nvSpPr>
          <p:cNvPr id="53" name="Shape 51"/>
          <p:cNvSpPr/>
          <p:nvPr/>
        </p:nvSpPr>
        <p:spPr>
          <a:xfrm>
            <a:off x="10525125" y="5074245"/>
            <a:ext cx="488950" cy="209550"/>
          </a:xfrm>
          <a:prstGeom prst="roundRect">
            <a:avLst>
              <a:gd name="adj" fmla="val 19697"/>
            </a:avLst>
          </a:prstGeom>
          <a:noFill/>
          <a:ln w="19050">
            <a:solidFill>
              <a:srgbClr val="9C6440"/>
            </a:solidFill>
            <a:prstDash val="dash"/>
          </a:ln>
        </p:spPr>
      </p:sp>
      <p:sp>
        <p:nvSpPr>
          <p:cNvPr id="54" name="Shape 52"/>
          <p:cNvSpPr/>
          <p:nvPr/>
        </p:nvSpPr>
        <p:spPr>
          <a:xfrm>
            <a:off x="10299700" y="1905000"/>
            <a:ext cx="19050" cy="3429000"/>
          </a:xfrm>
          <a:prstGeom prst="rect">
            <a:avLst/>
          </a:prstGeom>
          <a:solidFill>
            <a:srgbClr val="C9A27F"/>
          </a:solidFill>
          <a:ln/>
        </p:spPr>
      </p:sp>
      <p:sp>
        <p:nvSpPr>
          <p:cNvPr id="55" name="Text 53"/>
          <p:cNvSpPr/>
          <p:nvPr/>
        </p:nvSpPr>
        <p:spPr>
          <a:xfrm>
            <a:off x="9309100" y="5372100"/>
            <a:ext cx="990600" cy="185341"/>
          </a:xfrm>
          <a:prstGeom prst="rect">
            <a:avLst/>
          </a:prstGeom>
          <a:noFill/>
          <a:ln/>
        </p:spPr>
        <p:txBody>
          <a:bodyPr wrap="square" lIns="0" tIns="0" rIns="0" bIns="0" rtlCol="0" anchor="t">
            <a:normAutofit/>
          </a:bodyPr>
          <a:lstStyle/>
          <a:p>
            <a:pPr algn="r" indent="0" marL="0">
              <a:lnSpc>
                <a:spcPts val="1260"/>
              </a:lnSpc>
              <a:buNone/>
            </a:pPr>
            <a:r>
              <a:rPr lang="en-US" sz="900" b="1" dirty="0">
                <a:solidFill>
                  <a:srgbClr val="9C6440"/>
                </a:solidFill>
                <a:latin typeface="IBM Plex Sans KR" pitchFamily="34" charset="0"/>
                <a:ea typeface="IBM Plex Sans KR" pitchFamily="34" charset="-122"/>
                <a:cs typeface="IBM Plex Sans KR" pitchFamily="34" charset="-120"/>
              </a:rPr>
              <a:t>12/11 수행 종료</a:t>
            </a:r>
            <a:endParaRPr lang="en-US" sz="900" dirty="0"/>
          </a:p>
        </p:txBody>
      </p:sp>
      <p:sp>
        <p:nvSpPr>
          <p:cNvPr id="56" name="Text 54"/>
          <p:cNvSpPr/>
          <p:nvPr/>
        </p:nvSpPr>
        <p:spPr>
          <a:xfrm>
            <a:off x="812800" y="6256040"/>
            <a:ext cx="9483725"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8A7B6E"/>
                </a:solidFill>
                <a:latin typeface="IBM Plex Sans KR" pitchFamily="34" charset="0"/>
                <a:ea typeface="IBM Plex Sans KR" pitchFamily="34" charset="-122"/>
                <a:cs typeface="IBM Plex Sans KR" pitchFamily="34" charset="-120"/>
              </a:rPr>
              <a:t>①~④ 전문가 멘토링(아이디어 구체화 · 기술 구현 · 사용자 검증 · 사업화) · 피팅 본 학습은 Top-Tier 후속지원으로 이어서 진행</a:t>
            </a:r>
            <a:endParaRPr lang="en-US" sz="1100" dirty="0"/>
          </a:p>
        </p:txBody>
      </p:sp>
      <p:sp>
        <p:nvSpPr>
          <p:cNvPr id="57" name="Text 5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7B6E"/>
                </a:solidFill>
                <a:latin typeface="IBM Plex Sans KR" pitchFamily="34" charset="0"/>
                <a:ea typeface="IBM Plex Sans KR" pitchFamily="34" charset="-122"/>
                <a:cs typeface="IBM Plex Sans KR"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B231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D9B48F"/>
                </a:solidFill>
                <a:latin typeface="IBM Plex Sans KR" pitchFamily="34" charset="0"/>
                <a:ea typeface="IBM Plex Sans KR" pitchFamily="34" charset="-122"/>
                <a:cs typeface="IBM Plex Sans KR" pitchFamily="34" charset="-120"/>
              </a:rPr>
              <a:t>정리</a:t>
            </a:r>
            <a:endParaRPr lang="en-US" sz="1200" dirty="0"/>
          </a:p>
        </p:txBody>
      </p:sp>
      <p:sp>
        <p:nvSpPr>
          <p:cNvPr id="3" name="Text 1"/>
          <p:cNvSpPr/>
          <p:nvPr/>
        </p:nvSpPr>
        <p:spPr>
          <a:xfrm>
            <a:off x="812800" y="2425998"/>
            <a:ext cx="9810750" cy="1295400"/>
          </a:xfrm>
          <a:prstGeom prst="rect">
            <a:avLst/>
          </a:prstGeom>
          <a:noFill/>
          <a:ln/>
        </p:spPr>
        <p:txBody>
          <a:bodyPr wrap="square" lIns="0" tIns="0" rIns="0" bIns="0" rtlCol="0" anchor="t">
            <a:normAutofit/>
          </a:bodyPr>
          <a:lstStyle/>
          <a:p>
            <a:pPr algn="l" indent="0" marL="0">
              <a:lnSpc>
                <a:spcPts val="5000"/>
              </a:lnSpc>
              <a:buNone/>
            </a:pPr>
            <a:r>
              <a:rPr lang="en-US" sz="4000" b="1" dirty="0">
                <a:solidFill>
                  <a:srgbClr val="F6F1EA"/>
                </a:solidFill>
                <a:latin typeface="Noto Serif KR" pitchFamily="18" charset="0"/>
                <a:ea typeface="Noto Serif KR" pitchFamily="18" charset="-122"/>
                <a:cs typeface="Noto Serif KR" pitchFamily="18" charset="-120"/>
              </a:rPr>
              <a:t>한 번 받고 끝나던 진단을,</a:t>
            </a:r>
            <a:endParaRPr lang="en-US" sz="4000" dirty="0"/>
          </a:p>
          <a:p>
            <a:pPr algn="l" indent="0" marL="0">
              <a:lnSpc>
                <a:spcPts val="5000"/>
              </a:lnSpc>
              <a:buNone/>
            </a:pPr>
            <a:r>
              <a:rPr lang="en-US" sz="4000" b="1" dirty="0">
                <a:solidFill>
                  <a:srgbClr val="F6F1EA"/>
                </a:solidFill>
                <a:latin typeface="Noto Serif KR" pitchFamily="18" charset="0"/>
                <a:ea typeface="Noto Serif KR" pitchFamily="18" charset="-122"/>
                <a:cs typeface="Noto Serif KR" pitchFamily="18" charset="-120"/>
              </a:rPr>
              <a:t>매일 아침의 옷 선택으로 바꿨습니다.</a:t>
            </a:r>
            <a:endParaRPr lang="en-US" sz="4000" dirty="0"/>
          </a:p>
        </p:txBody>
      </p:sp>
      <p:sp>
        <p:nvSpPr>
          <p:cNvPr id="4" name="Shape 2"/>
          <p:cNvSpPr/>
          <p:nvPr/>
        </p:nvSpPr>
        <p:spPr>
          <a:xfrm>
            <a:off x="812800" y="5105400"/>
            <a:ext cx="3420566" cy="0"/>
          </a:xfrm>
          <a:prstGeom prst="line">
            <a:avLst/>
          </a:prstGeom>
          <a:noFill/>
          <a:ln w="19050">
            <a:solidFill>
              <a:srgbClr val="A8714B"/>
            </a:solidFill>
            <a:prstDash val="solid"/>
          </a:ln>
        </p:spPr>
      </p:sp>
      <p:sp>
        <p:nvSpPr>
          <p:cNvPr id="5" name="Text 3"/>
          <p:cNvSpPr/>
          <p:nvPr/>
        </p:nvSpPr>
        <p:spPr>
          <a:xfrm>
            <a:off x="812800" y="5267325"/>
            <a:ext cx="3523183"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6F1EA"/>
                </a:solidFill>
                <a:latin typeface="IBM Plex Sans KR" pitchFamily="34" charset="0"/>
                <a:ea typeface="IBM Plex Sans KR" pitchFamily="34" charset="-122"/>
                <a:cs typeface="IBM Plex Sans KR" pitchFamily="34" charset="-120"/>
              </a:rPr>
              <a:t>유승민</a:t>
            </a:r>
            <a:endParaRPr lang="en-US" sz="1600" dirty="0"/>
          </a:p>
        </p:txBody>
      </p:sp>
      <p:sp>
        <p:nvSpPr>
          <p:cNvPr id="6" name="Text 4"/>
          <p:cNvSpPr/>
          <p:nvPr/>
        </p:nvSpPr>
        <p:spPr>
          <a:xfrm>
            <a:off x="812800" y="5602585"/>
            <a:ext cx="3523183"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D8CCBE"/>
                </a:solidFill>
                <a:latin typeface="IBM Plex Sans KR" pitchFamily="34" charset="0"/>
                <a:ea typeface="IBM Plex Sans KR" pitchFamily="34" charset="-122"/>
                <a:cs typeface="IBM Plex Sans KR" pitchFamily="34" charset="-120"/>
              </a:rPr>
              <a:t>개발·구현, 퍼스널컬러 AI, AI 피팅</a:t>
            </a:r>
            <a:endParaRPr lang="en-US" sz="1300" dirty="0"/>
          </a:p>
        </p:txBody>
      </p:sp>
      <p:sp>
        <p:nvSpPr>
          <p:cNvPr id="7" name="Shape 5"/>
          <p:cNvSpPr/>
          <p:nvPr/>
        </p:nvSpPr>
        <p:spPr>
          <a:xfrm>
            <a:off x="4385766" y="5105400"/>
            <a:ext cx="3420566" cy="0"/>
          </a:xfrm>
          <a:prstGeom prst="line">
            <a:avLst/>
          </a:prstGeom>
          <a:noFill/>
          <a:ln w="19050">
            <a:solidFill>
              <a:srgbClr val="A8714B"/>
            </a:solidFill>
            <a:prstDash val="solid"/>
          </a:ln>
        </p:spPr>
      </p:sp>
      <p:sp>
        <p:nvSpPr>
          <p:cNvPr id="8" name="Text 6"/>
          <p:cNvSpPr/>
          <p:nvPr/>
        </p:nvSpPr>
        <p:spPr>
          <a:xfrm>
            <a:off x="4385766" y="5267325"/>
            <a:ext cx="3523183"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6F1EA"/>
                </a:solidFill>
                <a:latin typeface="IBM Plex Sans KR" pitchFamily="34" charset="0"/>
                <a:ea typeface="IBM Plex Sans KR" pitchFamily="34" charset="-122"/>
                <a:cs typeface="IBM Plex Sans KR" pitchFamily="34" charset="-120"/>
              </a:rPr>
              <a:t>조다슬</a:t>
            </a:r>
            <a:endParaRPr lang="en-US" sz="1600" dirty="0"/>
          </a:p>
        </p:txBody>
      </p:sp>
      <p:sp>
        <p:nvSpPr>
          <p:cNvPr id="9" name="Text 7"/>
          <p:cNvSpPr/>
          <p:nvPr/>
        </p:nvSpPr>
        <p:spPr>
          <a:xfrm>
            <a:off x="4385766" y="5602585"/>
            <a:ext cx="3523183"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D8CCBE"/>
                </a:solidFill>
                <a:latin typeface="IBM Plex Sans KR" pitchFamily="34" charset="0"/>
                <a:ea typeface="IBM Plex Sans KR" pitchFamily="34" charset="-122"/>
                <a:cs typeface="IBM Plex Sans KR" pitchFamily="34" charset="-120"/>
              </a:rPr>
              <a:t>디자인, 설문·데이터 구축, 서비스 통합·테스트</a:t>
            </a:r>
            <a:endParaRPr lang="en-US" sz="1300" dirty="0"/>
          </a:p>
        </p:txBody>
      </p:sp>
      <p:sp>
        <p:nvSpPr>
          <p:cNvPr id="10" name="Shape 8"/>
          <p:cNvSpPr/>
          <p:nvPr/>
        </p:nvSpPr>
        <p:spPr>
          <a:xfrm>
            <a:off x="7958733" y="5105400"/>
            <a:ext cx="3420566" cy="0"/>
          </a:xfrm>
          <a:prstGeom prst="line">
            <a:avLst/>
          </a:prstGeom>
          <a:noFill/>
          <a:ln w="19050">
            <a:solidFill>
              <a:srgbClr val="A8714B"/>
            </a:solidFill>
            <a:prstDash val="solid"/>
          </a:ln>
        </p:spPr>
      </p:sp>
      <p:sp>
        <p:nvSpPr>
          <p:cNvPr id="11" name="Text 9"/>
          <p:cNvSpPr/>
          <p:nvPr/>
        </p:nvSpPr>
        <p:spPr>
          <a:xfrm>
            <a:off x="7958733" y="5267325"/>
            <a:ext cx="3523183"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6F1EA"/>
                </a:solidFill>
                <a:latin typeface="IBM Plex Sans KR" pitchFamily="34" charset="0"/>
                <a:ea typeface="IBM Plex Sans KR" pitchFamily="34" charset="-122"/>
                <a:cs typeface="IBM Plex Sans KR" pitchFamily="34" charset="-120"/>
              </a:rPr>
              <a:t>이채원</a:t>
            </a:r>
            <a:endParaRPr lang="en-US" sz="1600" dirty="0"/>
          </a:p>
        </p:txBody>
      </p:sp>
      <p:sp>
        <p:nvSpPr>
          <p:cNvPr id="12" name="Text 10"/>
          <p:cNvSpPr/>
          <p:nvPr/>
        </p:nvSpPr>
        <p:spPr>
          <a:xfrm>
            <a:off x="7958733" y="5602585"/>
            <a:ext cx="3523183"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D8CCBE"/>
                </a:solidFill>
                <a:latin typeface="IBM Plex Sans KR" pitchFamily="34" charset="0"/>
                <a:ea typeface="IBM Plex Sans KR" pitchFamily="34" charset="-122"/>
                <a:cs typeface="IBM Plex Sans KR" pitchFamily="34" charset="-120"/>
              </a:rPr>
              <a:t>기획, 골격진단 AI·판정 로직</a:t>
            </a:r>
            <a:endParaRPr lang="en-US" sz="1300" dirty="0"/>
          </a:p>
        </p:txBody>
      </p:sp>
      <p:sp>
        <p:nvSpPr>
          <p:cNvPr id="13" name="Text 11"/>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A898"/>
                </a:solidFill>
                <a:latin typeface="IBM Plex Sans KR" pitchFamily="34" charset="0"/>
                <a:ea typeface="IBM Plex Sans KR" pitchFamily="34" charset="-122"/>
                <a:cs typeface="IBM Plex Sans KR" pitchFamily="34" charset="-120"/>
              </a:rPr>
              <a:t>ondo-daily-style.vercel.app · 감사합니다 · 질문 받겠습니다</a:t>
            </a:r>
            <a:endParaRPr lang="en-US" sz="1200" dirty="0"/>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8A898"/>
                </a:solidFill>
                <a:latin typeface="IBM Plex Sans KR" pitchFamily="34" charset="0"/>
                <a:ea typeface="IBM Plex Sans KR" pitchFamily="34" charset="-122"/>
                <a:cs typeface="IBM Plex Sans KR"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1EA"/>
        </a:solidFill>
      </p:bgPr>
    </p:bg>
    <p:spTree>
      <p:nvGrpSpPr>
        <p:cNvPr id="1" name=""/>
        <p:cNvGrpSpPr/>
        <p:nvPr/>
      </p:nvGrpSpPr>
      <p:grpSpPr>
        <a:xfrm>
          <a:off x="0" y="0"/>
          <a:ext cx="0" cy="0"/>
          <a:chOff x="0" y="0"/>
          <a:chExt cx="0" cy="0"/>
        </a:xfrm>
      </p:grpSpPr>
      <p:sp>
        <p:nvSpPr>
          <p:cNvPr id="2" name="Text 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7B6E"/>
                </a:solidFill>
                <a:latin typeface="IBM Plex Sans KR" pitchFamily="34" charset="0"/>
                <a:ea typeface="IBM Plex Sans KR" pitchFamily="34" charset="-122"/>
                <a:cs typeface="IBM Plex Sans KR" pitchFamily="34" charset="-120"/>
              </a:rPr>
              <a:t>15</a:t>
            </a:r>
            <a:endParaRPr lang="en-US" sz="1200" dirty="0"/>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C6440"/>
                </a:solidFill>
                <a:latin typeface="IBM Plex Sans KR" pitchFamily="34" charset="0"/>
                <a:ea typeface="IBM Plex Sans KR" pitchFamily="34" charset="-122"/>
                <a:cs typeface="IBM Plex Sans KR" pitchFamily="34" charset="-120"/>
              </a:rPr>
              <a:t>예상 질문</a:t>
            </a:r>
            <a:endParaRPr lang="en-US" sz="1200" dirty="0"/>
          </a:p>
        </p:txBody>
      </p:sp>
      <p:sp>
        <p:nvSpPr>
          <p:cNvPr id="4" name="Text 2"/>
          <p:cNvSpPr/>
          <p:nvPr/>
        </p:nvSpPr>
        <p:spPr>
          <a:xfrm>
            <a:off x="812800" y="1127720"/>
            <a:ext cx="10883392" cy="452041"/>
          </a:xfrm>
          <a:prstGeom prst="rect">
            <a:avLst/>
          </a:prstGeom>
          <a:noFill/>
          <a:ln/>
        </p:spPr>
        <p:txBody>
          <a:bodyPr wrap="square" lIns="0" tIns="0" rIns="0" bIns="0" rtlCol="0" anchor="t">
            <a:normAutofit/>
          </a:bodyPr>
          <a:lstStyle/>
          <a:p>
            <a:pPr algn="l" indent="0" marL="0">
              <a:lnSpc>
                <a:spcPts val="3360"/>
              </a:lnSpc>
              <a:buNone/>
            </a:pPr>
            <a:r>
              <a:rPr lang="en-US" sz="2800" b="1" dirty="0">
                <a:solidFill>
                  <a:srgbClr val="2B231E"/>
                </a:solidFill>
                <a:latin typeface="Noto Serif KR" pitchFamily="18" charset="0"/>
                <a:ea typeface="Noto Serif KR" pitchFamily="18" charset="-122"/>
                <a:cs typeface="Noto Serif KR" pitchFamily="18" charset="-120"/>
              </a:rPr>
              <a:t>AI와 성능에 대한 질문</a:t>
            </a:r>
            <a:endParaRPr lang="en-US" sz="2800" dirty="0"/>
          </a:p>
        </p:txBody>
      </p:sp>
      <p:sp>
        <p:nvSpPr>
          <p:cNvPr id="5" name="Shape 3"/>
          <p:cNvSpPr/>
          <p:nvPr/>
        </p:nvSpPr>
        <p:spPr>
          <a:xfrm>
            <a:off x="815975" y="1812925"/>
            <a:ext cx="10560050" cy="905966"/>
          </a:xfrm>
          <a:prstGeom prst="roundRect">
            <a:avLst>
              <a:gd name="adj" fmla="val 10864"/>
            </a:avLst>
          </a:prstGeom>
          <a:solidFill>
            <a:srgbClr val="FFFCF7"/>
          </a:solidFill>
          <a:ln w="6350">
            <a:solidFill>
              <a:srgbClr val="E3D8CA"/>
            </a:solidFill>
            <a:prstDash val="solid"/>
          </a:ln>
        </p:spPr>
      </p:sp>
      <p:sp>
        <p:nvSpPr>
          <p:cNvPr id="6" name="Text 4"/>
          <p:cNvSpPr/>
          <p:nvPr/>
        </p:nvSpPr>
        <p:spPr>
          <a:xfrm>
            <a:off x="1047750" y="1993900"/>
            <a:ext cx="10399395" cy="272554"/>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231E"/>
                </a:solidFill>
                <a:latin typeface="IBM Plex Sans KR" pitchFamily="34" charset="0"/>
                <a:ea typeface="IBM Plex Sans KR" pitchFamily="34" charset="-122"/>
                <a:cs typeface="IBM Plex Sans KR" pitchFamily="34" charset="-120"/>
              </a:rPr>
              <a:t>Q. 95%면 너무 높은데, 과적합 아닌가요?</a:t>
            </a:r>
            <a:endParaRPr lang="en-US" sz="1400" dirty="0"/>
          </a:p>
        </p:txBody>
      </p:sp>
      <p:sp>
        <p:nvSpPr>
          <p:cNvPr id="7" name="Text 5"/>
          <p:cNvSpPr/>
          <p:nvPr/>
        </p:nvSpPr>
        <p:spPr>
          <a:xfrm>
            <a:off x="1047750" y="2291854"/>
            <a:ext cx="10399395" cy="271463"/>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B4E44"/>
                </a:solidFill>
                <a:latin typeface="IBM Plex Sans KR" pitchFamily="34" charset="0"/>
                <a:ea typeface="IBM Plex Sans KR" pitchFamily="34" charset="-122"/>
                <a:cs typeface="IBM Plex Sans KR" pitchFamily="34" charset="-120"/>
              </a:rPr>
              <a:t>학습에 안 쓴 테스트 41장 결과입니다. 생성 이미지 기준이라 실제 사진 재검증을 준비 중입니다.</a:t>
            </a:r>
            <a:endParaRPr lang="en-US" sz="1300" dirty="0"/>
          </a:p>
        </p:txBody>
      </p:sp>
      <p:sp>
        <p:nvSpPr>
          <p:cNvPr id="8" name="Shape 6"/>
          <p:cNvSpPr/>
          <p:nvPr/>
        </p:nvSpPr>
        <p:spPr>
          <a:xfrm>
            <a:off x="815975" y="2852241"/>
            <a:ext cx="10560050" cy="905966"/>
          </a:xfrm>
          <a:prstGeom prst="roundRect">
            <a:avLst>
              <a:gd name="adj" fmla="val 10864"/>
            </a:avLst>
          </a:prstGeom>
          <a:solidFill>
            <a:srgbClr val="FFFCF7"/>
          </a:solidFill>
          <a:ln w="6350">
            <a:solidFill>
              <a:srgbClr val="E3D8CA"/>
            </a:solidFill>
            <a:prstDash val="solid"/>
          </a:ln>
        </p:spPr>
      </p:sp>
      <p:sp>
        <p:nvSpPr>
          <p:cNvPr id="9" name="Text 7"/>
          <p:cNvSpPr/>
          <p:nvPr/>
        </p:nvSpPr>
        <p:spPr>
          <a:xfrm>
            <a:off x="1047750" y="3033216"/>
            <a:ext cx="10399395" cy="272554"/>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231E"/>
                </a:solidFill>
                <a:latin typeface="IBM Plex Sans KR" pitchFamily="34" charset="0"/>
                <a:ea typeface="IBM Plex Sans KR" pitchFamily="34" charset="-122"/>
                <a:cs typeface="IBM Plex Sans KR" pitchFamily="34" charset="-120"/>
              </a:rPr>
              <a:t>Q. 왜 CNN 같은 딥러닝을 쓰지 않았나요?</a:t>
            </a:r>
            <a:endParaRPr lang="en-US" sz="1400" dirty="0"/>
          </a:p>
        </p:txBody>
      </p:sp>
      <p:sp>
        <p:nvSpPr>
          <p:cNvPr id="10" name="Text 8"/>
          <p:cNvSpPr/>
          <p:nvPr/>
        </p:nvSpPr>
        <p:spPr>
          <a:xfrm>
            <a:off x="1047750" y="3331170"/>
            <a:ext cx="10399395" cy="271463"/>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B4E44"/>
                </a:solidFill>
                <a:latin typeface="IBM Plex Sans KR" pitchFamily="34" charset="0"/>
                <a:ea typeface="IBM Plex Sans KR" pitchFamily="34" charset="-122"/>
                <a:cs typeface="IBM Plex Sans KR" pitchFamily="34" charset="-120"/>
              </a:rPr>
              <a:t>데이터가 약 200장이라 가벼운 모델이 유리하고, 어떤 값이 결과를 바꿨는지 설명할 수 있어 선택했습니다.</a:t>
            </a:r>
            <a:endParaRPr lang="en-US" sz="1300" dirty="0"/>
          </a:p>
        </p:txBody>
      </p:sp>
      <p:sp>
        <p:nvSpPr>
          <p:cNvPr id="11" name="Shape 9"/>
          <p:cNvSpPr/>
          <p:nvPr/>
        </p:nvSpPr>
        <p:spPr>
          <a:xfrm>
            <a:off x="815975" y="3891558"/>
            <a:ext cx="10560050" cy="905966"/>
          </a:xfrm>
          <a:prstGeom prst="roundRect">
            <a:avLst>
              <a:gd name="adj" fmla="val 10864"/>
            </a:avLst>
          </a:prstGeom>
          <a:solidFill>
            <a:srgbClr val="FFFCF7"/>
          </a:solidFill>
          <a:ln w="6350">
            <a:solidFill>
              <a:srgbClr val="E3D8CA"/>
            </a:solidFill>
            <a:prstDash val="solid"/>
          </a:ln>
        </p:spPr>
      </p:sp>
      <p:sp>
        <p:nvSpPr>
          <p:cNvPr id="12" name="Text 10"/>
          <p:cNvSpPr/>
          <p:nvPr/>
        </p:nvSpPr>
        <p:spPr>
          <a:xfrm>
            <a:off x="1047750" y="4072533"/>
            <a:ext cx="10399395" cy="272554"/>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231E"/>
                </a:solidFill>
                <a:latin typeface="IBM Plex Sans KR" pitchFamily="34" charset="0"/>
                <a:ea typeface="IBM Plex Sans KR" pitchFamily="34" charset="-122"/>
                <a:cs typeface="IBM Plex Sans KR" pitchFamily="34" charset="-120"/>
              </a:rPr>
              <a:t>Q. 웨이브 83%는 83% 확률로 웨이브라는 뜻인가요?</a:t>
            </a:r>
            <a:endParaRPr lang="en-US" sz="1400" dirty="0"/>
          </a:p>
        </p:txBody>
      </p:sp>
      <p:sp>
        <p:nvSpPr>
          <p:cNvPr id="13" name="Text 11"/>
          <p:cNvSpPr/>
          <p:nvPr/>
        </p:nvSpPr>
        <p:spPr>
          <a:xfrm>
            <a:off x="1047750" y="4370487"/>
            <a:ext cx="10399395" cy="271463"/>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B4E44"/>
                </a:solidFill>
                <a:latin typeface="IBM Plex Sans KR" pitchFamily="34" charset="0"/>
                <a:ea typeface="IBM Plex Sans KR" pitchFamily="34" charset="-122"/>
                <a:cs typeface="IBM Plex Sans KR" pitchFamily="34" charset="-120"/>
              </a:rPr>
              <a:t>확신도입니다. 사진·설문 점수를 반반 합쳐 0~100%로 표시하고, 55% 이상이면 웨이브입니다.</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ONDO 발표자료</dc:title>
  <dc:subject/>
  <dc:creator/>
  <cp:lastModifiedBy/>
  <cp:revision>1</cp:revision>
  <dcterms:created xsi:type="dcterms:W3CDTF">2026-10-07T23:22:21Z</dcterms:created>
  <dcterms:modified xsi:type="dcterms:W3CDTF">2026-10-07T23:22:21Z</dcterms:modified>
</cp:coreProperties>
</file>